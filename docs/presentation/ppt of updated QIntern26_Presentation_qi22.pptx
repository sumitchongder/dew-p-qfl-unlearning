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170" d="100"/>
          <a:sy n="170" d="100"/>
        </p:scale>
        <p:origin x="739" y="96"/>
      </p:cViewPr>
      <p:guideLst>
        <p:guide orient="horz" pos="2880"/>
        <p:guide pos="2160"/>
      </p:guideLst>
    </p:cSldViewPr>
  </p:slideViewPr>
  <p:notesTextViewPr>
    <p:cViewPr>
      <p:scale>
        <a:sx n="133" d="100"/>
        <a:sy n="1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97FFF-AC44-4A9A-86A9-77BB64637461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7DCAE-459A-4072-90B2-B59CB36DDA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8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Good morning everyone. I’m Aditya Kumar, and today I’ll present our work on </a:t>
            </a:r>
            <a:r>
              <a:rPr lang="en-IN" b="1" dirty="0"/>
              <a:t>Dynamic Entanglement-Weighted Pruning for Quantum Federated Unlearning in Supply-Chain Risk Prediction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main idea is simple: </a:t>
            </a:r>
            <a:r>
              <a:rPr lang="en-IN" b="1" dirty="0"/>
              <a:t>when a client asks to be forgotten, we want to remove its influence without retraining the entire quantum model.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44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So, why is this problem important?</a:t>
            </a:r>
            <a:br>
              <a:rPr lang="en-IN" dirty="0"/>
            </a:br>
            <a:r>
              <a:rPr lang="en-IN" dirty="0"/>
              <a:t>First, under </a:t>
            </a:r>
            <a:r>
              <a:rPr lang="en-IN" b="1" dirty="0"/>
              <a:t>GDPR Article 17</a:t>
            </a:r>
            <a:r>
              <a:rPr lang="en-IN" dirty="0"/>
              <a:t>, clients have the right to request deletion of their data.</a:t>
            </a:r>
            <a:br>
              <a:rPr lang="en-IN" dirty="0"/>
            </a:br>
            <a:r>
              <a:rPr lang="en-IN" dirty="0"/>
              <a:t>In a federated learning system, if a client leaves, we need to remove the influence of that client from the global model.</a:t>
            </a:r>
            <a:br>
              <a:rPr lang="en-IN" dirty="0"/>
            </a:br>
            <a:r>
              <a:rPr lang="en-IN" dirty="0"/>
              <a:t>Full retraining can achieve this, but it is computationally expensive.</a:t>
            </a:r>
            <a:br>
              <a:rPr lang="en-IN" dirty="0"/>
            </a:br>
            <a:r>
              <a:rPr lang="en-IN" dirty="0"/>
              <a:t>In quantum models, the problem is even more challenging because information can be distributed through </a:t>
            </a:r>
            <a:r>
              <a:rPr lang="en-IN" b="1" dirty="0"/>
              <a:t>entanglement</a:t>
            </a:r>
            <a:r>
              <a:rPr lang="en-IN" dirty="0"/>
              <a:t>, so it is not straightforward to identify which parameter remembers a particular client. </a:t>
            </a:r>
            <a:br>
              <a:rPr lang="en-IN" dirty="0"/>
            </a:br>
            <a:r>
              <a:rPr lang="en-IN" dirty="0"/>
              <a:t>So the question is: </a:t>
            </a:r>
            <a:r>
              <a:rPr lang="en-IN" b="1" dirty="0"/>
              <a:t>can we forget one client without retraining the entire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57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Now the problem statement, </a:t>
            </a:r>
            <a:r>
              <a:rPr lang="en-IN" b="1" dirty="0"/>
              <a:t>Let us assume that we have a trained Quantum Federated Model, and a  client j which requests to forget its data.</a:t>
            </a:r>
            <a:br>
              <a:rPr lang="en-IN" dirty="0"/>
            </a:br>
            <a:r>
              <a:rPr lang="en-IN" dirty="0"/>
              <a:t>The question is: </a:t>
            </a:r>
            <a:r>
              <a:rPr lang="en-IN" b="1" dirty="0"/>
              <a:t>Can we identify and modify only the parameters carrying that data of  the client, instead of retraining the entire model?</a:t>
            </a:r>
            <a:br>
              <a:rPr lang="en-IN" dirty="0"/>
            </a:br>
            <a:r>
              <a:rPr lang="en-IN" dirty="0"/>
              <a:t>Our goal is to obtain a model with similar utility and forgetting performance as full retraining approach, but at a much lower computational cost. </a:t>
            </a:r>
          </a:p>
          <a:p>
            <a:r>
              <a:rPr lang="en-IN" dirty="0"/>
              <a:t>In our experiments, we achieved a speed-up of </a:t>
            </a:r>
            <a:r>
              <a:rPr lang="en-IN" b="1" dirty="0"/>
              <a:t>approximately 16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295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Now, let us  look at the existing approaches for unlearning.</a:t>
            </a:r>
            <a:br>
              <a:rPr lang="en-IN" dirty="0"/>
            </a:br>
            <a:r>
              <a:rPr lang="en-IN" dirty="0"/>
              <a:t>Full retraining gives excellent forgetting and accuracy, but it is very expensive.</a:t>
            </a:r>
            <a:br>
              <a:rPr lang="en-IN" dirty="0"/>
            </a:br>
            <a:r>
              <a:rPr lang="en-IN" dirty="0"/>
              <a:t>Fine-tuning is cheaper, but it does not provide reliable forgetting.</a:t>
            </a:r>
            <a:br>
              <a:rPr lang="en-IN" dirty="0"/>
            </a:br>
            <a:r>
              <a:rPr lang="en-IN" dirty="0"/>
              <a:t>Random pruning is fast, but it can reduce both forgetting and accuracy.</a:t>
            </a:r>
            <a:br>
              <a:rPr lang="en-IN" dirty="0"/>
            </a:br>
            <a:r>
              <a:rPr lang="en-IN" dirty="0"/>
              <a:t>Fisher-only and entanglement-only pruning capture only one side of the problem  i.e. Low Cost.</a:t>
            </a:r>
            <a:br>
              <a:rPr lang="en-IN" dirty="0"/>
            </a:br>
            <a:r>
              <a:rPr lang="en-IN" b="1" dirty="0"/>
              <a:t>So, there is a need for an approach that can maintain utility and forgetting while keeping the computational cost low.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169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Our key insight is that we should not prune a parameter based on only one factor.</a:t>
            </a:r>
            <a:br>
              <a:rPr lang="en-IN" dirty="0"/>
            </a:br>
            <a:r>
              <a:rPr lang="en-IN" dirty="0"/>
              <a:t>A parameter should be forgotten when it is </a:t>
            </a:r>
            <a:r>
              <a:rPr lang="en-IN" b="1" dirty="0"/>
              <a:t>highly sensitive to the target client, but structurally less important to the global quantum correlations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We measure client-specific sensitivity using the </a:t>
            </a:r>
            <a:r>
              <a:rPr lang="en-IN" b="1" dirty="0"/>
              <a:t>Quantum Fisher Information</a:t>
            </a:r>
            <a:r>
              <a:rPr lang="en-IN" dirty="0"/>
              <a:t>, and structural importance using </a:t>
            </a:r>
            <a:r>
              <a:rPr lang="en-IN" b="1" dirty="0"/>
              <a:t>entanglement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We then combine these two signals to calculate a pruning score and  on basis of this score we remove the parameters. </a:t>
            </a:r>
          </a:p>
          <a:p>
            <a:endParaRPr lang="en-IN" dirty="0"/>
          </a:p>
          <a:p>
            <a:r>
              <a:rPr lang="en-IN" dirty="0"/>
              <a:t>In simple words </a:t>
            </a:r>
            <a:r>
              <a:rPr lang="en-IN" b="1" dirty="0"/>
              <a:t>: Fisher information tells us what to forget, and entanglement tells us what is safe to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752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Here is our proposed framework.</a:t>
            </a:r>
            <a:br>
              <a:rPr lang="en-IN" dirty="0"/>
            </a:br>
            <a:r>
              <a:rPr lang="en-IN" dirty="0"/>
              <a:t>The clients train locally, and the server aggregates their model parameters.</a:t>
            </a:r>
            <a:br>
              <a:rPr lang="en-IN" dirty="0"/>
            </a:br>
            <a:r>
              <a:rPr lang="en-IN" dirty="0"/>
              <a:t>When client j requests forgetting, we calculate its </a:t>
            </a:r>
            <a:r>
              <a:rPr lang="en-IN" b="1" dirty="0"/>
              <a:t>QFIM</a:t>
            </a:r>
            <a:r>
              <a:rPr lang="en-IN" dirty="0"/>
              <a:t> and the </a:t>
            </a:r>
            <a:r>
              <a:rPr lang="en-IN" b="1" dirty="0"/>
              <a:t>entanglement weight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We use these to identify and prune the relevant parameters, followed by fine-tuning.</a:t>
            </a:r>
            <a:br>
              <a:rPr lang="en-IN" dirty="0"/>
            </a:br>
            <a:r>
              <a:rPr lang="en-IN" b="1" dirty="0"/>
              <a:t>Importantly, the raw client data never leaves the client.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58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use a 4-qubit, 3-layer VQC with 24 trainable parameters.</a:t>
            </a:r>
          </a:p>
          <a:p>
            <a:r>
              <a:rPr lang="en-IN" dirty="0"/>
              <a:t> Data is encoded using RX rotations, with RY and RZ rotations and ring-CNOTs for entanglement. </a:t>
            </a:r>
          </a:p>
          <a:p>
            <a:r>
              <a:rPr lang="en-IN" dirty="0"/>
              <a:t>Gradients are calculated using the parameter-shift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262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use Quantum Fisher Information to measure how sensitive each parameter is to the target client. </a:t>
            </a:r>
          </a:p>
          <a:p>
            <a:r>
              <a:rPr lang="en-IN" dirty="0"/>
              <a:t>A high Fisher value means that the parameter strongly affects the client-specific quantum state, so it is more relevant to forgetting.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996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use entanglement to measure the structural importance of each parameter. </a:t>
            </a:r>
          </a:p>
          <a:p>
            <a:r>
              <a:rPr lang="en-IN" dirty="0"/>
              <a:t>High entanglement means the parameter is important to shared quantum correlations, </a:t>
            </a:r>
          </a:p>
          <a:p>
            <a:r>
              <a:rPr lang="en-IN" dirty="0"/>
              <a:t>while low entanglement means it is relatively safe to remove.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2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combine Fisher sensitivity and entanglement weight to calculate a pruning score for each parameter. </a:t>
            </a:r>
          </a:p>
          <a:p>
            <a:r>
              <a:rPr lang="en-IN" dirty="0"/>
              <a:t>We rank all 24 parameters, and parameters with a score below the threshold are pruned. </a:t>
            </a:r>
          </a:p>
          <a:p>
            <a:r>
              <a:rPr lang="en-IN" dirty="0"/>
              <a:t>Our default setting uses around 20% pruning.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045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Now, let’s put the complete process together.</a:t>
            </a:r>
            <a:endParaRPr lang="en-IN" dirty="0"/>
          </a:p>
          <a:p>
            <a:r>
              <a:rPr lang="en-IN" dirty="0"/>
              <a:t>The complete algorithm has six main stages.</a:t>
            </a:r>
            <a:br>
              <a:rPr lang="en-IN" dirty="0"/>
            </a:br>
            <a:r>
              <a:rPr lang="en-IN" dirty="0"/>
              <a:t>First, we train the federated model.</a:t>
            </a:r>
            <a:br>
              <a:rPr lang="en-IN" dirty="0"/>
            </a:br>
            <a:r>
              <a:rPr lang="en-IN" dirty="0"/>
              <a:t>Then we receive a forget request from a client.</a:t>
            </a:r>
            <a:br>
              <a:rPr lang="en-IN" dirty="0"/>
            </a:br>
            <a:r>
              <a:rPr lang="en-IN" dirty="0"/>
              <a:t>We calculate its QFIM and entanglement weights, combine them into pruning scores, and prune the selected parameters  those which are below the selected threshold.</a:t>
            </a:r>
            <a:br>
              <a:rPr lang="en-IN" dirty="0"/>
            </a:br>
            <a:r>
              <a:rPr lang="en-IN" dirty="0"/>
              <a:t>Finally, we perform a small </a:t>
            </a:r>
            <a:r>
              <a:rPr lang="en-IN" b="1" dirty="0"/>
              <a:t>fine-tuning step</a:t>
            </a:r>
            <a:r>
              <a:rPr lang="en-IN" dirty="0"/>
              <a:t> and evaluate the updated model. </a:t>
            </a:r>
          </a:p>
          <a:p>
            <a:br>
              <a:rPr lang="en-IN" dirty="0"/>
            </a:br>
            <a:r>
              <a:rPr lang="en-IN" b="1" dirty="0"/>
              <a:t>This allows us to selectively remove the influence of the client without retraining the entire model.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1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used five clients with 180 samples each and a 4-qubit, 3-layer VQC. </a:t>
            </a:r>
          </a:p>
          <a:p>
            <a:r>
              <a:rPr lang="en-IN" dirty="0"/>
              <a:t>The model was simulated in </a:t>
            </a:r>
            <a:r>
              <a:rPr lang="en-IN" dirty="0" err="1"/>
              <a:t>Qiskit</a:t>
            </a:r>
            <a:r>
              <a:rPr lang="en-IN" dirty="0"/>
              <a:t> using three random seeds. </a:t>
            </a:r>
          </a:p>
          <a:p>
            <a:r>
              <a:rPr lang="en-IN" dirty="0"/>
              <a:t>And  Client 0 selected as the forgotten client and a default pruning threshold of 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73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 we compare the accuracy of different unlearning methods. </a:t>
            </a:r>
          </a:p>
          <a:p>
            <a:r>
              <a:rPr lang="en-IN" dirty="0"/>
              <a:t>EWP achieves about </a:t>
            </a:r>
            <a:r>
              <a:rPr lang="en-IN" b="1" dirty="0"/>
              <a:t>0.837 accuracy</a:t>
            </a:r>
            <a:r>
              <a:rPr lang="en-IN" dirty="0"/>
              <a:t>, showing utility comparable to </a:t>
            </a:r>
            <a:r>
              <a:rPr lang="en-IN" b="1" dirty="0"/>
              <a:t>Full Retraining Approach</a:t>
            </a:r>
            <a:r>
              <a:rPr lang="en-IN" dirty="0"/>
              <a:t> . </a:t>
            </a:r>
          </a:p>
          <a:p>
            <a:r>
              <a:rPr lang="en-IN" dirty="0"/>
              <a:t> But the other pruning methods show a much larger drop in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376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Accuracy alone is not enough; </a:t>
            </a:r>
          </a:p>
          <a:p>
            <a:r>
              <a:rPr lang="en-IN" dirty="0"/>
              <a:t>we also need to verify that the client’s information has actually been forgotten. </a:t>
            </a:r>
          </a:p>
          <a:p>
            <a:r>
              <a:rPr lang="en-IN" dirty="0"/>
              <a:t>EWP achieves the best forgetting score of </a:t>
            </a:r>
            <a:r>
              <a:rPr lang="en-IN" b="1" dirty="0"/>
              <a:t>0.678</a:t>
            </a:r>
            <a:r>
              <a:rPr lang="en-IN" dirty="0"/>
              <a:t> and the lowest membership-inference AUC of </a:t>
            </a:r>
            <a:r>
              <a:rPr lang="en-IN" b="1" dirty="0"/>
              <a:t>0.339</a:t>
            </a:r>
            <a:r>
              <a:rPr lang="en-IN" dirty="0"/>
              <a:t>. </a:t>
            </a:r>
          </a:p>
          <a:p>
            <a:r>
              <a:rPr lang="en-IN" dirty="0"/>
              <a:t>This shows that our method effectively removes client-specific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126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 we compare the unlearning runtime. </a:t>
            </a:r>
          </a:p>
          <a:p>
            <a:r>
              <a:rPr lang="en-IN" dirty="0"/>
              <a:t>EWP takes only </a:t>
            </a:r>
            <a:r>
              <a:rPr lang="en-IN" b="1" dirty="0"/>
              <a:t>3.96 seconds</a:t>
            </a:r>
            <a:r>
              <a:rPr lang="en-IN" dirty="0"/>
              <a:t>, compared to </a:t>
            </a:r>
            <a:r>
              <a:rPr lang="en-IN" b="1" dirty="0"/>
              <a:t>65.03 seconds</a:t>
            </a:r>
            <a:r>
              <a:rPr lang="en-IN" dirty="0"/>
              <a:t> for </a:t>
            </a:r>
            <a:r>
              <a:rPr lang="en-IN" b="1" dirty="0"/>
              <a:t>full retraining approach</a:t>
            </a:r>
            <a:r>
              <a:rPr lang="en-IN" dirty="0"/>
              <a:t>. </a:t>
            </a:r>
          </a:p>
          <a:p>
            <a:r>
              <a:rPr lang="en-IN" dirty="0"/>
              <a:t>This gives us a </a:t>
            </a:r>
            <a:r>
              <a:rPr lang="en-IN" b="1" dirty="0"/>
              <a:t>16.4-times speed-up</a:t>
            </a:r>
            <a:r>
              <a:rPr lang="en-IN" dirty="0"/>
              <a:t>, which is significantly reducing the cost of each forget request.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531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This slide brings all the results together.</a:t>
            </a:r>
            <a:br>
              <a:rPr lang="en-IN" dirty="0"/>
            </a:br>
            <a:r>
              <a:rPr lang="en-IN" dirty="0"/>
              <a:t>We compare the different methods across four important metrics: </a:t>
            </a:r>
            <a:r>
              <a:rPr lang="en-IN" b="1" dirty="0"/>
              <a:t>accuracy, forgetting, privacy, and speed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EWP performs consistently well across all four metrics and stays close to the outer edge of the radar chart.</a:t>
            </a:r>
            <a:br>
              <a:rPr lang="en-IN" dirty="0"/>
            </a:br>
            <a:r>
              <a:rPr lang="en-IN" dirty="0"/>
              <a:t>Full retraining performs well, but it comes with a much higher computational cost.</a:t>
            </a:r>
            <a:br>
              <a:rPr lang="en-IN" dirty="0"/>
            </a:br>
            <a:r>
              <a:rPr lang="en-IN" dirty="0"/>
              <a:t>So, overall, </a:t>
            </a:r>
            <a:r>
              <a:rPr lang="en-IN" b="1" dirty="0"/>
              <a:t>EWP provides the best balance between utility, privacy, forgetting, and efficiency.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07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Here, we study how EWP performs under different non-IID strengths and numbers of clients.</a:t>
            </a:r>
          </a:p>
          <a:p>
            <a:r>
              <a:rPr lang="en-IN" dirty="0"/>
              <a:t>The results show that forgetting improves as clients become more distinguishable.</a:t>
            </a:r>
          </a:p>
          <a:p>
            <a:r>
              <a:rPr lang="en-IN" dirty="0"/>
              <a:t> And a pruning threshold around </a:t>
            </a:r>
            <a:r>
              <a:rPr lang="en-IN" b="1" dirty="0"/>
              <a:t>0.2 to 0.3</a:t>
            </a:r>
            <a:r>
              <a:rPr lang="en-IN" dirty="0"/>
              <a:t> gives strong forgetting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45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Fisher-only may remove structurally important parameters, while entanglement-only may remove parameters unrelated to the target client.</a:t>
            </a:r>
          </a:p>
          <a:p>
            <a:r>
              <a:rPr lang="en-IN" dirty="0"/>
              <a:t>But QFL-EWP combines both signals, i.e. it is pruning only when both conditions are satisfied.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41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Our main contributions are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 new Fisher–entanglement pruning method,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 hardware-compatible QFIM approach,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 an open-source </a:t>
            </a:r>
            <a:r>
              <a:rPr lang="en-IN" dirty="0" err="1"/>
              <a:t>Qiskit</a:t>
            </a:r>
            <a:r>
              <a:rPr lang="en-IN" dirty="0"/>
              <a:t> implementation,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and a 16.4-times speed-up with strong utility and forgetting performance.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65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future, we plan to test EWP on real quantum hardware, improve the QFIM, strengthen privacy, and scale the method to larger and more realistic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009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As the final part of this work, our technical report has been submitted to </a:t>
            </a:r>
            <a:r>
              <a:rPr lang="en-IN" b="1" dirty="0" err="1"/>
              <a:t>arXiv</a:t>
            </a:r>
            <a:r>
              <a:rPr lang="en-IN" b="1" dirty="0"/>
              <a:t>.</a:t>
            </a:r>
            <a:br>
              <a:rPr lang="en-IN" dirty="0"/>
            </a:br>
            <a:r>
              <a:rPr lang="en-IN" dirty="0"/>
              <a:t>The report is titled </a:t>
            </a:r>
            <a:r>
              <a:rPr lang="en-IN" i="1" dirty="0"/>
              <a:t>Dynamic Entanglement-Weighted Pruning for Quantum Federated Unlearning in Supply-Chain Risk Prediction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complete work, including the methodology and experimental results, is available through the project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135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DCAE-459A-4072-90B2-B59CB36DDAC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1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3002" y="996690"/>
            <a:ext cx="119443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151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151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514984"/>
          </a:xfrm>
          <a:custGeom>
            <a:avLst/>
            <a:gdLst/>
            <a:ahLst/>
            <a:cxnLst/>
            <a:rect l="l" t="t" r="r" b="b"/>
            <a:pathLst>
              <a:path w="5760085" h="514984">
                <a:moveTo>
                  <a:pt x="5759996" y="0"/>
                </a:moveTo>
                <a:lnTo>
                  <a:pt x="0" y="0"/>
                </a:lnTo>
                <a:lnTo>
                  <a:pt x="0" y="514794"/>
                </a:lnTo>
                <a:lnTo>
                  <a:pt x="5759996" y="514794"/>
                </a:lnTo>
                <a:lnTo>
                  <a:pt x="5759996" y="0"/>
                </a:lnTo>
                <a:close/>
              </a:path>
            </a:pathLst>
          </a:custGeom>
          <a:solidFill>
            <a:srgbClr val="0E61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297" y="274769"/>
            <a:ext cx="37103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731" y="888626"/>
            <a:ext cx="2338070" cy="1069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151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6524" y="3059008"/>
            <a:ext cx="230759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525252"/>
                </a:solidFill>
                <a:latin typeface="Arial"/>
                <a:cs typeface="Arial"/>
              </a:defRPr>
            </a:lvl1pPr>
          </a:lstStyle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rxiv.org/abs/1912.0381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ceedings.mlr.press/v54/mcmahan17a.html" TargetMode="External"/><Relationship Id="rId5" Type="http://schemas.openxmlformats.org/officeDocument/2006/relationships/hyperlink" Target="https://gdpr-info.eu/art-17-gdpr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54/mcmahan17a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907.0208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909.0210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3/PhysRevLett.80.2245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5281/zenodo.2573505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10.0582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mitchongder/dew-p-qfl-unlearni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mitchongder/dew-p-qfl-unlearn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5281/zenodo.213729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15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0" y="1656003"/>
            <a:ext cx="5760073" cy="15840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781" y="350302"/>
            <a:ext cx="2301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QIntern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QWorld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Association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5129" y="833140"/>
            <a:ext cx="4850130" cy="536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1700" dirty="0"/>
              <a:t>Dynamic</a:t>
            </a:r>
            <a:r>
              <a:rPr sz="1700" spc="-80" dirty="0"/>
              <a:t> </a:t>
            </a:r>
            <a:r>
              <a:rPr sz="1700" dirty="0"/>
              <a:t>Entanglement-Weighted</a:t>
            </a:r>
            <a:r>
              <a:rPr sz="1700" spc="-75" dirty="0"/>
              <a:t> </a:t>
            </a:r>
            <a:r>
              <a:rPr sz="1700" spc="-10" dirty="0"/>
              <a:t>Pruning</a:t>
            </a:r>
            <a:endParaRPr sz="1700"/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C9A126"/>
                </a:solidFill>
              </a:rPr>
              <a:t>for</a:t>
            </a:r>
            <a:r>
              <a:rPr sz="1200" spc="-40" dirty="0">
                <a:solidFill>
                  <a:srgbClr val="C9A126"/>
                </a:solidFill>
              </a:rPr>
              <a:t> </a:t>
            </a:r>
            <a:r>
              <a:rPr sz="1200" spc="-10" dirty="0">
                <a:solidFill>
                  <a:srgbClr val="C9A126"/>
                </a:solidFill>
              </a:rPr>
              <a:t>Quantum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spc="-10" dirty="0">
                <a:solidFill>
                  <a:srgbClr val="C9A126"/>
                </a:solidFill>
              </a:rPr>
              <a:t>Federated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spc="-10" dirty="0">
                <a:solidFill>
                  <a:srgbClr val="C9A126"/>
                </a:solidFill>
              </a:rPr>
              <a:t>Unlearning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dirty="0">
                <a:solidFill>
                  <a:srgbClr val="C9A126"/>
                </a:solidFill>
              </a:rPr>
              <a:t>in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spc="-10" dirty="0">
                <a:solidFill>
                  <a:srgbClr val="C9A126"/>
                </a:solidFill>
              </a:rPr>
              <a:t>Supply-</a:t>
            </a:r>
            <a:r>
              <a:rPr sz="1200" dirty="0">
                <a:solidFill>
                  <a:srgbClr val="C9A126"/>
                </a:solidFill>
              </a:rPr>
              <a:t>Chain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dirty="0">
                <a:solidFill>
                  <a:srgbClr val="C9A126"/>
                </a:solidFill>
              </a:rPr>
              <a:t>Risk</a:t>
            </a:r>
            <a:r>
              <a:rPr sz="1200" spc="-35" dirty="0">
                <a:solidFill>
                  <a:srgbClr val="C9A126"/>
                </a:solidFill>
              </a:rPr>
              <a:t> </a:t>
            </a:r>
            <a:r>
              <a:rPr sz="1200" spc="-10" dirty="0">
                <a:solidFill>
                  <a:srgbClr val="C9A126"/>
                </a:solidFill>
              </a:rPr>
              <a:t>Prediction</a:t>
            </a:r>
            <a:endParaRPr sz="1200"/>
          </a:p>
        </p:txBody>
      </p:sp>
      <p:sp>
        <p:nvSpPr>
          <p:cNvPr id="6" name="object 6"/>
          <p:cNvSpPr txBox="1"/>
          <p:nvPr/>
        </p:nvSpPr>
        <p:spPr>
          <a:xfrm>
            <a:off x="1253223" y="1711228"/>
            <a:ext cx="3253740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Forgetting</a:t>
            </a:r>
            <a:r>
              <a:rPr sz="10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client,</a:t>
            </a:r>
            <a:r>
              <a:rPr sz="10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without</a:t>
            </a:r>
            <a:r>
              <a:rPr sz="10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forgetting</a:t>
            </a:r>
            <a:r>
              <a:rPr sz="1000" spc="5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D8D8D8"/>
                </a:solidFill>
                <a:latin typeface="Arial"/>
                <a:cs typeface="Arial"/>
              </a:rPr>
              <a:t>the</a:t>
            </a:r>
            <a:r>
              <a:rPr sz="1000" spc="10" dirty="0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8D8D8"/>
                </a:solidFill>
                <a:latin typeface="Arial"/>
                <a:cs typeface="Arial"/>
              </a:rPr>
              <a:t>model.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939800" algn="l"/>
              </a:tabLst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Aditya</a:t>
            </a:r>
            <a:r>
              <a:rPr sz="9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Kumar</a:t>
            </a:r>
            <a:r>
              <a:rPr sz="900" spc="-15" baseline="3703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900" baseline="37037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Sumit</a:t>
            </a:r>
            <a:r>
              <a:rPr sz="9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Chongder</a:t>
            </a:r>
            <a:r>
              <a:rPr sz="900" spc="-15" baseline="37037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00" baseline="37037">
              <a:latin typeface="Arial"/>
              <a:cs typeface="Arial"/>
            </a:endParaRPr>
          </a:p>
          <a:p>
            <a:pPr marL="37465" marR="30480" algn="ctr">
              <a:lnSpc>
                <a:spcPts val="800"/>
              </a:lnSpc>
              <a:spcBef>
                <a:spcPts val="175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sz="7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7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Physics</a:t>
            </a:r>
            <a:r>
              <a:rPr sz="7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7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sz="7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7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sz="7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7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sz="700" spc="5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Quantum</a:t>
            </a:r>
            <a:r>
              <a:rPr sz="7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7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Computation,</a:t>
            </a:r>
            <a:r>
              <a:rPr sz="7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Indian</a:t>
            </a:r>
            <a:r>
              <a:rPr sz="7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70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7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7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Arial"/>
                <a:cs typeface="Arial"/>
              </a:rPr>
              <a:t>Jodhpur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Mentor:</a:t>
            </a:r>
            <a:r>
              <a:rPr sz="700" i="1" spc="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Sumit</a:t>
            </a:r>
            <a:r>
              <a:rPr sz="700" i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Chongder</a:t>
            </a:r>
            <a:r>
              <a:rPr sz="700" i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7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QIntern</a:t>
            </a:r>
            <a:r>
              <a:rPr sz="700" i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r>
              <a:rPr sz="7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Summer</a:t>
            </a:r>
            <a:r>
              <a:rPr sz="700" i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7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FFFFFF"/>
                </a:solidFill>
                <a:latin typeface="Arial"/>
                <a:cs typeface="Arial"/>
              </a:rPr>
              <a:t>Programme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7892" y="2965484"/>
            <a:ext cx="18846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B2B2B2"/>
                </a:solidFill>
                <a:latin typeface="Arial"/>
                <a:cs typeface="Arial"/>
              </a:rPr>
              <a:t>Project</a:t>
            </a:r>
            <a:r>
              <a:rPr sz="500" spc="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B2B2B2"/>
                </a:solidFill>
                <a:latin typeface="Arial"/>
                <a:cs typeface="Arial"/>
              </a:rPr>
              <a:t>QI26_22</a:t>
            </a:r>
            <a:r>
              <a:rPr sz="500" spc="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B2B2B2"/>
                </a:solidFill>
                <a:latin typeface="Arial"/>
                <a:cs typeface="Arial"/>
              </a:rPr>
              <a:t>•</a:t>
            </a:r>
            <a:r>
              <a:rPr sz="500" spc="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B2B2B2"/>
                </a:solidFill>
                <a:latin typeface="Arial"/>
                <a:cs typeface="Arial"/>
              </a:rPr>
              <a:t>github.com/Sumitchongder/dew-</a:t>
            </a:r>
            <a:r>
              <a:rPr sz="500" dirty="0">
                <a:solidFill>
                  <a:srgbClr val="B2B2B2"/>
                </a:solidFill>
                <a:latin typeface="Arial"/>
                <a:cs typeface="Arial"/>
              </a:rPr>
              <a:t>p-qfl-</a:t>
            </a:r>
            <a:r>
              <a:rPr sz="500" spc="-10" dirty="0">
                <a:solidFill>
                  <a:srgbClr val="B2B2B2"/>
                </a:solidFill>
                <a:latin typeface="Arial"/>
                <a:cs typeface="Arial"/>
              </a:rPr>
              <a:t>unlearning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50" dirty="0"/>
              <a:t> </a:t>
            </a:r>
            <a:r>
              <a:rPr dirty="0"/>
              <a:t>Should</a:t>
            </a:r>
            <a:r>
              <a:rPr spc="-45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spc="-10" dirty="0"/>
              <a:t>Care?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891037"/>
            <a:ext cx="13982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D91E27"/>
                </a:solidFill>
                <a:latin typeface="Arial"/>
                <a:cs typeface="Arial"/>
              </a:rPr>
              <a:t>The</a:t>
            </a:r>
            <a:r>
              <a:rPr sz="1000" b="1" spc="-35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D91E27"/>
                </a:solidFill>
                <a:latin typeface="Arial"/>
                <a:cs typeface="Arial"/>
              </a:rPr>
              <a:t>Regulatory</a:t>
            </a:r>
            <a:r>
              <a:rPr sz="1000" b="1" spc="-30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D91E27"/>
                </a:solidFill>
                <a:latin typeface="Arial"/>
                <a:cs typeface="Arial"/>
              </a:rPr>
              <a:t>Reality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93" y="1071067"/>
            <a:ext cx="2520810" cy="506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8731" y="1097833"/>
            <a:ext cx="2362200" cy="9309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5260" marR="88265" indent="-137795">
              <a:lnSpc>
                <a:spcPct val="101000"/>
              </a:lnSpc>
              <a:spcBef>
                <a:spcPts val="8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9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GDPR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Article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17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 establishes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151515"/>
                </a:solidFill>
                <a:latin typeface="Arial"/>
                <a:cs typeface="Arial"/>
              </a:rPr>
              <a:t>“Right</a:t>
            </a:r>
            <a:r>
              <a:rPr sz="900" i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151515"/>
                </a:solidFill>
                <a:latin typeface="Arial"/>
                <a:cs typeface="Arial"/>
              </a:rPr>
              <a:t>to </a:t>
            </a:r>
            <a:r>
              <a:rPr sz="900" i="1" spc="-10" dirty="0">
                <a:solidFill>
                  <a:srgbClr val="151515"/>
                </a:solidFill>
                <a:latin typeface="Arial"/>
                <a:cs typeface="Arial"/>
              </a:rPr>
              <a:t>Erasure”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75260" marR="30480" indent="-137795">
              <a:lnSpc>
                <a:spcPct val="101000"/>
              </a:lnSpc>
              <a:spcBef>
                <a:spcPts val="300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8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that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 leaves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federation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legally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demand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that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its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influence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deleted</a:t>
            </a:r>
            <a:endParaRPr sz="900">
              <a:latin typeface="Arial"/>
              <a:cs typeface="Arial"/>
            </a:endParaRPr>
          </a:p>
          <a:p>
            <a:pPr marL="175260" marR="506730" indent="-137795">
              <a:lnSpc>
                <a:spcPct val="101000"/>
              </a:lnSpc>
              <a:spcBef>
                <a:spcPts val="2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3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Full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retraining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honours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this,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but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computationally</a:t>
            </a:r>
            <a:r>
              <a:rPr sz="900" spc="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wasteful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0016" y="1061885"/>
            <a:ext cx="2520810" cy="506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942717" y="840165"/>
            <a:ext cx="2261235" cy="4108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The</a:t>
            </a:r>
            <a:r>
              <a:rPr sz="1000" b="1" spc="-4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Quantum</a:t>
            </a:r>
            <a:r>
              <a:rPr sz="1000" b="1" spc="-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Twist</a:t>
            </a:r>
            <a:endParaRPr sz="10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5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1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Circuit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parameters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entangle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qubits,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but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9541" y="1187364"/>
            <a:ext cx="2327275" cy="8324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information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51515"/>
                </a:solidFill>
                <a:latin typeface="Arial"/>
                <a:cs typeface="Arial"/>
              </a:rPr>
              <a:t>non-local</a:t>
            </a:r>
            <a:endParaRPr sz="900">
              <a:latin typeface="Arial"/>
              <a:cs typeface="Arial"/>
            </a:endParaRPr>
          </a:p>
          <a:p>
            <a:pPr marL="175260" marR="30480" indent="-137795">
              <a:lnSpc>
                <a:spcPct val="101000"/>
              </a:lnSpc>
              <a:spcBef>
                <a:spcPts val="300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4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Which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rotation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angle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“remembers”</a:t>
            </a:r>
            <a:r>
              <a:rPr sz="9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client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not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obvious</a:t>
            </a:r>
            <a:endParaRPr sz="900">
              <a:latin typeface="Arial"/>
              <a:cs typeface="Arial"/>
            </a:endParaRPr>
          </a:p>
          <a:p>
            <a:pPr marL="175260" marR="259715" indent="-137795">
              <a:lnSpc>
                <a:spcPct val="101000"/>
              </a:lnSpc>
              <a:spcBef>
                <a:spcPts val="2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4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Classical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unlearning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heuristics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do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not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transfer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directly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5856" y="2213222"/>
            <a:ext cx="4768850" cy="399415"/>
            <a:chOff x="495856" y="2213222"/>
            <a:chExt cx="4768850" cy="399415"/>
          </a:xfrm>
        </p:grpSpPr>
        <p:sp>
          <p:nvSpPr>
            <p:cNvPr id="11" name="object 11"/>
            <p:cNvSpPr/>
            <p:nvPr/>
          </p:nvSpPr>
          <p:spPr>
            <a:xfrm>
              <a:off x="503448" y="2220813"/>
              <a:ext cx="4753610" cy="384175"/>
            </a:xfrm>
            <a:custGeom>
              <a:avLst/>
              <a:gdLst/>
              <a:ahLst/>
              <a:cxnLst/>
              <a:rect l="l" t="t" r="r" b="b"/>
              <a:pathLst>
                <a:path w="4753610" h="384175">
                  <a:moveTo>
                    <a:pt x="4702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33507"/>
                  </a:lnTo>
                  <a:lnTo>
                    <a:pt x="3977" y="353207"/>
                  </a:lnTo>
                  <a:lnTo>
                    <a:pt x="14823" y="369294"/>
                  </a:lnTo>
                  <a:lnTo>
                    <a:pt x="30910" y="380141"/>
                  </a:lnTo>
                  <a:lnTo>
                    <a:pt x="50610" y="384118"/>
                  </a:lnTo>
                  <a:lnTo>
                    <a:pt x="4702501" y="384118"/>
                  </a:lnTo>
                  <a:lnTo>
                    <a:pt x="4722201" y="380141"/>
                  </a:lnTo>
                  <a:lnTo>
                    <a:pt x="4738288" y="369294"/>
                  </a:lnTo>
                  <a:lnTo>
                    <a:pt x="4749134" y="353207"/>
                  </a:lnTo>
                  <a:lnTo>
                    <a:pt x="4753111" y="333507"/>
                  </a:lnTo>
                  <a:lnTo>
                    <a:pt x="4753111" y="50610"/>
                  </a:lnTo>
                  <a:lnTo>
                    <a:pt x="4749134" y="30910"/>
                  </a:lnTo>
                  <a:lnTo>
                    <a:pt x="4738288" y="14823"/>
                  </a:lnTo>
                  <a:lnTo>
                    <a:pt x="4722201" y="3977"/>
                  </a:lnTo>
                  <a:lnTo>
                    <a:pt x="4702501" y="0"/>
                  </a:lnTo>
                  <a:close/>
                </a:path>
              </a:pathLst>
            </a:custGeom>
            <a:solidFill>
              <a:srgbClr val="F3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3448" y="2220813"/>
              <a:ext cx="4753610" cy="384175"/>
            </a:xfrm>
            <a:custGeom>
              <a:avLst/>
              <a:gdLst/>
              <a:ahLst/>
              <a:cxnLst/>
              <a:rect l="l" t="t" r="r" b="b"/>
              <a:pathLst>
                <a:path w="4753610" h="384175">
                  <a:moveTo>
                    <a:pt x="4702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33507"/>
                  </a:lnTo>
                  <a:lnTo>
                    <a:pt x="3977" y="353207"/>
                  </a:lnTo>
                  <a:lnTo>
                    <a:pt x="14823" y="369294"/>
                  </a:lnTo>
                  <a:lnTo>
                    <a:pt x="30910" y="380141"/>
                  </a:lnTo>
                  <a:lnTo>
                    <a:pt x="50610" y="384118"/>
                  </a:lnTo>
                  <a:lnTo>
                    <a:pt x="4702501" y="384118"/>
                  </a:lnTo>
                  <a:lnTo>
                    <a:pt x="4722201" y="380141"/>
                  </a:lnTo>
                  <a:lnTo>
                    <a:pt x="4738288" y="369294"/>
                  </a:lnTo>
                  <a:lnTo>
                    <a:pt x="4749134" y="353207"/>
                  </a:lnTo>
                  <a:lnTo>
                    <a:pt x="4753111" y="333507"/>
                  </a:lnTo>
                  <a:lnTo>
                    <a:pt x="4753111" y="50610"/>
                  </a:lnTo>
                  <a:lnTo>
                    <a:pt x="4749134" y="30910"/>
                  </a:lnTo>
                  <a:lnTo>
                    <a:pt x="4738288" y="14823"/>
                  </a:lnTo>
                  <a:lnTo>
                    <a:pt x="4722201" y="3977"/>
                  </a:lnTo>
                  <a:lnTo>
                    <a:pt x="4702501" y="0"/>
                  </a:lnTo>
                  <a:close/>
                </a:path>
              </a:pathLst>
            </a:custGeom>
            <a:ln w="1518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3028" y="2298000"/>
            <a:ext cx="4734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“Models</a:t>
            </a:r>
            <a:r>
              <a:rPr sz="1100" i="1" spc="-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should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learn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only</a:t>
            </a:r>
            <a:r>
              <a:rPr sz="1100" i="1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from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data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they</a:t>
            </a:r>
            <a:r>
              <a:rPr sz="1100" i="1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remain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permitted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1100" i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151515"/>
                </a:solidFill>
                <a:latin typeface="Arial"/>
                <a:cs typeface="Arial"/>
              </a:rPr>
              <a:t>remember.”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2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00162" y="3069257"/>
            <a:ext cx="33597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[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GDPR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Art.17,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Voigt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&amp;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von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dem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Bussche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2017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]</a:t>
            </a:r>
            <a:r>
              <a:rPr sz="500" i="1" spc="48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[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McMahan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et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</a:t>
            </a:r>
            <a:r>
              <a:rPr sz="500" i="1" spc="-25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AISTATS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2017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]</a:t>
            </a:r>
            <a:r>
              <a:rPr sz="500" i="1" spc="484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[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Bourtoule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et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IEEE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S&amp;P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 </a:t>
            </a:r>
            <a:r>
              <a:rPr sz="500" i="1" spc="-20" dirty="0">
                <a:solidFill>
                  <a:srgbClr val="0E61FE"/>
                </a:solidFill>
                <a:latin typeface="Arial"/>
                <a:cs typeface="Arial"/>
                <a:hlinkClick r:id="rId7"/>
              </a:rPr>
              <a:t>2021</a:t>
            </a:r>
            <a:r>
              <a:rPr sz="500" i="1" spc="-20" dirty="0">
                <a:solidFill>
                  <a:srgbClr val="525252"/>
                </a:solidFill>
                <a:latin typeface="Arial"/>
                <a:cs typeface="Arial"/>
              </a:rPr>
              <a:t>]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5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6590" y="747558"/>
            <a:ext cx="4806950" cy="807720"/>
            <a:chOff x="476590" y="747558"/>
            <a:chExt cx="4806950" cy="807720"/>
          </a:xfrm>
        </p:grpSpPr>
        <p:sp>
          <p:nvSpPr>
            <p:cNvPr id="5" name="object 5"/>
            <p:cNvSpPr/>
            <p:nvPr/>
          </p:nvSpPr>
          <p:spPr>
            <a:xfrm>
              <a:off x="485447" y="756415"/>
              <a:ext cx="4789170" cy="789940"/>
            </a:xfrm>
            <a:custGeom>
              <a:avLst/>
              <a:gdLst/>
              <a:ahLst/>
              <a:cxnLst/>
              <a:rect l="l" t="t" r="r" b="b"/>
              <a:pathLst>
                <a:path w="4789170" h="789940">
                  <a:moveTo>
                    <a:pt x="472585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726644"/>
                  </a:lnTo>
                  <a:lnTo>
                    <a:pt x="4971" y="751269"/>
                  </a:lnTo>
                  <a:lnTo>
                    <a:pt x="18529" y="771378"/>
                  </a:lnTo>
                  <a:lnTo>
                    <a:pt x="38638" y="784936"/>
                  </a:lnTo>
                  <a:lnTo>
                    <a:pt x="63263" y="789907"/>
                  </a:lnTo>
                  <a:lnTo>
                    <a:pt x="4725851" y="789907"/>
                  </a:lnTo>
                  <a:lnTo>
                    <a:pt x="4750476" y="784936"/>
                  </a:lnTo>
                  <a:lnTo>
                    <a:pt x="4770585" y="771378"/>
                  </a:lnTo>
                  <a:lnTo>
                    <a:pt x="4784143" y="751269"/>
                  </a:lnTo>
                  <a:lnTo>
                    <a:pt x="4789114" y="726644"/>
                  </a:lnTo>
                  <a:lnTo>
                    <a:pt x="4789114" y="63263"/>
                  </a:lnTo>
                  <a:lnTo>
                    <a:pt x="4784143" y="38638"/>
                  </a:lnTo>
                  <a:lnTo>
                    <a:pt x="4770585" y="18529"/>
                  </a:lnTo>
                  <a:lnTo>
                    <a:pt x="4750476" y="4971"/>
                  </a:lnTo>
                  <a:lnTo>
                    <a:pt x="4725851" y="0"/>
                  </a:lnTo>
                  <a:close/>
                </a:path>
              </a:pathLst>
            </a:custGeom>
            <a:solidFill>
              <a:srgbClr val="15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447" y="756415"/>
              <a:ext cx="4789170" cy="789940"/>
            </a:xfrm>
            <a:custGeom>
              <a:avLst/>
              <a:gdLst/>
              <a:ahLst/>
              <a:cxnLst/>
              <a:rect l="l" t="t" r="r" b="b"/>
              <a:pathLst>
                <a:path w="4789170" h="789940">
                  <a:moveTo>
                    <a:pt x="472585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726644"/>
                  </a:lnTo>
                  <a:lnTo>
                    <a:pt x="4971" y="751269"/>
                  </a:lnTo>
                  <a:lnTo>
                    <a:pt x="18529" y="771378"/>
                  </a:lnTo>
                  <a:lnTo>
                    <a:pt x="38638" y="784936"/>
                  </a:lnTo>
                  <a:lnTo>
                    <a:pt x="63263" y="789907"/>
                  </a:lnTo>
                  <a:lnTo>
                    <a:pt x="4725851" y="789907"/>
                  </a:lnTo>
                  <a:lnTo>
                    <a:pt x="4750476" y="784936"/>
                  </a:lnTo>
                  <a:lnTo>
                    <a:pt x="4770585" y="771378"/>
                  </a:lnTo>
                  <a:lnTo>
                    <a:pt x="4784143" y="751269"/>
                  </a:lnTo>
                  <a:lnTo>
                    <a:pt x="4789114" y="726644"/>
                  </a:lnTo>
                  <a:lnTo>
                    <a:pt x="4789114" y="63263"/>
                  </a:lnTo>
                  <a:lnTo>
                    <a:pt x="4784143" y="38638"/>
                  </a:lnTo>
                  <a:lnTo>
                    <a:pt x="4770585" y="18529"/>
                  </a:lnTo>
                  <a:lnTo>
                    <a:pt x="4750476" y="4971"/>
                  </a:lnTo>
                  <a:lnTo>
                    <a:pt x="4725851" y="0"/>
                  </a:lnTo>
                  <a:close/>
                </a:path>
              </a:pathLst>
            </a:custGeom>
            <a:ln w="1771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1389" y="836782"/>
            <a:ext cx="4817745" cy="5930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61290" marR="153670" algn="ctr">
              <a:lnSpc>
                <a:spcPts val="1090"/>
              </a:lnSpc>
              <a:spcBef>
                <a:spcPts val="22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quantum federated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sz="10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θ</a:t>
            </a:r>
            <a:r>
              <a:rPr sz="1050" i="1" spc="-37" baseline="27777" dirty="0">
                <a:solidFill>
                  <a:srgbClr val="FFFFFF"/>
                </a:solidFill>
                <a:latin typeface="Meiryo UI"/>
                <a:cs typeface="Meiryo UI"/>
              </a:rPr>
              <a:t>⋆</a:t>
            </a:r>
            <a:r>
              <a:rPr sz="1050" i="1" spc="120" baseline="27777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trained across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000" i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clients,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from client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0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to erase its influence, 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identify and edit only the circuit </a:t>
            </a:r>
            <a:r>
              <a:rPr sz="1000" b="1" spc="-10" dirty="0">
                <a:solidFill>
                  <a:srgbClr val="C9A126"/>
                </a:solidFill>
                <a:latin typeface="Arial"/>
                <a:cs typeface="Arial"/>
              </a:rPr>
              <a:t>parame-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ters</a:t>
            </a:r>
            <a:r>
              <a:rPr sz="1000" b="1" spc="15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that</a:t>
            </a:r>
            <a:r>
              <a:rPr sz="1000" b="1" spc="20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encode</a:t>
            </a:r>
            <a:r>
              <a:rPr sz="1000" b="1" spc="15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client</a:t>
            </a:r>
            <a:r>
              <a:rPr sz="1000" b="1" spc="20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C9A126"/>
                </a:solidFill>
                <a:latin typeface="Arial"/>
                <a:cs typeface="Arial"/>
              </a:rPr>
              <a:t>j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’s</a:t>
            </a:r>
            <a:r>
              <a:rPr sz="1000" b="1" spc="15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9A126"/>
                </a:solidFill>
                <a:latin typeface="Arial"/>
                <a:cs typeface="Arial"/>
              </a:rPr>
              <a:t>data</a:t>
            </a:r>
            <a:r>
              <a:rPr sz="1000" b="1" spc="20" dirty="0">
                <a:solidFill>
                  <a:srgbClr val="C9A1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1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resulting</a:t>
            </a:r>
            <a:r>
              <a:rPr sz="1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Times New Roman"/>
                <a:cs typeface="Times New Roman"/>
              </a:rPr>
              <a:t>θ</a:t>
            </a:r>
            <a:r>
              <a:rPr sz="1050" i="1" baseline="27777" dirty="0">
                <a:solidFill>
                  <a:srgbClr val="FFFFFF"/>
                </a:solidFill>
                <a:latin typeface="Meiryo UI"/>
                <a:cs typeface="Meiryo UI"/>
              </a:rPr>
              <a:t>′</a:t>
            </a:r>
            <a:r>
              <a:rPr sz="1050" i="1" spc="157" baseline="27777" dirty="0">
                <a:solidFill>
                  <a:srgbClr val="FFFFFF"/>
                </a:solidFill>
                <a:latin typeface="Meiryo UI"/>
                <a:cs typeface="Meiryo UI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matches</a:t>
            </a:r>
            <a:r>
              <a:rPr sz="1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fully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retrained</a:t>
            </a: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utility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forgetting,</a:t>
            </a: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fraction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retraining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cost.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973" y="1984700"/>
            <a:ext cx="1127760" cy="371475"/>
            <a:chOff x="359973" y="1984700"/>
            <a:chExt cx="1127760" cy="371475"/>
          </a:xfrm>
        </p:grpSpPr>
        <p:sp>
          <p:nvSpPr>
            <p:cNvPr id="9" name="object 9"/>
            <p:cNvSpPr/>
            <p:nvPr/>
          </p:nvSpPr>
          <p:spPr>
            <a:xfrm>
              <a:off x="365688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30" h="360044">
                  <a:moveTo>
                    <a:pt x="1078058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3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solidFill>
              <a:srgbClr val="E2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688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30" h="360044">
                  <a:moveTo>
                    <a:pt x="1078058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3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ln w="11387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6351" y="2100811"/>
            <a:ext cx="7950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5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Federated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Clients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03379" y="1984700"/>
            <a:ext cx="1127760" cy="371475"/>
            <a:chOff x="1703379" y="1984700"/>
            <a:chExt cx="1127760" cy="371475"/>
          </a:xfrm>
        </p:grpSpPr>
        <p:sp>
          <p:nvSpPr>
            <p:cNvPr id="13" name="object 13"/>
            <p:cNvSpPr/>
            <p:nvPr/>
          </p:nvSpPr>
          <p:spPr>
            <a:xfrm>
              <a:off x="1709094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30" h="360044">
                  <a:moveTo>
                    <a:pt x="107805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2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solidFill>
              <a:srgbClr val="ECE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9094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30" h="360044">
                  <a:moveTo>
                    <a:pt x="107805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2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ln w="11387">
              <a:solidFill>
                <a:srgbClr val="6828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45741" y="2100480"/>
            <a:ext cx="6369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QFL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Model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515"/>
                </a:solidFill>
                <a:latin typeface="Meiryo UI"/>
                <a:cs typeface="Meiryo UI"/>
              </a:rPr>
              <a:t>θ</a:t>
            </a:r>
            <a:r>
              <a:rPr sz="750" i="1" spc="-37" baseline="33333" dirty="0">
                <a:solidFill>
                  <a:srgbClr val="151515"/>
                </a:solidFill>
                <a:latin typeface="Meiryo UI"/>
                <a:cs typeface="Meiryo UI"/>
              </a:rPr>
              <a:t>⋆</a:t>
            </a:r>
            <a:endParaRPr sz="750" baseline="33333">
              <a:latin typeface="Meiryo UI"/>
              <a:cs typeface="Meiryo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46785" y="1984700"/>
            <a:ext cx="1127760" cy="371475"/>
            <a:chOff x="3046785" y="1984700"/>
            <a:chExt cx="1127760" cy="371475"/>
          </a:xfrm>
        </p:grpSpPr>
        <p:sp>
          <p:nvSpPr>
            <p:cNvPr id="17" name="object 17"/>
            <p:cNvSpPr/>
            <p:nvPr/>
          </p:nvSpPr>
          <p:spPr>
            <a:xfrm>
              <a:off x="3052500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29" h="360044">
                  <a:moveTo>
                    <a:pt x="1078058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3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solidFill>
              <a:srgbClr val="FAE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52500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29" h="360044">
                  <a:moveTo>
                    <a:pt x="1078058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3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ln w="11387">
              <a:solidFill>
                <a:srgbClr val="D91E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27248" y="2091870"/>
            <a:ext cx="96646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:</a:t>
            </a:r>
            <a:r>
              <a:rPr sz="700" spc="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Forget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Request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90192" y="1984700"/>
            <a:ext cx="1127760" cy="371475"/>
            <a:chOff x="4390192" y="1984700"/>
            <a:chExt cx="1127760" cy="371475"/>
          </a:xfrm>
        </p:grpSpPr>
        <p:sp>
          <p:nvSpPr>
            <p:cNvPr id="21" name="object 21"/>
            <p:cNvSpPr/>
            <p:nvPr/>
          </p:nvSpPr>
          <p:spPr>
            <a:xfrm>
              <a:off x="4395907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29" h="360044">
                  <a:moveTo>
                    <a:pt x="107805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2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solidFill>
              <a:srgbClr val="DEF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95907" y="1990415"/>
              <a:ext cx="1116330" cy="360045"/>
            </a:xfrm>
            <a:custGeom>
              <a:avLst/>
              <a:gdLst/>
              <a:ahLst/>
              <a:cxnLst/>
              <a:rect l="l" t="t" r="r" b="b"/>
              <a:pathLst>
                <a:path w="1116329" h="360044">
                  <a:moveTo>
                    <a:pt x="107805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2045"/>
                  </a:lnTo>
                  <a:lnTo>
                    <a:pt x="2982" y="336821"/>
                  </a:lnTo>
                  <a:lnTo>
                    <a:pt x="11117" y="348886"/>
                  </a:lnTo>
                  <a:lnTo>
                    <a:pt x="23182" y="357021"/>
                  </a:lnTo>
                  <a:lnTo>
                    <a:pt x="37958" y="360004"/>
                  </a:lnTo>
                  <a:lnTo>
                    <a:pt x="1078058" y="360004"/>
                  </a:lnTo>
                  <a:lnTo>
                    <a:pt x="1092833" y="357021"/>
                  </a:lnTo>
                  <a:lnTo>
                    <a:pt x="1104898" y="348886"/>
                  </a:lnTo>
                  <a:lnTo>
                    <a:pt x="1113033" y="336821"/>
                  </a:lnTo>
                  <a:lnTo>
                    <a:pt x="1116016" y="322045"/>
                  </a:lnTo>
                  <a:lnTo>
                    <a:pt x="1116016" y="37958"/>
                  </a:lnTo>
                  <a:lnTo>
                    <a:pt x="1113033" y="23182"/>
                  </a:lnTo>
                  <a:lnTo>
                    <a:pt x="1104898" y="11117"/>
                  </a:lnTo>
                  <a:lnTo>
                    <a:pt x="1092833" y="2982"/>
                  </a:lnTo>
                  <a:lnTo>
                    <a:pt x="1078058" y="0"/>
                  </a:lnTo>
                  <a:close/>
                </a:path>
              </a:pathLst>
            </a:custGeom>
            <a:ln w="11387">
              <a:solidFill>
                <a:srgbClr val="24A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78286" y="2020210"/>
            <a:ext cx="751205" cy="2565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Target: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515"/>
                </a:solidFill>
                <a:latin typeface="Meiryo UI"/>
                <a:cs typeface="Meiryo UI"/>
              </a:rPr>
              <a:t>θ</a:t>
            </a:r>
            <a:r>
              <a:rPr sz="750" i="1" spc="-37" baseline="33333" dirty="0">
                <a:solidFill>
                  <a:srgbClr val="151515"/>
                </a:solidFill>
                <a:latin typeface="Meiryo UI"/>
                <a:cs typeface="Meiryo UI"/>
              </a:rPr>
              <a:t>′</a:t>
            </a:r>
            <a:endParaRPr sz="750" baseline="33333">
              <a:latin typeface="Meiryo UI"/>
              <a:cs typeface="Meiryo UI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500" dirty="0">
                <a:solidFill>
                  <a:srgbClr val="151515"/>
                </a:solidFill>
                <a:latin typeface="Arial"/>
                <a:cs typeface="Arial"/>
              </a:rPr>
              <a:t>oracle</a:t>
            </a:r>
            <a:r>
              <a:rPr sz="500" spc="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51515"/>
                </a:solidFill>
                <a:latin typeface="Arial"/>
                <a:cs typeface="Arial"/>
              </a:rPr>
              <a:t>utility,</a:t>
            </a:r>
            <a:r>
              <a:rPr sz="500" spc="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500" i="1" dirty="0">
                <a:solidFill>
                  <a:srgbClr val="151515"/>
                </a:solidFill>
                <a:latin typeface="Meiryo UI"/>
                <a:cs typeface="Meiryo UI"/>
              </a:rPr>
              <a:t>×</a:t>
            </a:r>
            <a:r>
              <a:rPr sz="500" i="1" spc="1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500" spc="-10" dirty="0">
                <a:solidFill>
                  <a:srgbClr val="151515"/>
                </a:solidFill>
                <a:latin typeface="Arial"/>
                <a:cs typeface="Arial"/>
              </a:rPr>
              <a:t>faster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87398" y="2148601"/>
            <a:ext cx="2891155" cy="43815"/>
            <a:chOff x="1487398" y="2148601"/>
            <a:chExt cx="2891155" cy="43815"/>
          </a:xfrm>
        </p:grpSpPr>
        <p:sp>
          <p:nvSpPr>
            <p:cNvPr id="25" name="object 25"/>
            <p:cNvSpPr/>
            <p:nvPr/>
          </p:nvSpPr>
          <p:spPr>
            <a:xfrm>
              <a:off x="1487398" y="217041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44630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44630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30804" y="217041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88036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88036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74211" y="217041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31442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31442" y="2154927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60729" y="2595836"/>
            <a:ext cx="38385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D91E27"/>
                </a:solidFill>
                <a:latin typeface="Arial"/>
                <a:cs typeface="Arial"/>
              </a:rPr>
              <a:t>Naive</a:t>
            </a:r>
            <a:r>
              <a:rPr sz="900" b="1" spc="-35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D91E27"/>
                </a:solidFill>
                <a:latin typeface="Arial"/>
                <a:cs typeface="Arial"/>
              </a:rPr>
              <a:t>fix</a:t>
            </a:r>
            <a:r>
              <a:rPr sz="900" b="1" spc="-20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D91E27"/>
                </a:solidFill>
                <a:latin typeface="Arial"/>
                <a:cs typeface="Arial"/>
              </a:rPr>
              <a:t>–</a:t>
            </a:r>
            <a:r>
              <a:rPr sz="900" b="1" spc="-20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D91E27"/>
                </a:solidFill>
                <a:latin typeface="Arial"/>
                <a:cs typeface="Arial"/>
              </a:rPr>
              <a:t>Full</a:t>
            </a:r>
            <a:r>
              <a:rPr sz="900" b="1" spc="-25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D91E27"/>
                </a:solidFill>
                <a:latin typeface="Arial"/>
                <a:cs typeface="Arial"/>
              </a:rPr>
              <a:t>Retraining:</a:t>
            </a:r>
            <a:r>
              <a:rPr sz="900" b="1" spc="35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900" i="1" spc="85" dirty="0">
                <a:solidFill>
                  <a:srgbClr val="151515"/>
                </a:solidFill>
                <a:latin typeface="Source Sans 3"/>
                <a:cs typeface="Source Sans 3"/>
              </a:rPr>
              <a:t>≈</a:t>
            </a:r>
            <a:r>
              <a:rPr sz="900" spc="85" dirty="0">
                <a:solidFill>
                  <a:srgbClr val="151515"/>
                </a:solidFill>
                <a:latin typeface="Arial"/>
                <a:cs typeface="Arial"/>
              </a:rPr>
              <a:t>65</a:t>
            </a:r>
            <a:r>
              <a:rPr sz="900" spc="-10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9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per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request,</a:t>
            </a:r>
            <a:r>
              <a:rPr sz="9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85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900" i="1" spc="85" dirty="0">
                <a:solidFill>
                  <a:srgbClr val="151515"/>
                </a:solidFill>
                <a:latin typeface="Source Sans 3"/>
                <a:cs typeface="Source Sans 3"/>
              </a:rPr>
              <a:t>×</a:t>
            </a:r>
            <a:r>
              <a:rPr sz="900" i="1" spc="50" dirty="0">
                <a:solidFill>
                  <a:srgbClr val="151515"/>
                </a:solidFill>
                <a:latin typeface="Source Sans 3"/>
                <a:cs typeface="Source Sans 3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slower</a:t>
            </a:r>
            <a:r>
              <a:rPr sz="9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than</a:t>
            </a:r>
            <a:r>
              <a:rPr sz="9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our</a:t>
            </a:r>
            <a:r>
              <a:rPr sz="9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target.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3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599882" y="3069244"/>
            <a:ext cx="2560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Problem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setting:</a:t>
            </a:r>
            <a:r>
              <a:rPr sz="500" i="1" spc="3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Sections 3.1–3.3, Chongder &amp;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Kumar,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spc="-30" dirty="0"/>
              <a:t> </a:t>
            </a:r>
            <a:r>
              <a:rPr dirty="0"/>
              <a:t>Solutions</a:t>
            </a:r>
            <a:r>
              <a:rPr spc="-30" dirty="0"/>
              <a:t> </a:t>
            </a:r>
            <a:r>
              <a:rPr dirty="0"/>
              <a:t>Fall</a:t>
            </a:r>
            <a:r>
              <a:rPr spc="-30" dirty="0"/>
              <a:t> </a:t>
            </a:r>
            <a:r>
              <a:rPr spc="-10" dirty="0"/>
              <a:t>Short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8326" y="743521"/>
          <a:ext cx="3583939" cy="1427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151515"/>
                      </a:solidFill>
                      <a:prstDash val="solid"/>
                    </a:lnT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151515"/>
                      </a:solidFill>
                      <a:prstDash val="solid"/>
                    </a:lnT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151515"/>
                      </a:solidFill>
                      <a:prstDash val="solid"/>
                    </a:lnT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151515"/>
                      </a:solidFill>
                      <a:prstDash val="solid"/>
                    </a:lnT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151515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Forgetting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151515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151515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151515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Full</a:t>
                      </a:r>
                      <a:r>
                        <a:rPr sz="900" spc="-2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Retraining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6350">
                      <a:solidFill>
                        <a:srgbClr val="15151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1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Excellent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6350">
                      <a:solidFill>
                        <a:srgbClr val="15151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1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Excellent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6350">
                      <a:solidFill>
                        <a:srgbClr val="15151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b="1" spc="-1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Very</a:t>
                      </a:r>
                      <a:r>
                        <a:rPr sz="900" b="1" spc="-25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6350">
                      <a:solidFill>
                        <a:srgbClr val="15151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Fine-</a:t>
                      </a:r>
                      <a:r>
                        <a:rPr sz="900" spc="-2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Tuning</a:t>
                      </a:r>
                      <a:r>
                        <a:rPr sz="900" spc="5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Only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Poor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spc="-2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Good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Medium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Random</a:t>
                      </a:r>
                      <a:r>
                        <a:rPr sz="900" spc="-4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Pruning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Poor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Poor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1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Very</a:t>
                      </a:r>
                      <a:r>
                        <a:rPr sz="900" spc="-35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Fisher-</a:t>
                      </a:r>
                      <a:r>
                        <a:rPr sz="90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900" spc="2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Pruning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Poor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5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Entanglement-</a:t>
                      </a:r>
                      <a:r>
                        <a:rPr sz="90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900" spc="5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Pruning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0" dirty="0">
                          <a:solidFill>
                            <a:srgbClr val="D91E27"/>
                          </a:solidFill>
                          <a:latin typeface="Arial"/>
                          <a:cs typeface="Arial"/>
                        </a:rPr>
                        <a:t>Poor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00" spc="-25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45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QFL-</a:t>
                      </a:r>
                      <a:r>
                        <a:rPr sz="900" b="1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EWP</a:t>
                      </a:r>
                      <a:r>
                        <a:rPr sz="900" b="1" spc="-10" dirty="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 (ours)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9525">
                      <a:solidFill>
                        <a:srgbClr val="151515"/>
                      </a:solidFill>
                      <a:prstDash val="solid"/>
                    </a:lnB>
                    <a:solidFill>
                      <a:srgbClr val="F1E7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Excellent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9525">
                      <a:solidFill>
                        <a:srgbClr val="151515"/>
                      </a:solidFill>
                      <a:prstDash val="solid"/>
                    </a:lnB>
                    <a:solidFill>
                      <a:srgbClr val="F1E7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Excellent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9525">
                      <a:solidFill>
                        <a:srgbClr val="151515"/>
                      </a:solidFill>
                      <a:prstDash val="solid"/>
                    </a:lnB>
                    <a:solidFill>
                      <a:srgbClr val="F1E7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5" dirty="0">
                          <a:solidFill>
                            <a:srgbClr val="24A047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9525">
                      <a:solidFill>
                        <a:srgbClr val="151515"/>
                      </a:solidFill>
                      <a:prstDash val="solid"/>
                    </a:lnB>
                    <a:solidFill>
                      <a:srgbClr val="F1E7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4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37614" y="3070006"/>
            <a:ext cx="28848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Baseline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definitions: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5.3;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quantitative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comparison: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3,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968" y="2419755"/>
            <a:ext cx="4432300" cy="35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883410" marR="5080" indent="-1871345">
              <a:lnSpc>
                <a:spcPts val="1300"/>
              </a:lnSpc>
              <a:spcBef>
                <a:spcPts val="150"/>
              </a:spcBef>
            </a:pPr>
            <a:r>
              <a:rPr sz="1100" b="1" dirty="0">
                <a:solidFill>
                  <a:srgbClr val="0E61FE"/>
                </a:solidFill>
                <a:latin typeface="Arial"/>
                <a:cs typeface="Arial"/>
              </a:rPr>
              <a:t>No</a:t>
            </a:r>
            <a:r>
              <a:rPr sz="1100" b="1" spc="-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E61FE"/>
                </a:solidFill>
                <a:latin typeface="Arial"/>
                <a:cs typeface="Arial"/>
              </a:rPr>
              <a:t>existing</a:t>
            </a:r>
            <a:r>
              <a:rPr sz="1100" b="1" spc="-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E61FE"/>
                </a:solidFill>
                <a:latin typeface="Arial"/>
                <a:cs typeface="Arial"/>
              </a:rPr>
              <a:t>approach</a:t>
            </a:r>
            <a:r>
              <a:rPr sz="1100" b="1" spc="-3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E61FE"/>
                </a:solidFill>
                <a:latin typeface="Arial"/>
                <a:cs typeface="Arial"/>
              </a:rPr>
              <a:t>simultaneously</a:t>
            </a:r>
            <a:r>
              <a:rPr sz="1100" b="1" spc="-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E61FE"/>
                </a:solidFill>
                <a:latin typeface="Arial"/>
                <a:cs typeface="Arial"/>
              </a:rPr>
              <a:t>preserves</a:t>
            </a:r>
            <a:r>
              <a:rPr sz="1100" b="1" spc="-3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E61FE"/>
                </a:solidFill>
                <a:latin typeface="Arial"/>
                <a:cs typeface="Arial"/>
              </a:rPr>
              <a:t>utility,</a:t>
            </a:r>
            <a:r>
              <a:rPr sz="1100" b="1" spc="-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E61FE"/>
                </a:solidFill>
                <a:latin typeface="Arial"/>
                <a:cs typeface="Arial"/>
              </a:rPr>
              <a:t>privacy,</a:t>
            </a:r>
            <a:r>
              <a:rPr sz="1100" b="1" spc="-3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E61FE"/>
                </a:solidFill>
                <a:latin typeface="Arial"/>
                <a:cs typeface="Arial"/>
              </a:rPr>
              <a:t>and </a:t>
            </a:r>
            <a:r>
              <a:rPr sz="1100" b="1" spc="-10" dirty="0">
                <a:solidFill>
                  <a:srgbClr val="0E61FE"/>
                </a:solidFill>
                <a:latin typeface="Arial"/>
                <a:cs typeface="Arial"/>
              </a:rPr>
              <a:t>efficiency.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297" y="274769"/>
            <a:ext cx="963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972" y="839603"/>
            <a:ext cx="5073650" cy="621665"/>
            <a:chOff x="359972" y="839603"/>
            <a:chExt cx="5073650" cy="621665"/>
          </a:xfrm>
        </p:grpSpPr>
        <p:sp>
          <p:nvSpPr>
            <p:cNvPr id="5" name="object 5"/>
            <p:cNvSpPr/>
            <p:nvPr/>
          </p:nvSpPr>
          <p:spPr>
            <a:xfrm>
              <a:off x="368829" y="848460"/>
              <a:ext cx="5055870" cy="603885"/>
            </a:xfrm>
            <a:custGeom>
              <a:avLst/>
              <a:gdLst/>
              <a:ahLst/>
              <a:cxnLst/>
              <a:rect l="l" t="t" r="r" b="b"/>
              <a:pathLst>
                <a:path w="5055870" h="603885">
                  <a:moveTo>
                    <a:pt x="499246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540470"/>
                  </a:lnTo>
                  <a:lnTo>
                    <a:pt x="4971" y="565096"/>
                  </a:lnTo>
                  <a:lnTo>
                    <a:pt x="18529" y="585205"/>
                  </a:lnTo>
                  <a:lnTo>
                    <a:pt x="38638" y="598762"/>
                  </a:lnTo>
                  <a:lnTo>
                    <a:pt x="63263" y="603734"/>
                  </a:lnTo>
                  <a:lnTo>
                    <a:pt x="4992461" y="603734"/>
                  </a:lnTo>
                  <a:lnTo>
                    <a:pt x="5017086" y="598762"/>
                  </a:lnTo>
                  <a:lnTo>
                    <a:pt x="5037195" y="585205"/>
                  </a:lnTo>
                  <a:lnTo>
                    <a:pt x="5050753" y="565096"/>
                  </a:lnTo>
                  <a:lnTo>
                    <a:pt x="5055724" y="540470"/>
                  </a:lnTo>
                  <a:lnTo>
                    <a:pt x="5055724" y="63263"/>
                  </a:lnTo>
                  <a:lnTo>
                    <a:pt x="5050753" y="38638"/>
                  </a:lnTo>
                  <a:lnTo>
                    <a:pt x="5037195" y="18529"/>
                  </a:lnTo>
                  <a:lnTo>
                    <a:pt x="5017086" y="4971"/>
                  </a:lnTo>
                  <a:lnTo>
                    <a:pt x="4992461" y="0"/>
                  </a:lnTo>
                  <a:close/>
                </a:path>
              </a:pathLst>
            </a:custGeom>
            <a:solidFill>
              <a:srgbClr val="15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8829" y="848460"/>
              <a:ext cx="5055870" cy="603885"/>
            </a:xfrm>
            <a:custGeom>
              <a:avLst/>
              <a:gdLst/>
              <a:ahLst/>
              <a:cxnLst/>
              <a:rect l="l" t="t" r="r" b="b"/>
              <a:pathLst>
                <a:path w="5055870" h="603885">
                  <a:moveTo>
                    <a:pt x="499246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540470"/>
                  </a:lnTo>
                  <a:lnTo>
                    <a:pt x="4971" y="565096"/>
                  </a:lnTo>
                  <a:lnTo>
                    <a:pt x="18529" y="585205"/>
                  </a:lnTo>
                  <a:lnTo>
                    <a:pt x="38638" y="598762"/>
                  </a:lnTo>
                  <a:lnTo>
                    <a:pt x="63263" y="603734"/>
                  </a:lnTo>
                  <a:lnTo>
                    <a:pt x="4992461" y="603734"/>
                  </a:lnTo>
                  <a:lnTo>
                    <a:pt x="5017086" y="598762"/>
                  </a:lnTo>
                  <a:lnTo>
                    <a:pt x="5037195" y="585205"/>
                  </a:lnTo>
                  <a:lnTo>
                    <a:pt x="5050753" y="565096"/>
                  </a:lnTo>
                  <a:lnTo>
                    <a:pt x="5055724" y="540470"/>
                  </a:lnTo>
                  <a:lnTo>
                    <a:pt x="5055724" y="63263"/>
                  </a:lnTo>
                  <a:lnTo>
                    <a:pt x="5050753" y="38638"/>
                  </a:lnTo>
                  <a:lnTo>
                    <a:pt x="5037195" y="18529"/>
                  </a:lnTo>
                  <a:lnTo>
                    <a:pt x="5017086" y="4971"/>
                  </a:lnTo>
                  <a:lnTo>
                    <a:pt x="4992461" y="0"/>
                  </a:lnTo>
                  <a:close/>
                </a:path>
              </a:pathLst>
            </a:custGeom>
            <a:ln w="1771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80172" y="947442"/>
            <a:ext cx="5033645" cy="362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770">
              <a:lnSpc>
                <a:spcPts val="1330"/>
              </a:lnSpc>
              <a:spcBef>
                <a:spcPts val="95"/>
              </a:spcBef>
            </a:pPr>
            <a:r>
              <a:rPr sz="1200" b="0" dirty="0">
                <a:latin typeface="Arial"/>
                <a:cs typeface="Arial"/>
              </a:rPr>
              <a:t>A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parameter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should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be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forgotten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only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if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it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is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C9A126"/>
                </a:solidFill>
              </a:rPr>
              <a:t>both</a:t>
            </a:r>
            <a:r>
              <a:rPr sz="1200" spc="-40" dirty="0">
                <a:solidFill>
                  <a:srgbClr val="C9A126"/>
                </a:solidFill>
              </a:rPr>
              <a:t> </a:t>
            </a:r>
            <a:r>
              <a:rPr sz="1200" b="0" spc="-10" dirty="0">
                <a:latin typeface="Arial"/>
                <a:cs typeface="Arial"/>
              </a:rPr>
              <a:t>sensitive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client</a:t>
            </a:r>
            <a:endParaRPr sz="1200">
              <a:latin typeface="Arial"/>
              <a:cs typeface="Arial"/>
            </a:endParaRPr>
          </a:p>
          <a:p>
            <a:pPr marL="355600">
              <a:lnSpc>
                <a:spcPts val="1330"/>
              </a:lnSpc>
            </a:pPr>
            <a:r>
              <a:rPr sz="1200" b="0" i="1" dirty="0">
                <a:latin typeface="Arial"/>
                <a:cs typeface="Arial"/>
              </a:rPr>
              <a:t>j</a:t>
            </a:r>
            <a:r>
              <a:rPr sz="1200" b="0" i="1" spc="5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C9A126"/>
                </a:solidFill>
              </a:rPr>
              <a:t>and</a:t>
            </a:r>
            <a:r>
              <a:rPr sz="1200" spc="-45" dirty="0">
                <a:solidFill>
                  <a:srgbClr val="C9A126"/>
                </a:solidFill>
              </a:rPr>
              <a:t> </a:t>
            </a:r>
            <a:r>
              <a:rPr sz="1200" b="0" dirty="0">
                <a:latin typeface="Arial"/>
                <a:cs typeface="Arial"/>
              </a:rPr>
              <a:t>structurally</a:t>
            </a:r>
            <a:r>
              <a:rPr sz="1200" b="0" spc="-4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unimportant</a:t>
            </a:r>
            <a:r>
              <a:rPr sz="1200" b="0" spc="-4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-4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-4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global</a:t>
            </a:r>
            <a:r>
              <a:rPr sz="1200" b="0" spc="-4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quantum</a:t>
            </a:r>
            <a:r>
              <a:rPr sz="1200" b="0" spc="-4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correlations.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290" y="1650832"/>
            <a:ext cx="1308735" cy="445134"/>
            <a:chOff x="440290" y="1650832"/>
            <a:chExt cx="1308735" cy="445134"/>
          </a:xfrm>
        </p:grpSpPr>
        <p:sp>
          <p:nvSpPr>
            <p:cNvPr id="9" name="object 9"/>
            <p:cNvSpPr/>
            <p:nvPr/>
          </p:nvSpPr>
          <p:spPr>
            <a:xfrm>
              <a:off x="446616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0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0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solidFill>
              <a:srgbClr val="DBE7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6616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0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0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5116" y="1667988"/>
            <a:ext cx="873125" cy="3308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70"/>
              </a:spcBef>
            </a:pP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Sensitivity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Quantum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Fisher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r>
              <a:rPr sz="700" i="1" spc="-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50" spc="15" baseline="38888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50" i="1" spc="15" baseline="38888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750" i="1" spc="-150" baseline="38888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50" spc="-75" baseline="38888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750" baseline="38888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4193" y="1923893"/>
            <a:ext cx="889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25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0735" y="175654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solidFill>
                  <a:srgbClr val="151515"/>
                </a:solidFill>
                <a:latin typeface="Verdana"/>
                <a:cs typeface="Verdana"/>
              </a:rPr>
              <a:t>×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25693" y="1650832"/>
            <a:ext cx="1308735" cy="445134"/>
            <a:chOff x="2225693" y="1650832"/>
            <a:chExt cx="1308735" cy="445134"/>
          </a:xfrm>
        </p:grpSpPr>
        <p:sp>
          <p:nvSpPr>
            <p:cNvPr id="15" name="object 15"/>
            <p:cNvSpPr/>
            <p:nvPr/>
          </p:nvSpPr>
          <p:spPr>
            <a:xfrm>
              <a:off x="2232019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solidFill>
              <a:srgbClr val="E8D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32019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ln w="12652">
              <a:solidFill>
                <a:srgbClr val="6828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65438" y="1655290"/>
            <a:ext cx="829310" cy="3600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Entanglement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050" i="1" spc="82" baseline="7936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r>
              <a:rPr sz="500" spc="55" dirty="0">
                <a:solidFill>
                  <a:srgbClr val="151515"/>
                </a:solidFill>
                <a:latin typeface="Calibri"/>
                <a:cs typeface="Calibri"/>
              </a:rPr>
              <a:t>ent</a:t>
            </a:r>
            <a:r>
              <a:rPr sz="1050" spc="82" baseline="7936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1050" i="1" spc="82" baseline="7936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1050" i="1" spc="-157" baseline="793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50" spc="15" baseline="7936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1050" baseline="7936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6114" y="174754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11072" y="1650808"/>
            <a:ext cx="1308735" cy="445134"/>
            <a:chOff x="4011072" y="1650808"/>
            <a:chExt cx="1308735" cy="445134"/>
          </a:xfrm>
        </p:grpSpPr>
        <p:sp>
          <p:nvSpPr>
            <p:cNvPr id="20" name="object 20"/>
            <p:cNvSpPr/>
            <p:nvPr/>
          </p:nvSpPr>
          <p:spPr>
            <a:xfrm>
              <a:off x="4017422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solidFill>
              <a:srgbClr val="F1E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17422" y="165715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ln w="12652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38129" y="1676586"/>
            <a:ext cx="854710" cy="3308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Pruning</a:t>
            </a:r>
            <a:r>
              <a:rPr sz="900" b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Score</a:t>
            </a:r>
            <a:endParaRPr sz="900">
              <a:latin typeface="Arial"/>
              <a:cs typeface="Arial"/>
            </a:endParaRPr>
          </a:p>
          <a:p>
            <a:pPr marR="5715" algn="ctr">
              <a:lnSpc>
                <a:spcPct val="100000"/>
              </a:lnSpc>
              <a:spcBef>
                <a:spcPts val="210"/>
              </a:spcBef>
            </a:pPr>
            <a:r>
              <a:rPr sz="700" i="1" spc="-25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750" i="1" spc="-37" baseline="-11111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11072" y="2347468"/>
            <a:ext cx="1308735" cy="445134"/>
            <a:chOff x="4011072" y="2347468"/>
            <a:chExt cx="1308735" cy="445134"/>
          </a:xfrm>
        </p:grpSpPr>
        <p:sp>
          <p:nvSpPr>
            <p:cNvPr id="24" name="object 24"/>
            <p:cNvSpPr/>
            <p:nvPr/>
          </p:nvSpPr>
          <p:spPr>
            <a:xfrm>
              <a:off x="4017422" y="235381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solidFill>
              <a:srgbClr val="F9D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17422" y="2353818"/>
              <a:ext cx="1296035" cy="432434"/>
            </a:xfrm>
            <a:custGeom>
              <a:avLst/>
              <a:gdLst/>
              <a:ahLst/>
              <a:cxnLst/>
              <a:rect l="l" t="t" r="r" b="b"/>
              <a:pathLst>
                <a:path w="1296035" h="432435">
                  <a:moveTo>
                    <a:pt x="1258060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94046"/>
                  </a:lnTo>
                  <a:lnTo>
                    <a:pt x="2982" y="408821"/>
                  </a:lnTo>
                  <a:lnTo>
                    <a:pt x="11117" y="420886"/>
                  </a:lnTo>
                  <a:lnTo>
                    <a:pt x="23182" y="429021"/>
                  </a:lnTo>
                  <a:lnTo>
                    <a:pt x="37958" y="432004"/>
                  </a:lnTo>
                  <a:lnTo>
                    <a:pt x="1258060" y="432004"/>
                  </a:lnTo>
                  <a:lnTo>
                    <a:pt x="1272835" y="429021"/>
                  </a:lnTo>
                  <a:lnTo>
                    <a:pt x="1284901" y="420886"/>
                  </a:lnTo>
                  <a:lnTo>
                    <a:pt x="1293035" y="408821"/>
                  </a:lnTo>
                  <a:lnTo>
                    <a:pt x="1296018" y="394046"/>
                  </a:lnTo>
                  <a:lnTo>
                    <a:pt x="1296018" y="37958"/>
                  </a:lnTo>
                  <a:lnTo>
                    <a:pt x="1293035" y="23182"/>
                  </a:lnTo>
                  <a:lnTo>
                    <a:pt x="1284901" y="11117"/>
                  </a:lnTo>
                  <a:lnTo>
                    <a:pt x="1272835" y="2982"/>
                  </a:lnTo>
                  <a:lnTo>
                    <a:pt x="1258060" y="0"/>
                  </a:lnTo>
                  <a:close/>
                </a:path>
              </a:pathLst>
            </a:custGeom>
            <a:ln w="12652">
              <a:solidFill>
                <a:srgbClr val="D91E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74871" y="2472100"/>
            <a:ext cx="9810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Selective</a:t>
            </a:r>
            <a:r>
              <a:rPr sz="900" b="1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Pruning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39566" y="2095489"/>
            <a:ext cx="52069" cy="240665"/>
            <a:chOff x="4639566" y="2095489"/>
            <a:chExt cx="52069" cy="240665"/>
          </a:xfrm>
        </p:grpSpPr>
        <p:sp>
          <p:nvSpPr>
            <p:cNvPr id="28" name="object 28"/>
            <p:cNvSpPr/>
            <p:nvPr/>
          </p:nvSpPr>
          <p:spPr>
            <a:xfrm>
              <a:off x="4665432" y="2095489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0" y="0"/>
                  </a:moveTo>
                  <a:lnTo>
                    <a:pt x="0" y="196460"/>
                  </a:lnTo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45892" y="2277921"/>
              <a:ext cx="39370" cy="52069"/>
            </a:xfrm>
            <a:custGeom>
              <a:avLst/>
              <a:gdLst/>
              <a:ahLst/>
              <a:cxnLst/>
              <a:rect l="l" t="t" r="r" b="b"/>
              <a:pathLst>
                <a:path w="39370" h="52069">
                  <a:moveTo>
                    <a:pt x="39080" y="0"/>
                  </a:moveTo>
                  <a:lnTo>
                    <a:pt x="19540" y="17190"/>
                  </a:lnTo>
                  <a:lnTo>
                    <a:pt x="0" y="0"/>
                  </a:lnTo>
                  <a:lnTo>
                    <a:pt x="19540" y="51553"/>
                  </a:lnTo>
                  <a:lnTo>
                    <a:pt x="39080" y="0"/>
                  </a:lnTo>
                  <a:close/>
                </a:path>
              </a:pathLst>
            </a:custGeom>
            <a:solidFill>
              <a:srgbClr val="0E6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45892" y="2277921"/>
              <a:ext cx="39370" cy="52069"/>
            </a:xfrm>
            <a:custGeom>
              <a:avLst/>
              <a:gdLst/>
              <a:ahLst/>
              <a:cxnLst/>
              <a:rect l="l" t="t" r="r" b="b"/>
              <a:pathLst>
                <a:path w="39370" h="52069">
                  <a:moveTo>
                    <a:pt x="19540" y="51553"/>
                  </a:moveTo>
                  <a:lnTo>
                    <a:pt x="39080" y="0"/>
                  </a:lnTo>
                  <a:lnTo>
                    <a:pt x="19540" y="17190"/>
                  </a:lnTo>
                  <a:lnTo>
                    <a:pt x="0" y="0"/>
                  </a:lnTo>
                  <a:lnTo>
                    <a:pt x="19540" y="51553"/>
                  </a:lnTo>
                  <a:close/>
                </a:path>
              </a:pathLst>
            </a:custGeom>
            <a:ln w="1265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160255" y="3007165"/>
            <a:ext cx="971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525252"/>
                </a:solidFill>
                <a:latin typeface="Lucida Sans Unicode"/>
                <a:cs typeface="Lucida Sans Unicode"/>
              </a:rPr>
              <a:t>(</a:t>
            </a:r>
            <a:r>
              <a:rPr sz="500" i="1" spc="10" dirty="0">
                <a:solidFill>
                  <a:srgbClr val="525252"/>
                </a:solidFill>
                <a:latin typeface="Arial"/>
                <a:cs typeface="Arial"/>
              </a:rPr>
              <a:t>j</a:t>
            </a:r>
            <a:r>
              <a:rPr sz="500" i="1" spc="-8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525252"/>
                </a:solidFill>
                <a:latin typeface="Lucida Sans Unicode"/>
                <a:cs typeface="Lucida Sans Unicode"/>
              </a:rPr>
              <a:t>)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4015" y="3061877"/>
            <a:ext cx="6026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31775" algn="l"/>
                <a:tab pos="500380" algn="l"/>
              </a:tabLst>
            </a:pPr>
            <a:r>
              <a:rPr sz="750" i="1" spc="-75" baseline="-5555" dirty="0">
                <a:solidFill>
                  <a:srgbClr val="525252"/>
                </a:solidFill>
                <a:latin typeface="Arial"/>
                <a:cs typeface="Arial"/>
              </a:rPr>
              <a:t>k</a:t>
            </a:r>
            <a:r>
              <a:rPr sz="750" i="1" baseline="-5555" dirty="0">
                <a:solidFill>
                  <a:srgbClr val="525252"/>
                </a:solidFill>
                <a:latin typeface="Arial"/>
                <a:cs typeface="Arial"/>
              </a:rPr>
              <a:t>	</a:t>
            </a:r>
            <a:r>
              <a:rPr sz="500" spc="55" dirty="0">
                <a:solidFill>
                  <a:srgbClr val="525252"/>
                </a:solidFill>
                <a:latin typeface="Calibri"/>
                <a:cs typeface="Calibri"/>
              </a:rPr>
              <a:t>ent</a:t>
            </a:r>
            <a:r>
              <a:rPr sz="500" dirty="0">
                <a:solidFill>
                  <a:srgbClr val="525252"/>
                </a:solidFill>
                <a:latin typeface="Calibri"/>
                <a:cs typeface="Calibri"/>
              </a:rPr>
              <a:t>	</a:t>
            </a:r>
            <a:r>
              <a:rPr sz="750" i="1" spc="-37" baseline="-16666" dirty="0">
                <a:solidFill>
                  <a:srgbClr val="525252"/>
                </a:solidFill>
                <a:latin typeface="Arial"/>
                <a:cs typeface="Arial"/>
              </a:rPr>
              <a:t>kk</a:t>
            </a:r>
            <a:endParaRPr sz="750" baseline="-16666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1810" y="3044770"/>
            <a:ext cx="27965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Pruning score definition:</a:t>
            </a:r>
            <a:r>
              <a:rPr sz="500" i="1" spc="3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Equation (1)/(5),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</a:t>
            </a:r>
            <a:r>
              <a:rPr sz="500" i="1" spc="42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25252"/>
                </a:solidFill>
                <a:latin typeface="Lucida Sans Unicode"/>
                <a:cs typeface="Lucida Sans Unicode"/>
              </a:rPr>
              <a:t>=</a:t>
            </a:r>
            <a:r>
              <a:rPr sz="500" spc="55" dirty="0">
                <a:solidFill>
                  <a:srgbClr val="525252"/>
                </a:solidFill>
                <a:latin typeface="Lucida Sans Unicode"/>
                <a:cs typeface="Lucida Sans Unicode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w</a:t>
            </a:r>
            <a:r>
              <a:rPr sz="500" i="1" spc="365" dirty="0">
                <a:solidFill>
                  <a:srgbClr val="525252"/>
                </a:solidFill>
                <a:latin typeface="Arial"/>
                <a:cs typeface="Arial"/>
              </a:rPr>
              <a:t>  </a:t>
            </a:r>
            <a:r>
              <a:rPr sz="500" dirty="0">
                <a:solidFill>
                  <a:srgbClr val="525252"/>
                </a:solidFill>
                <a:latin typeface="Lucida Sans Unicode"/>
                <a:cs typeface="Lucida Sans Unicode"/>
              </a:rPr>
              <a:t>(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k</a:t>
            </a:r>
            <a:r>
              <a:rPr sz="500" i="1" spc="-8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25252"/>
                </a:solidFill>
                <a:latin typeface="Lucida Sans Unicode"/>
                <a:cs typeface="Lucida Sans Unicode"/>
              </a:rPr>
              <a:t>)</a:t>
            </a:r>
            <a:r>
              <a:rPr sz="500" spc="-35" dirty="0">
                <a:solidFill>
                  <a:srgbClr val="525252"/>
                </a:solidFill>
                <a:latin typeface="Lucida Sans Unicode"/>
                <a:cs typeface="Lucida Sans Unicode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</a:t>
            </a:r>
            <a:r>
              <a:rPr sz="500" i="1" spc="210" dirty="0">
                <a:solidFill>
                  <a:srgbClr val="525252"/>
                </a:solidFill>
                <a:latin typeface="Arial"/>
                <a:cs typeface="Arial"/>
              </a:rPr>
              <a:t> 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477103" y="3056022"/>
            <a:ext cx="1701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5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/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525252"/>
                </a:solidFill>
                <a:latin typeface="Arial"/>
                <a:cs typeface="Arial"/>
              </a:rPr>
              <a:t>22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Overview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Proposed</a:t>
            </a:r>
            <a:r>
              <a:rPr spc="-25" dirty="0"/>
              <a:t> </a:t>
            </a:r>
            <a:r>
              <a:rPr spc="-10" dirty="0"/>
              <a:t>Framework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344307" y="1349596"/>
            <a:ext cx="1066165" cy="386080"/>
            <a:chOff x="2344307" y="1349596"/>
            <a:chExt cx="1066165" cy="386080"/>
          </a:xfrm>
        </p:grpSpPr>
        <p:sp>
          <p:nvSpPr>
            <p:cNvPr id="5" name="object 5"/>
            <p:cNvSpPr/>
            <p:nvPr/>
          </p:nvSpPr>
          <p:spPr>
            <a:xfrm>
              <a:off x="2348117" y="1353406"/>
              <a:ext cx="1058545" cy="378460"/>
            </a:xfrm>
            <a:custGeom>
              <a:avLst/>
              <a:gdLst/>
              <a:ahLst/>
              <a:cxnLst/>
              <a:rect l="l" t="t" r="r" b="b"/>
              <a:pathLst>
                <a:path w="1058545" h="378460">
                  <a:moveTo>
                    <a:pt x="1031841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351433"/>
                  </a:lnTo>
                  <a:lnTo>
                    <a:pt x="2088" y="361776"/>
                  </a:lnTo>
                  <a:lnTo>
                    <a:pt x="7782" y="370222"/>
                  </a:lnTo>
                  <a:lnTo>
                    <a:pt x="16228" y="375916"/>
                  </a:lnTo>
                  <a:lnTo>
                    <a:pt x="26570" y="378004"/>
                  </a:lnTo>
                  <a:lnTo>
                    <a:pt x="1031841" y="378004"/>
                  </a:lnTo>
                  <a:lnTo>
                    <a:pt x="1042184" y="375916"/>
                  </a:lnTo>
                  <a:lnTo>
                    <a:pt x="1050630" y="370222"/>
                  </a:lnTo>
                  <a:lnTo>
                    <a:pt x="1056324" y="361776"/>
                  </a:lnTo>
                  <a:lnTo>
                    <a:pt x="1058412" y="351433"/>
                  </a:lnTo>
                  <a:lnTo>
                    <a:pt x="1058412" y="26570"/>
                  </a:lnTo>
                  <a:lnTo>
                    <a:pt x="1056324" y="16228"/>
                  </a:lnTo>
                  <a:lnTo>
                    <a:pt x="1050630" y="7782"/>
                  </a:lnTo>
                  <a:lnTo>
                    <a:pt x="1042184" y="2088"/>
                  </a:lnTo>
                  <a:lnTo>
                    <a:pt x="1031841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8117" y="1353406"/>
              <a:ext cx="1058545" cy="378460"/>
            </a:xfrm>
            <a:custGeom>
              <a:avLst/>
              <a:gdLst/>
              <a:ahLst/>
              <a:cxnLst/>
              <a:rect l="l" t="t" r="r" b="b"/>
              <a:pathLst>
                <a:path w="1058545" h="378460">
                  <a:moveTo>
                    <a:pt x="1031841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351433"/>
                  </a:lnTo>
                  <a:lnTo>
                    <a:pt x="2088" y="361776"/>
                  </a:lnTo>
                  <a:lnTo>
                    <a:pt x="7782" y="370222"/>
                  </a:lnTo>
                  <a:lnTo>
                    <a:pt x="16228" y="375916"/>
                  </a:lnTo>
                  <a:lnTo>
                    <a:pt x="26570" y="378004"/>
                  </a:lnTo>
                  <a:lnTo>
                    <a:pt x="1031841" y="378004"/>
                  </a:lnTo>
                  <a:lnTo>
                    <a:pt x="1042184" y="375916"/>
                  </a:lnTo>
                  <a:lnTo>
                    <a:pt x="1050630" y="370222"/>
                  </a:lnTo>
                  <a:lnTo>
                    <a:pt x="1056324" y="361776"/>
                  </a:lnTo>
                  <a:lnTo>
                    <a:pt x="1058412" y="351433"/>
                  </a:lnTo>
                  <a:lnTo>
                    <a:pt x="1058412" y="26570"/>
                  </a:lnTo>
                  <a:lnTo>
                    <a:pt x="1056324" y="16228"/>
                  </a:lnTo>
                  <a:lnTo>
                    <a:pt x="1050630" y="7782"/>
                  </a:lnTo>
                  <a:lnTo>
                    <a:pt x="1042184" y="2088"/>
                  </a:lnTo>
                  <a:lnTo>
                    <a:pt x="1031841" y="0"/>
                  </a:lnTo>
                  <a:close/>
                </a:path>
              </a:pathLst>
            </a:custGeom>
            <a:ln w="708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41550" y="1372126"/>
            <a:ext cx="671830" cy="2736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50" b="1" spc="10" dirty="0">
                <a:solidFill>
                  <a:srgbClr val="151515"/>
                </a:solidFill>
                <a:latin typeface="Arial"/>
                <a:cs typeface="Arial"/>
              </a:rPr>
              <a:t>Coordinating</a:t>
            </a:r>
            <a:r>
              <a:rPr sz="450" b="1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b="1" spc="-10" dirty="0">
                <a:solidFill>
                  <a:srgbClr val="151515"/>
                </a:solidFill>
                <a:latin typeface="Arial"/>
                <a:cs typeface="Arial"/>
              </a:rPr>
              <a:t>Server</a:t>
            </a:r>
            <a:endParaRPr sz="450">
              <a:latin typeface="Arial"/>
              <a:cs typeface="Arial"/>
            </a:endParaRPr>
          </a:p>
          <a:p>
            <a:pPr marL="97790">
              <a:lnSpc>
                <a:spcPts val="480"/>
              </a:lnSpc>
              <a:spcBef>
                <a:spcPts val="409"/>
              </a:spcBef>
            </a:pPr>
            <a:r>
              <a:rPr sz="675" b="1" i="1" spc="44" baseline="-30864" dirty="0">
                <a:solidFill>
                  <a:srgbClr val="151515"/>
                </a:solidFill>
                <a:latin typeface="Arial"/>
                <a:cs typeface="Arial"/>
              </a:rPr>
              <a:t>θ</a:t>
            </a:r>
            <a:r>
              <a:rPr sz="350" spc="3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350" i="1" spc="30" dirty="0">
                <a:solidFill>
                  <a:srgbClr val="151515"/>
                </a:solidFill>
                <a:latin typeface="Arial"/>
                <a:cs typeface="Arial"/>
              </a:rPr>
              <a:t>t</a:t>
            </a:r>
            <a:r>
              <a:rPr sz="350" i="1" spc="-7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50" spc="3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350" spc="75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675" spc="44" baseline="-30864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675" spc="22" baseline="-30864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675" spc="907" baseline="24691" dirty="0">
                <a:solidFill>
                  <a:srgbClr val="151515"/>
                </a:solidFill>
                <a:latin typeface="Arial"/>
                <a:cs typeface="Arial"/>
              </a:rPr>
              <a:t>�</a:t>
            </a:r>
            <a:r>
              <a:rPr sz="675" spc="67" baseline="2469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i="1" u="sng" spc="44" baseline="12345" dirty="0">
                <a:solidFill>
                  <a:srgbClr val="151515"/>
                </a:solidFill>
                <a:uFill>
                  <a:solidFill>
                    <a:srgbClr val="151515"/>
                  </a:solidFill>
                </a:uFill>
                <a:latin typeface="Arial"/>
                <a:cs typeface="Arial"/>
              </a:rPr>
              <a:t>n</a:t>
            </a:r>
            <a:r>
              <a:rPr sz="525" i="1" u="sng" spc="44" baseline="7936" dirty="0">
                <a:solidFill>
                  <a:srgbClr val="151515"/>
                </a:solidFill>
                <a:uFill>
                  <a:solidFill>
                    <a:srgbClr val="151515"/>
                  </a:solidFill>
                </a:uFill>
                <a:latin typeface="Arial"/>
                <a:cs typeface="Arial"/>
              </a:rPr>
              <a:t>i</a:t>
            </a:r>
            <a:r>
              <a:rPr sz="525" i="1" u="none" spc="75" baseline="793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b="1" i="1" u="none" spc="44" baseline="-30864" dirty="0">
                <a:solidFill>
                  <a:srgbClr val="151515"/>
                </a:solidFill>
                <a:latin typeface="Arial"/>
                <a:cs typeface="Arial"/>
              </a:rPr>
              <a:t>θ</a:t>
            </a:r>
            <a:r>
              <a:rPr sz="350" u="none" spc="3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350" i="1" u="none" spc="30" dirty="0">
                <a:solidFill>
                  <a:srgbClr val="151515"/>
                </a:solidFill>
                <a:latin typeface="Arial"/>
                <a:cs typeface="Arial"/>
              </a:rPr>
              <a:t>t</a:t>
            </a:r>
            <a:r>
              <a:rPr sz="350" i="1" u="none" spc="-7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50" u="none" spc="-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350">
              <a:latin typeface="Lucida Sans Unicode"/>
              <a:cs typeface="Lucida Sans Unicode"/>
            </a:endParaRPr>
          </a:p>
          <a:p>
            <a:pPr marL="331470">
              <a:lnSpc>
                <a:spcPts val="480"/>
              </a:lnSpc>
            </a:pPr>
            <a:r>
              <a:rPr sz="525" i="1" baseline="-63492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525" i="1" spc="330" baseline="-63492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675" i="1" baseline="-24691" dirty="0">
                <a:solidFill>
                  <a:srgbClr val="151515"/>
                </a:solidFill>
                <a:latin typeface="Arial"/>
                <a:cs typeface="Arial"/>
              </a:rPr>
              <a:t>n</a:t>
            </a:r>
            <a:r>
              <a:rPr sz="675" i="1" spc="555" baseline="-2469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50" i="1" spc="-50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9891" y="643986"/>
            <a:ext cx="763905" cy="285115"/>
            <a:chOff x="1159891" y="643986"/>
            <a:chExt cx="763905" cy="285115"/>
          </a:xfrm>
        </p:grpSpPr>
        <p:sp>
          <p:nvSpPr>
            <p:cNvPr id="9" name="object 9"/>
            <p:cNvSpPr/>
            <p:nvPr/>
          </p:nvSpPr>
          <p:spPr>
            <a:xfrm>
              <a:off x="1163701" y="647796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3701" y="647796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ln w="708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92206" y="687334"/>
            <a:ext cx="294640" cy="18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5715">
              <a:lnSpc>
                <a:spcPct val="118200"/>
              </a:lnSpc>
              <a:spcBef>
                <a:spcPts val="90"/>
              </a:spcBef>
            </a:pPr>
            <a:r>
              <a:rPr sz="45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450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r>
              <a:rPr sz="45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baseline="12345" dirty="0">
                <a:solidFill>
                  <a:srgbClr val="151515"/>
                </a:solidFill>
                <a:latin typeface="Arial"/>
                <a:cs typeface="Arial"/>
              </a:rPr>
              <a:t>local</a:t>
            </a:r>
            <a:r>
              <a:rPr sz="675" spc="120" baseline="123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i="1" spc="52" baseline="12345" dirty="0">
                <a:solidFill>
                  <a:srgbClr val="151515"/>
                </a:solidFill>
                <a:latin typeface="Meiryo UI"/>
                <a:cs typeface="Meiryo UI"/>
              </a:rPr>
              <a:t>L</a:t>
            </a:r>
            <a:r>
              <a:rPr sz="350" spc="35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31125" y="643986"/>
            <a:ext cx="763905" cy="285115"/>
            <a:chOff x="3831125" y="643986"/>
            <a:chExt cx="763905" cy="285115"/>
          </a:xfrm>
        </p:grpSpPr>
        <p:sp>
          <p:nvSpPr>
            <p:cNvPr id="13" name="object 13"/>
            <p:cNvSpPr/>
            <p:nvPr/>
          </p:nvSpPr>
          <p:spPr>
            <a:xfrm>
              <a:off x="3834935" y="647796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4935" y="647796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ln w="708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63412" y="687334"/>
            <a:ext cx="294640" cy="18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5715">
              <a:lnSpc>
                <a:spcPct val="118200"/>
              </a:lnSpc>
              <a:spcBef>
                <a:spcPts val="90"/>
              </a:spcBef>
            </a:pPr>
            <a:r>
              <a:rPr sz="45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450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151515"/>
                </a:solidFill>
                <a:latin typeface="Arial"/>
                <a:cs typeface="Arial"/>
              </a:rPr>
              <a:t>2</a:t>
            </a:r>
            <a:r>
              <a:rPr sz="45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baseline="12345" dirty="0">
                <a:solidFill>
                  <a:srgbClr val="151515"/>
                </a:solidFill>
                <a:latin typeface="Arial"/>
                <a:cs typeface="Arial"/>
              </a:rPr>
              <a:t>local</a:t>
            </a:r>
            <a:r>
              <a:rPr sz="675" spc="120" baseline="123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i="1" spc="52" baseline="12345" dirty="0">
                <a:solidFill>
                  <a:srgbClr val="151515"/>
                </a:solidFill>
                <a:latin typeface="Meiryo UI"/>
                <a:cs typeface="Meiryo UI"/>
              </a:rPr>
              <a:t>L</a:t>
            </a:r>
            <a:r>
              <a:rPr sz="350" spc="35" dirty="0">
                <a:solidFill>
                  <a:srgbClr val="151515"/>
                </a:solidFill>
                <a:latin typeface="Arial"/>
                <a:cs typeface="Arial"/>
              </a:rPr>
              <a:t>2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31125" y="2156005"/>
            <a:ext cx="763905" cy="285115"/>
            <a:chOff x="3831125" y="2156005"/>
            <a:chExt cx="763905" cy="285115"/>
          </a:xfrm>
        </p:grpSpPr>
        <p:sp>
          <p:nvSpPr>
            <p:cNvPr id="17" name="object 17"/>
            <p:cNvSpPr/>
            <p:nvPr/>
          </p:nvSpPr>
          <p:spPr>
            <a:xfrm>
              <a:off x="3834935" y="2159815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4935" y="2159815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ln w="708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01155" y="2195638"/>
            <a:ext cx="424180" cy="18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19" marR="30480" indent="-20955">
              <a:lnSpc>
                <a:spcPct val="118200"/>
              </a:lnSpc>
              <a:spcBef>
                <a:spcPts val="90"/>
              </a:spcBef>
            </a:pPr>
            <a:r>
              <a:rPr sz="45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450" spc="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i="1" dirty="0">
                <a:solidFill>
                  <a:srgbClr val="151515"/>
                </a:solidFill>
                <a:latin typeface="Arial"/>
                <a:cs typeface="Arial"/>
              </a:rPr>
              <a:t>N</a:t>
            </a:r>
            <a:r>
              <a:rPr sz="450" i="1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i="1" spc="70" dirty="0">
                <a:solidFill>
                  <a:srgbClr val="151515"/>
                </a:solidFill>
                <a:latin typeface="Meiryo UI"/>
                <a:cs typeface="Meiryo UI"/>
              </a:rPr>
              <a:t>−</a:t>
            </a:r>
            <a:r>
              <a:rPr sz="450" i="1" spc="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450" spc="-5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r>
              <a:rPr sz="45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baseline="12345" dirty="0">
                <a:solidFill>
                  <a:srgbClr val="151515"/>
                </a:solidFill>
                <a:latin typeface="Arial"/>
                <a:cs typeface="Arial"/>
              </a:rPr>
              <a:t>local</a:t>
            </a:r>
            <a:r>
              <a:rPr sz="675" spc="120" baseline="123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i="1" spc="60" baseline="12345" dirty="0">
                <a:solidFill>
                  <a:srgbClr val="151515"/>
                </a:solidFill>
                <a:latin typeface="Meiryo UI"/>
                <a:cs typeface="Meiryo UI"/>
              </a:rPr>
              <a:t>L</a:t>
            </a:r>
            <a:r>
              <a:rPr sz="350" i="1" spc="40" dirty="0">
                <a:solidFill>
                  <a:srgbClr val="151515"/>
                </a:solidFill>
                <a:latin typeface="Arial"/>
                <a:cs typeface="Arial"/>
              </a:rPr>
              <a:t>N</a:t>
            </a:r>
            <a:r>
              <a:rPr sz="350" i="1" spc="40" dirty="0">
                <a:solidFill>
                  <a:srgbClr val="151515"/>
                </a:solidFill>
                <a:latin typeface="Meiryo UI"/>
                <a:cs typeface="Meiryo UI"/>
              </a:rPr>
              <a:t>−</a:t>
            </a:r>
            <a:r>
              <a:rPr sz="350" spc="4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59891" y="2156005"/>
            <a:ext cx="763905" cy="285115"/>
            <a:chOff x="1159891" y="2156005"/>
            <a:chExt cx="763905" cy="285115"/>
          </a:xfrm>
        </p:grpSpPr>
        <p:sp>
          <p:nvSpPr>
            <p:cNvPr id="21" name="object 21"/>
            <p:cNvSpPr/>
            <p:nvPr/>
          </p:nvSpPr>
          <p:spPr>
            <a:xfrm>
              <a:off x="1163701" y="2159815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solidFill>
              <a:srgbClr val="FFE8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63701" y="2159815"/>
              <a:ext cx="756285" cy="277495"/>
            </a:xfrm>
            <a:custGeom>
              <a:avLst/>
              <a:gdLst/>
              <a:ahLst/>
              <a:cxnLst/>
              <a:rect l="l" t="t" r="r" b="b"/>
              <a:pathLst>
                <a:path w="756285" h="277494">
                  <a:moveTo>
                    <a:pt x="729438" y="0"/>
                  </a:moveTo>
                  <a:lnTo>
                    <a:pt x="26570" y="0"/>
                  </a:lnTo>
                  <a:lnTo>
                    <a:pt x="16228" y="2088"/>
                  </a:lnTo>
                  <a:lnTo>
                    <a:pt x="7782" y="7782"/>
                  </a:lnTo>
                  <a:lnTo>
                    <a:pt x="2088" y="16228"/>
                  </a:lnTo>
                  <a:lnTo>
                    <a:pt x="0" y="26570"/>
                  </a:lnTo>
                  <a:lnTo>
                    <a:pt x="0" y="250634"/>
                  </a:lnTo>
                  <a:lnTo>
                    <a:pt x="2088" y="260976"/>
                  </a:lnTo>
                  <a:lnTo>
                    <a:pt x="7782" y="269422"/>
                  </a:lnTo>
                  <a:lnTo>
                    <a:pt x="16228" y="275117"/>
                  </a:lnTo>
                  <a:lnTo>
                    <a:pt x="26570" y="277205"/>
                  </a:lnTo>
                  <a:lnTo>
                    <a:pt x="729438" y="277205"/>
                  </a:lnTo>
                  <a:lnTo>
                    <a:pt x="739781" y="275117"/>
                  </a:lnTo>
                  <a:lnTo>
                    <a:pt x="748227" y="269422"/>
                  </a:lnTo>
                  <a:lnTo>
                    <a:pt x="753921" y="260976"/>
                  </a:lnTo>
                  <a:lnTo>
                    <a:pt x="756009" y="250634"/>
                  </a:lnTo>
                  <a:lnTo>
                    <a:pt x="756009" y="26570"/>
                  </a:lnTo>
                  <a:lnTo>
                    <a:pt x="753921" y="16228"/>
                  </a:lnTo>
                  <a:lnTo>
                    <a:pt x="748227" y="7782"/>
                  </a:lnTo>
                  <a:lnTo>
                    <a:pt x="739781" y="2088"/>
                  </a:lnTo>
                  <a:lnTo>
                    <a:pt x="729438" y="0"/>
                  </a:lnTo>
                  <a:close/>
                </a:path>
              </a:pathLst>
            </a:custGeom>
            <a:ln w="7085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97724" y="2194669"/>
            <a:ext cx="488315" cy="18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795" marR="30480" indent="-100330">
              <a:lnSpc>
                <a:spcPct val="118200"/>
              </a:lnSpc>
              <a:spcBef>
                <a:spcPts val="90"/>
              </a:spcBef>
            </a:pPr>
            <a:r>
              <a:rPr sz="45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450" spc="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i="1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450" i="1" spc="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151515"/>
                </a:solidFill>
                <a:latin typeface="Arial"/>
                <a:cs typeface="Arial"/>
              </a:rPr>
              <a:t>(target)</a:t>
            </a:r>
            <a:r>
              <a:rPr sz="45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baseline="12345" dirty="0">
                <a:solidFill>
                  <a:srgbClr val="151515"/>
                </a:solidFill>
                <a:latin typeface="Arial"/>
                <a:cs typeface="Arial"/>
              </a:rPr>
              <a:t>local</a:t>
            </a:r>
            <a:r>
              <a:rPr sz="675" spc="120" baseline="123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75" i="1" spc="60" baseline="12345" dirty="0">
                <a:solidFill>
                  <a:srgbClr val="151515"/>
                </a:solidFill>
                <a:latin typeface="Meiryo UI"/>
                <a:cs typeface="Meiryo UI"/>
              </a:rPr>
              <a:t>L</a:t>
            </a:r>
            <a:r>
              <a:rPr sz="350" i="1" spc="40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endParaRPr sz="3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37549" y="815937"/>
            <a:ext cx="2329815" cy="1453515"/>
            <a:chOff x="1637549" y="815937"/>
            <a:chExt cx="2329815" cy="1453515"/>
          </a:xfrm>
        </p:grpSpPr>
        <p:sp>
          <p:nvSpPr>
            <p:cNvPr id="25" name="object 25"/>
            <p:cNvSpPr/>
            <p:nvPr/>
          </p:nvSpPr>
          <p:spPr>
            <a:xfrm>
              <a:off x="1807787" y="940056"/>
              <a:ext cx="795020" cy="410209"/>
            </a:xfrm>
            <a:custGeom>
              <a:avLst/>
              <a:gdLst/>
              <a:ahLst/>
              <a:cxnLst/>
              <a:rect l="l" t="t" r="r" b="b"/>
              <a:pathLst>
                <a:path w="795019" h="410209">
                  <a:moveTo>
                    <a:pt x="794697" y="409807"/>
                  </a:moveTo>
                  <a:lnTo>
                    <a:pt x="746527" y="377093"/>
                  </a:lnTo>
                  <a:lnTo>
                    <a:pt x="699715" y="347188"/>
                  </a:lnTo>
                  <a:lnTo>
                    <a:pt x="654095" y="319786"/>
                  </a:lnTo>
                  <a:lnTo>
                    <a:pt x="609501" y="294579"/>
                  </a:lnTo>
                  <a:lnTo>
                    <a:pt x="565768" y="271259"/>
                  </a:lnTo>
                  <a:lnTo>
                    <a:pt x="522729" y="249520"/>
                  </a:lnTo>
                  <a:lnTo>
                    <a:pt x="480218" y="229054"/>
                  </a:lnTo>
                  <a:lnTo>
                    <a:pt x="438069" y="209552"/>
                  </a:lnTo>
                  <a:lnTo>
                    <a:pt x="396117" y="190709"/>
                  </a:lnTo>
                  <a:lnTo>
                    <a:pt x="354196" y="172216"/>
                  </a:lnTo>
                  <a:lnTo>
                    <a:pt x="312138" y="153767"/>
                  </a:lnTo>
                  <a:lnTo>
                    <a:pt x="269780" y="135052"/>
                  </a:lnTo>
                  <a:lnTo>
                    <a:pt x="226953" y="115766"/>
                  </a:lnTo>
                  <a:lnTo>
                    <a:pt x="183493" y="95601"/>
                  </a:lnTo>
                  <a:lnTo>
                    <a:pt x="139234" y="74249"/>
                  </a:lnTo>
                  <a:lnTo>
                    <a:pt x="94009" y="51403"/>
                  </a:lnTo>
                  <a:lnTo>
                    <a:pt x="47653" y="26756"/>
                  </a:lnTo>
                  <a:lnTo>
                    <a:pt x="0" y="0"/>
                  </a:lnTo>
                </a:path>
              </a:pathLst>
            </a:custGeom>
            <a:ln w="708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87844" y="928544"/>
              <a:ext cx="41275" cy="34925"/>
            </a:xfrm>
            <a:custGeom>
              <a:avLst/>
              <a:gdLst/>
              <a:ahLst/>
              <a:cxnLst/>
              <a:rect l="l" t="t" r="r" b="b"/>
              <a:pathLst>
                <a:path w="41275" h="34925">
                  <a:moveTo>
                    <a:pt x="22699" y="34373"/>
                  </a:moveTo>
                  <a:lnTo>
                    <a:pt x="19943" y="11511"/>
                  </a:lnTo>
                  <a:lnTo>
                    <a:pt x="41118" y="2464"/>
                  </a:lnTo>
                  <a:lnTo>
                    <a:pt x="0" y="0"/>
                  </a:lnTo>
                  <a:lnTo>
                    <a:pt x="22699" y="34373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2161" y="940056"/>
              <a:ext cx="795020" cy="410209"/>
            </a:xfrm>
            <a:custGeom>
              <a:avLst/>
              <a:gdLst/>
              <a:ahLst/>
              <a:cxnLst/>
              <a:rect l="l" t="t" r="r" b="b"/>
              <a:pathLst>
                <a:path w="795020" h="410209">
                  <a:moveTo>
                    <a:pt x="0" y="409807"/>
                  </a:moveTo>
                  <a:lnTo>
                    <a:pt x="48170" y="377093"/>
                  </a:lnTo>
                  <a:lnTo>
                    <a:pt x="94982" y="347188"/>
                  </a:lnTo>
                  <a:lnTo>
                    <a:pt x="140602" y="319786"/>
                  </a:lnTo>
                  <a:lnTo>
                    <a:pt x="185195" y="294579"/>
                  </a:lnTo>
                  <a:lnTo>
                    <a:pt x="228929" y="271259"/>
                  </a:lnTo>
                  <a:lnTo>
                    <a:pt x="271968" y="249520"/>
                  </a:lnTo>
                  <a:lnTo>
                    <a:pt x="314479" y="229054"/>
                  </a:lnTo>
                  <a:lnTo>
                    <a:pt x="356627" y="209552"/>
                  </a:lnTo>
                  <a:lnTo>
                    <a:pt x="398579" y="190709"/>
                  </a:lnTo>
                  <a:lnTo>
                    <a:pt x="440501" y="172216"/>
                  </a:lnTo>
                  <a:lnTo>
                    <a:pt x="482558" y="153767"/>
                  </a:lnTo>
                  <a:lnTo>
                    <a:pt x="524917" y="135052"/>
                  </a:lnTo>
                  <a:lnTo>
                    <a:pt x="567744" y="115766"/>
                  </a:lnTo>
                  <a:lnTo>
                    <a:pt x="611203" y="95601"/>
                  </a:lnTo>
                  <a:lnTo>
                    <a:pt x="655463" y="74249"/>
                  </a:lnTo>
                  <a:lnTo>
                    <a:pt x="700687" y="51403"/>
                  </a:lnTo>
                  <a:lnTo>
                    <a:pt x="747044" y="26756"/>
                  </a:lnTo>
                  <a:lnTo>
                    <a:pt x="794697" y="0"/>
                  </a:lnTo>
                </a:path>
              </a:pathLst>
            </a:custGeom>
            <a:ln w="708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25684" y="928544"/>
              <a:ext cx="41275" cy="34925"/>
            </a:xfrm>
            <a:custGeom>
              <a:avLst/>
              <a:gdLst/>
              <a:ahLst/>
              <a:cxnLst/>
              <a:rect l="l" t="t" r="r" b="b"/>
              <a:pathLst>
                <a:path w="41275" h="34925">
                  <a:moveTo>
                    <a:pt x="0" y="2464"/>
                  </a:moveTo>
                  <a:lnTo>
                    <a:pt x="21175" y="11511"/>
                  </a:lnTo>
                  <a:lnTo>
                    <a:pt x="18418" y="34373"/>
                  </a:lnTo>
                  <a:lnTo>
                    <a:pt x="41118" y="0"/>
                  </a:lnTo>
                  <a:lnTo>
                    <a:pt x="0" y="2464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52161" y="1734953"/>
              <a:ext cx="795020" cy="410209"/>
            </a:xfrm>
            <a:custGeom>
              <a:avLst/>
              <a:gdLst/>
              <a:ahLst/>
              <a:cxnLst/>
              <a:rect l="l" t="t" r="r" b="b"/>
              <a:pathLst>
                <a:path w="795020" h="410210">
                  <a:moveTo>
                    <a:pt x="0" y="0"/>
                  </a:moveTo>
                  <a:lnTo>
                    <a:pt x="48170" y="32714"/>
                  </a:lnTo>
                  <a:lnTo>
                    <a:pt x="94982" y="62619"/>
                  </a:lnTo>
                  <a:lnTo>
                    <a:pt x="140602" y="90021"/>
                  </a:lnTo>
                  <a:lnTo>
                    <a:pt x="185195" y="115228"/>
                  </a:lnTo>
                  <a:lnTo>
                    <a:pt x="228929" y="138547"/>
                  </a:lnTo>
                  <a:lnTo>
                    <a:pt x="271968" y="160286"/>
                  </a:lnTo>
                  <a:lnTo>
                    <a:pt x="314479" y="180753"/>
                  </a:lnTo>
                  <a:lnTo>
                    <a:pt x="356627" y="200254"/>
                  </a:lnTo>
                  <a:lnTo>
                    <a:pt x="398579" y="219098"/>
                  </a:lnTo>
                  <a:lnTo>
                    <a:pt x="440501" y="237590"/>
                  </a:lnTo>
                  <a:lnTo>
                    <a:pt x="482558" y="256040"/>
                  </a:lnTo>
                  <a:lnTo>
                    <a:pt x="524917" y="274754"/>
                  </a:lnTo>
                  <a:lnTo>
                    <a:pt x="567744" y="294040"/>
                  </a:lnTo>
                  <a:lnTo>
                    <a:pt x="611203" y="314205"/>
                  </a:lnTo>
                  <a:lnTo>
                    <a:pt x="655463" y="335557"/>
                  </a:lnTo>
                  <a:lnTo>
                    <a:pt x="700687" y="358403"/>
                  </a:lnTo>
                  <a:lnTo>
                    <a:pt x="747044" y="383051"/>
                  </a:lnTo>
                  <a:lnTo>
                    <a:pt x="794697" y="409807"/>
                  </a:lnTo>
                </a:path>
              </a:pathLst>
            </a:custGeom>
            <a:ln w="708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25684" y="2121899"/>
              <a:ext cx="41275" cy="34925"/>
            </a:xfrm>
            <a:custGeom>
              <a:avLst/>
              <a:gdLst/>
              <a:ahLst/>
              <a:cxnLst/>
              <a:rect l="l" t="t" r="r" b="b"/>
              <a:pathLst>
                <a:path w="41275" h="34925">
                  <a:moveTo>
                    <a:pt x="18418" y="0"/>
                  </a:moveTo>
                  <a:lnTo>
                    <a:pt x="21175" y="22861"/>
                  </a:lnTo>
                  <a:lnTo>
                    <a:pt x="0" y="31908"/>
                  </a:lnTo>
                  <a:lnTo>
                    <a:pt x="41118" y="34373"/>
                  </a:lnTo>
                  <a:lnTo>
                    <a:pt x="18418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07787" y="1734953"/>
              <a:ext cx="795020" cy="410209"/>
            </a:xfrm>
            <a:custGeom>
              <a:avLst/>
              <a:gdLst/>
              <a:ahLst/>
              <a:cxnLst/>
              <a:rect l="l" t="t" r="r" b="b"/>
              <a:pathLst>
                <a:path w="795019" h="410210">
                  <a:moveTo>
                    <a:pt x="794697" y="0"/>
                  </a:moveTo>
                  <a:lnTo>
                    <a:pt x="746527" y="32714"/>
                  </a:lnTo>
                  <a:lnTo>
                    <a:pt x="699715" y="62619"/>
                  </a:lnTo>
                  <a:lnTo>
                    <a:pt x="654095" y="90021"/>
                  </a:lnTo>
                  <a:lnTo>
                    <a:pt x="609501" y="115228"/>
                  </a:lnTo>
                  <a:lnTo>
                    <a:pt x="565768" y="138547"/>
                  </a:lnTo>
                  <a:lnTo>
                    <a:pt x="522729" y="160286"/>
                  </a:lnTo>
                  <a:lnTo>
                    <a:pt x="480218" y="180753"/>
                  </a:lnTo>
                  <a:lnTo>
                    <a:pt x="438069" y="200254"/>
                  </a:lnTo>
                  <a:lnTo>
                    <a:pt x="396117" y="219098"/>
                  </a:lnTo>
                  <a:lnTo>
                    <a:pt x="354196" y="237590"/>
                  </a:lnTo>
                  <a:lnTo>
                    <a:pt x="312138" y="256040"/>
                  </a:lnTo>
                  <a:lnTo>
                    <a:pt x="269780" y="274754"/>
                  </a:lnTo>
                  <a:lnTo>
                    <a:pt x="226953" y="294040"/>
                  </a:lnTo>
                  <a:lnTo>
                    <a:pt x="183493" y="314205"/>
                  </a:lnTo>
                  <a:lnTo>
                    <a:pt x="139234" y="335557"/>
                  </a:lnTo>
                  <a:lnTo>
                    <a:pt x="94009" y="358403"/>
                  </a:lnTo>
                  <a:lnTo>
                    <a:pt x="47653" y="383051"/>
                  </a:lnTo>
                  <a:lnTo>
                    <a:pt x="0" y="409807"/>
                  </a:lnTo>
                </a:path>
              </a:pathLst>
            </a:custGeom>
            <a:ln w="708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87844" y="2121899"/>
              <a:ext cx="41275" cy="34925"/>
            </a:xfrm>
            <a:custGeom>
              <a:avLst/>
              <a:gdLst/>
              <a:ahLst/>
              <a:cxnLst/>
              <a:rect l="l" t="t" r="r" b="b"/>
              <a:pathLst>
                <a:path w="41275" h="34925">
                  <a:moveTo>
                    <a:pt x="41118" y="31908"/>
                  </a:moveTo>
                  <a:lnTo>
                    <a:pt x="19943" y="22861"/>
                  </a:lnTo>
                  <a:lnTo>
                    <a:pt x="22699" y="0"/>
                  </a:lnTo>
                  <a:lnTo>
                    <a:pt x="0" y="34373"/>
                  </a:lnTo>
                  <a:lnTo>
                    <a:pt x="41118" y="31908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3253" y="819747"/>
              <a:ext cx="398780" cy="674370"/>
            </a:xfrm>
            <a:custGeom>
              <a:avLst/>
              <a:gdLst/>
              <a:ahLst/>
              <a:cxnLst/>
              <a:rect l="l" t="t" r="r" b="b"/>
              <a:pathLst>
                <a:path w="398780" h="674369">
                  <a:moveTo>
                    <a:pt x="0" y="0"/>
                  </a:moveTo>
                  <a:lnTo>
                    <a:pt x="65068" y="17317"/>
                  </a:lnTo>
                  <a:lnTo>
                    <a:pt x="113697" y="53812"/>
                  </a:lnTo>
                  <a:lnTo>
                    <a:pt x="148933" y="105824"/>
                  </a:lnTo>
                  <a:lnTo>
                    <a:pt x="173825" y="169692"/>
                  </a:lnTo>
                  <a:lnTo>
                    <a:pt x="191419" y="241757"/>
                  </a:lnTo>
                  <a:lnTo>
                    <a:pt x="198432" y="279719"/>
                  </a:lnTo>
                  <a:lnTo>
                    <a:pt x="204763" y="318357"/>
                  </a:lnTo>
                  <a:lnTo>
                    <a:pt x="210794" y="357215"/>
                  </a:lnTo>
                  <a:lnTo>
                    <a:pt x="216905" y="395834"/>
                  </a:lnTo>
                  <a:lnTo>
                    <a:pt x="223478" y="433757"/>
                  </a:lnTo>
                  <a:lnTo>
                    <a:pt x="239530" y="505685"/>
                  </a:lnTo>
                  <a:lnTo>
                    <a:pt x="262000" y="569338"/>
                  </a:lnTo>
                  <a:lnTo>
                    <a:pt x="293933" y="621057"/>
                  </a:lnTo>
                  <a:lnTo>
                    <a:pt x="338377" y="657181"/>
                  </a:lnTo>
                  <a:lnTo>
                    <a:pt x="366244" y="668251"/>
                  </a:lnTo>
                  <a:lnTo>
                    <a:pt x="398381" y="674049"/>
                  </a:lnTo>
                </a:path>
              </a:pathLst>
            </a:custGeom>
            <a:ln w="7085">
              <a:solidFill>
                <a:srgbClr val="00595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306265" y="1474241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30">
                  <a:moveTo>
                    <a:pt x="3211" y="0"/>
                  </a:moveTo>
                  <a:lnTo>
                    <a:pt x="15369" y="19555"/>
                  </a:lnTo>
                  <a:lnTo>
                    <a:pt x="0" y="36702"/>
                  </a:lnTo>
                  <a:lnTo>
                    <a:pt x="38308" y="21562"/>
                  </a:lnTo>
                  <a:lnTo>
                    <a:pt x="3211" y="0"/>
                  </a:lnTo>
                  <a:close/>
                </a:path>
              </a:pathLst>
            </a:custGeom>
            <a:solidFill>
              <a:srgbClr val="00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33011" y="819747"/>
              <a:ext cx="398780" cy="674370"/>
            </a:xfrm>
            <a:custGeom>
              <a:avLst/>
              <a:gdLst/>
              <a:ahLst/>
              <a:cxnLst/>
              <a:rect l="l" t="t" r="r" b="b"/>
              <a:pathLst>
                <a:path w="398779" h="674369">
                  <a:moveTo>
                    <a:pt x="398381" y="0"/>
                  </a:moveTo>
                  <a:lnTo>
                    <a:pt x="333312" y="17317"/>
                  </a:lnTo>
                  <a:lnTo>
                    <a:pt x="284684" y="53812"/>
                  </a:lnTo>
                  <a:lnTo>
                    <a:pt x="249447" y="105824"/>
                  </a:lnTo>
                  <a:lnTo>
                    <a:pt x="224556" y="169692"/>
                  </a:lnTo>
                  <a:lnTo>
                    <a:pt x="206962" y="241757"/>
                  </a:lnTo>
                  <a:lnTo>
                    <a:pt x="199949" y="279719"/>
                  </a:lnTo>
                  <a:lnTo>
                    <a:pt x="193617" y="318357"/>
                  </a:lnTo>
                  <a:lnTo>
                    <a:pt x="187586" y="357215"/>
                  </a:lnTo>
                  <a:lnTo>
                    <a:pt x="181475" y="395834"/>
                  </a:lnTo>
                  <a:lnTo>
                    <a:pt x="174903" y="433757"/>
                  </a:lnTo>
                  <a:lnTo>
                    <a:pt x="158850" y="505685"/>
                  </a:lnTo>
                  <a:lnTo>
                    <a:pt x="136381" y="569338"/>
                  </a:lnTo>
                  <a:lnTo>
                    <a:pt x="104448" y="621057"/>
                  </a:lnTo>
                  <a:lnTo>
                    <a:pt x="60003" y="657181"/>
                  </a:lnTo>
                  <a:lnTo>
                    <a:pt x="32137" y="668251"/>
                  </a:lnTo>
                  <a:lnTo>
                    <a:pt x="0" y="674049"/>
                  </a:lnTo>
                </a:path>
              </a:pathLst>
            </a:custGeom>
            <a:ln w="7085">
              <a:solidFill>
                <a:srgbClr val="00595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10072" y="1474241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30">
                  <a:moveTo>
                    <a:pt x="38308" y="36702"/>
                  </a:moveTo>
                  <a:lnTo>
                    <a:pt x="22939" y="19555"/>
                  </a:lnTo>
                  <a:lnTo>
                    <a:pt x="35096" y="0"/>
                  </a:lnTo>
                  <a:lnTo>
                    <a:pt x="0" y="21562"/>
                  </a:lnTo>
                  <a:lnTo>
                    <a:pt x="38308" y="36702"/>
                  </a:lnTo>
                  <a:close/>
                </a:path>
              </a:pathLst>
            </a:custGeom>
            <a:solidFill>
              <a:srgbClr val="00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3011" y="1591020"/>
              <a:ext cx="398780" cy="674370"/>
            </a:xfrm>
            <a:custGeom>
              <a:avLst/>
              <a:gdLst/>
              <a:ahLst/>
              <a:cxnLst/>
              <a:rect l="l" t="t" r="r" b="b"/>
              <a:pathLst>
                <a:path w="398779" h="674369">
                  <a:moveTo>
                    <a:pt x="398381" y="674049"/>
                  </a:moveTo>
                  <a:lnTo>
                    <a:pt x="333312" y="656731"/>
                  </a:lnTo>
                  <a:lnTo>
                    <a:pt x="284684" y="620237"/>
                  </a:lnTo>
                  <a:lnTo>
                    <a:pt x="249447" y="568225"/>
                  </a:lnTo>
                  <a:lnTo>
                    <a:pt x="224556" y="504357"/>
                  </a:lnTo>
                  <a:lnTo>
                    <a:pt x="206962" y="432292"/>
                  </a:lnTo>
                  <a:lnTo>
                    <a:pt x="199949" y="394330"/>
                  </a:lnTo>
                  <a:lnTo>
                    <a:pt x="193617" y="355692"/>
                  </a:lnTo>
                  <a:lnTo>
                    <a:pt x="187586" y="316834"/>
                  </a:lnTo>
                  <a:lnTo>
                    <a:pt x="181475" y="278215"/>
                  </a:lnTo>
                  <a:lnTo>
                    <a:pt x="174903" y="240292"/>
                  </a:lnTo>
                  <a:lnTo>
                    <a:pt x="158850" y="168364"/>
                  </a:lnTo>
                  <a:lnTo>
                    <a:pt x="136381" y="104711"/>
                  </a:lnTo>
                  <a:lnTo>
                    <a:pt x="104448" y="52992"/>
                  </a:lnTo>
                  <a:lnTo>
                    <a:pt x="60003" y="16868"/>
                  </a:lnTo>
                  <a:lnTo>
                    <a:pt x="32137" y="5798"/>
                  </a:lnTo>
                  <a:lnTo>
                    <a:pt x="0" y="0"/>
                  </a:lnTo>
                </a:path>
              </a:pathLst>
            </a:custGeom>
            <a:ln w="7085">
              <a:solidFill>
                <a:srgbClr val="00595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10072" y="1573873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30">
                  <a:moveTo>
                    <a:pt x="35096" y="36702"/>
                  </a:moveTo>
                  <a:lnTo>
                    <a:pt x="22939" y="17146"/>
                  </a:lnTo>
                  <a:lnTo>
                    <a:pt x="38308" y="0"/>
                  </a:lnTo>
                  <a:lnTo>
                    <a:pt x="0" y="15139"/>
                  </a:lnTo>
                  <a:lnTo>
                    <a:pt x="35096" y="36702"/>
                  </a:lnTo>
                  <a:close/>
                </a:path>
              </a:pathLst>
            </a:custGeom>
            <a:solidFill>
              <a:srgbClr val="00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23253" y="1591020"/>
              <a:ext cx="398780" cy="674370"/>
            </a:xfrm>
            <a:custGeom>
              <a:avLst/>
              <a:gdLst/>
              <a:ahLst/>
              <a:cxnLst/>
              <a:rect l="l" t="t" r="r" b="b"/>
              <a:pathLst>
                <a:path w="398780" h="674369">
                  <a:moveTo>
                    <a:pt x="0" y="674049"/>
                  </a:moveTo>
                  <a:lnTo>
                    <a:pt x="65068" y="656731"/>
                  </a:lnTo>
                  <a:lnTo>
                    <a:pt x="113697" y="620237"/>
                  </a:lnTo>
                  <a:lnTo>
                    <a:pt x="148933" y="568225"/>
                  </a:lnTo>
                  <a:lnTo>
                    <a:pt x="173825" y="504357"/>
                  </a:lnTo>
                  <a:lnTo>
                    <a:pt x="191419" y="432292"/>
                  </a:lnTo>
                  <a:lnTo>
                    <a:pt x="198432" y="394330"/>
                  </a:lnTo>
                  <a:lnTo>
                    <a:pt x="204763" y="355692"/>
                  </a:lnTo>
                  <a:lnTo>
                    <a:pt x="210794" y="316834"/>
                  </a:lnTo>
                  <a:lnTo>
                    <a:pt x="216905" y="278215"/>
                  </a:lnTo>
                  <a:lnTo>
                    <a:pt x="223478" y="240292"/>
                  </a:lnTo>
                  <a:lnTo>
                    <a:pt x="239530" y="168364"/>
                  </a:lnTo>
                  <a:lnTo>
                    <a:pt x="262000" y="104711"/>
                  </a:lnTo>
                  <a:lnTo>
                    <a:pt x="293933" y="52992"/>
                  </a:lnTo>
                  <a:lnTo>
                    <a:pt x="338377" y="16868"/>
                  </a:lnTo>
                  <a:lnTo>
                    <a:pt x="366244" y="5798"/>
                  </a:lnTo>
                  <a:lnTo>
                    <a:pt x="398381" y="0"/>
                  </a:lnTo>
                </a:path>
              </a:pathLst>
            </a:custGeom>
            <a:ln w="7085">
              <a:solidFill>
                <a:srgbClr val="00595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06265" y="1573873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30">
                  <a:moveTo>
                    <a:pt x="0" y="0"/>
                  </a:moveTo>
                  <a:lnTo>
                    <a:pt x="15369" y="17146"/>
                  </a:lnTo>
                  <a:lnTo>
                    <a:pt x="3211" y="36702"/>
                  </a:lnTo>
                  <a:lnTo>
                    <a:pt x="38308" y="15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42946" y="1591338"/>
              <a:ext cx="674370" cy="565150"/>
            </a:xfrm>
            <a:custGeom>
              <a:avLst/>
              <a:gdLst/>
              <a:ahLst/>
              <a:cxnLst/>
              <a:rect l="l" t="t" r="r" b="b"/>
              <a:pathLst>
                <a:path w="674369" h="565150">
                  <a:moveTo>
                    <a:pt x="0" y="564934"/>
                  </a:moveTo>
                  <a:lnTo>
                    <a:pt x="24731" y="515955"/>
                  </a:lnTo>
                  <a:lnTo>
                    <a:pt x="50367" y="469428"/>
                  </a:lnTo>
                  <a:lnTo>
                    <a:pt x="76957" y="425298"/>
                  </a:lnTo>
                  <a:lnTo>
                    <a:pt x="104554" y="383509"/>
                  </a:lnTo>
                  <a:lnTo>
                    <a:pt x="133209" y="344006"/>
                  </a:lnTo>
                  <a:lnTo>
                    <a:pt x="162972" y="306734"/>
                  </a:lnTo>
                  <a:lnTo>
                    <a:pt x="193896" y="271637"/>
                  </a:lnTo>
                  <a:lnTo>
                    <a:pt x="226031" y="238660"/>
                  </a:lnTo>
                  <a:lnTo>
                    <a:pt x="259429" y="207748"/>
                  </a:lnTo>
                  <a:lnTo>
                    <a:pt x="294141" y="178845"/>
                  </a:lnTo>
                  <a:lnTo>
                    <a:pt x="330218" y="151896"/>
                  </a:lnTo>
                  <a:lnTo>
                    <a:pt x="367713" y="126845"/>
                  </a:lnTo>
                  <a:lnTo>
                    <a:pt x="406675" y="103638"/>
                  </a:lnTo>
                  <a:lnTo>
                    <a:pt x="447156" y="82218"/>
                  </a:lnTo>
                  <a:lnTo>
                    <a:pt x="489209" y="62531"/>
                  </a:lnTo>
                  <a:lnTo>
                    <a:pt x="532883" y="44521"/>
                  </a:lnTo>
                  <a:lnTo>
                    <a:pt x="578230" y="28132"/>
                  </a:lnTo>
                  <a:lnTo>
                    <a:pt x="625302" y="13310"/>
                  </a:lnTo>
                  <a:lnTo>
                    <a:pt x="674150" y="0"/>
                  </a:lnTo>
                </a:path>
              </a:pathLst>
            </a:custGeom>
            <a:ln w="10628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95056" y="1573522"/>
              <a:ext cx="49530" cy="44450"/>
            </a:xfrm>
            <a:custGeom>
              <a:avLst/>
              <a:gdLst/>
              <a:ahLst/>
              <a:cxnLst/>
              <a:rect l="l" t="t" r="r" b="b"/>
              <a:pathLst>
                <a:path w="49530" h="44450">
                  <a:moveTo>
                    <a:pt x="0" y="0"/>
                  </a:moveTo>
                  <a:lnTo>
                    <a:pt x="22040" y="17815"/>
                  </a:lnTo>
                  <a:lnTo>
                    <a:pt x="11109" y="43963"/>
                  </a:lnTo>
                  <a:lnTo>
                    <a:pt x="49517" y="10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34457" y="1730697"/>
            <a:ext cx="36957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CC0000"/>
                </a:solidFill>
                <a:latin typeface="Arial"/>
                <a:cs typeface="Arial"/>
              </a:rPr>
              <a:t>Forget</a:t>
            </a:r>
            <a:r>
              <a:rPr sz="400" spc="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CC0000"/>
                </a:solidFill>
                <a:latin typeface="Arial"/>
                <a:cs typeface="Arial"/>
              </a:rPr>
              <a:t>request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23253" y="1729639"/>
            <a:ext cx="887730" cy="665480"/>
            <a:chOff x="1923253" y="1729639"/>
            <a:chExt cx="887730" cy="665480"/>
          </a:xfrm>
        </p:grpSpPr>
        <p:sp>
          <p:nvSpPr>
            <p:cNvPr id="45" name="object 45"/>
            <p:cNvSpPr/>
            <p:nvPr/>
          </p:nvSpPr>
          <p:spPr>
            <a:xfrm>
              <a:off x="1951514" y="1734953"/>
              <a:ext cx="854075" cy="638810"/>
            </a:xfrm>
            <a:custGeom>
              <a:avLst/>
              <a:gdLst/>
              <a:ahLst/>
              <a:cxnLst/>
              <a:rect l="l" t="t" r="r" b="b"/>
              <a:pathLst>
                <a:path w="854075" h="638810">
                  <a:moveTo>
                    <a:pt x="853998" y="0"/>
                  </a:moveTo>
                  <a:lnTo>
                    <a:pt x="840220" y="48663"/>
                  </a:lnTo>
                  <a:lnTo>
                    <a:pt x="824137" y="95762"/>
                  </a:lnTo>
                  <a:lnTo>
                    <a:pt x="805828" y="141248"/>
                  </a:lnTo>
                  <a:lnTo>
                    <a:pt x="785372" y="185073"/>
                  </a:lnTo>
                  <a:lnTo>
                    <a:pt x="762847" y="227187"/>
                  </a:lnTo>
                  <a:lnTo>
                    <a:pt x="738334" y="267544"/>
                  </a:lnTo>
                  <a:lnTo>
                    <a:pt x="711911" y="306095"/>
                  </a:lnTo>
                  <a:lnTo>
                    <a:pt x="683658" y="342791"/>
                  </a:lnTo>
                  <a:lnTo>
                    <a:pt x="653654" y="377584"/>
                  </a:lnTo>
                  <a:lnTo>
                    <a:pt x="621977" y="410426"/>
                  </a:lnTo>
                  <a:lnTo>
                    <a:pt x="588708" y="441269"/>
                  </a:lnTo>
                  <a:lnTo>
                    <a:pt x="553924" y="470064"/>
                  </a:lnTo>
                  <a:lnTo>
                    <a:pt x="517706" y="496764"/>
                  </a:lnTo>
                  <a:lnTo>
                    <a:pt x="480133" y="521319"/>
                  </a:lnTo>
                  <a:lnTo>
                    <a:pt x="441283" y="543682"/>
                  </a:lnTo>
                  <a:lnTo>
                    <a:pt x="401236" y="563804"/>
                  </a:lnTo>
                  <a:lnTo>
                    <a:pt x="360071" y="581637"/>
                  </a:lnTo>
                  <a:lnTo>
                    <a:pt x="317867" y="597133"/>
                  </a:lnTo>
                  <a:lnTo>
                    <a:pt x="274703" y="610244"/>
                  </a:lnTo>
                  <a:lnTo>
                    <a:pt x="230659" y="620921"/>
                  </a:lnTo>
                  <a:lnTo>
                    <a:pt x="185813" y="629116"/>
                  </a:lnTo>
                  <a:lnTo>
                    <a:pt x="140245" y="634780"/>
                  </a:lnTo>
                  <a:lnTo>
                    <a:pt x="94034" y="637867"/>
                  </a:lnTo>
                  <a:lnTo>
                    <a:pt x="47259" y="638326"/>
                  </a:lnTo>
                  <a:lnTo>
                    <a:pt x="0" y="636110"/>
                  </a:lnTo>
                </a:path>
              </a:pathLst>
            </a:custGeom>
            <a:ln w="10628">
              <a:solidFill>
                <a:srgbClr val="CC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23253" y="2349730"/>
              <a:ext cx="46990" cy="45720"/>
            </a:xfrm>
            <a:custGeom>
              <a:avLst/>
              <a:gdLst/>
              <a:ahLst/>
              <a:cxnLst/>
              <a:rect l="l" t="t" r="r" b="b"/>
              <a:pathLst>
                <a:path w="46989" h="45719">
                  <a:moveTo>
                    <a:pt x="43517" y="45217"/>
                  </a:moveTo>
                  <a:lnTo>
                    <a:pt x="28260" y="21333"/>
                  </a:lnTo>
                  <a:lnTo>
                    <a:pt x="46916" y="0"/>
                  </a:lnTo>
                  <a:lnTo>
                    <a:pt x="0" y="19208"/>
                  </a:lnTo>
                  <a:lnTo>
                    <a:pt x="43517" y="4521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503164" y="2166147"/>
            <a:ext cx="575310" cy="895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CC0000"/>
                </a:solidFill>
                <a:latin typeface="Arial"/>
                <a:cs typeface="Arial"/>
              </a:rPr>
              <a:t>Diagonal</a:t>
            </a:r>
            <a:r>
              <a:rPr sz="400" spc="5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CC0000"/>
                </a:solidFill>
                <a:latin typeface="Arial"/>
                <a:cs typeface="Arial"/>
              </a:rPr>
              <a:t>QFIM</a:t>
            </a:r>
            <a:r>
              <a:rPr sz="400" spc="5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CC0000"/>
                </a:solidFill>
                <a:latin typeface="Arial"/>
                <a:cs typeface="Arial"/>
              </a:rPr>
              <a:t>request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67707" y="2658000"/>
            <a:ext cx="252095" cy="37465"/>
            <a:chOff x="1667707" y="2658000"/>
            <a:chExt cx="252095" cy="37465"/>
          </a:xfrm>
        </p:grpSpPr>
        <p:sp>
          <p:nvSpPr>
            <p:cNvPr id="49" name="object 49"/>
            <p:cNvSpPr/>
            <p:nvPr/>
          </p:nvSpPr>
          <p:spPr>
            <a:xfrm>
              <a:off x="1667707" y="2676422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975" y="0"/>
                  </a:lnTo>
                </a:path>
              </a:pathLst>
            </a:custGeom>
            <a:ln w="708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82867" y="265800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4">
                  <a:moveTo>
                    <a:pt x="0" y="0"/>
                  </a:moveTo>
                  <a:lnTo>
                    <a:pt x="13816" y="18421"/>
                  </a:lnTo>
                  <a:lnTo>
                    <a:pt x="0" y="36843"/>
                  </a:lnTo>
                  <a:lnTo>
                    <a:pt x="36843" y="18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675720" y="2658000"/>
            <a:ext cx="252095" cy="37465"/>
            <a:chOff x="2675720" y="2658000"/>
            <a:chExt cx="252095" cy="37465"/>
          </a:xfrm>
        </p:grpSpPr>
        <p:sp>
          <p:nvSpPr>
            <p:cNvPr id="52" name="object 52"/>
            <p:cNvSpPr/>
            <p:nvPr/>
          </p:nvSpPr>
          <p:spPr>
            <a:xfrm>
              <a:off x="2675720" y="2676422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975" y="0"/>
                  </a:lnTo>
                </a:path>
              </a:pathLst>
            </a:custGeom>
            <a:ln w="7085">
              <a:solidFill>
                <a:srgbClr val="00595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90879" y="265800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4">
                  <a:moveTo>
                    <a:pt x="0" y="0"/>
                  </a:moveTo>
                  <a:lnTo>
                    <a:pt x="13816" y="18421"/>
                  </a:lnTo>
                  <a:lnTo>
                    <a:pt x="0" y="36843"/>
                  </a:lnTo>
                  <a:lnTo>
                    <a:pt x="36843" y="18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633332" y="2658000"/>
            <a:ext cx="252095" cy="37465"/>
            <a:chOff x="3633332" y="2658000"/>
            <a:chExt cx="252095" cy="37465"/>
          </a:xfrm>
        </p:grpSpPr>
        <p:sp>
          <p:nvSpPr>
            <p:cNvPr id="55" name="object 55"/>
            <p:cNvSpPr/>
            <p:nvPr/>
          </p:nvSpPr>
          <p:spPr>
            <a:xfrm>
              <a:off x="3633332" y="2676422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975" y="0"/>
                  </a:lnTo>
                </a:path>
              </a:pathLst>
            </a:custGeom>
            <a:ln w="7085">
              <a:solidFill>
                <a:srgbClr val="CC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848492" y="265800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4">
                  <a:moveTo>
                    <a:pt x="0" y="0"/>
                  </a:moveTo>
                  <a:lnTo>
                    <a:pt x="13816" y="18421"/>
                  </a:lnTo>
                  <a:lnTo>
                    <a:pt x="0" y="36843"/>
                  </a:lnTo>
                  <a:lnTo>
                    <a:pt x="36843" y="18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354734" y="2629191"/>
            <a:ext cx="3269615" cy="3111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114"/>
              </a:spcBef>
              <a:tabLst>
                <a:tab pos="1651635" algn="l"/>
                <a:tab pos="2609215" algn="l"/>
              </a:tabLst>
            </a:pPr>
            <a:r>
              <a:rPr sz="400" spc="-10" dirty="0">
                <a:solidFill>
                  <a:srgbClr val="151515"/>
                </a:solidFill>
                <a:latin typeface="Arial"/>
                <a:cs typeface="Arial"/>
              </a:rPr>
              <a:t>Broadcast</a:t>
            </a:r>
            <a:r>
              <a:rPr sz="400" dirty="0">
                <a:solidFill>
                  <a:srgbClr val="151515"/>
                </a:solidFill>
                <a:latin typeface="Arial"/>
                <a:cs typeface="Arial"/>
              </a:rPr>
              <a:t>	</a:t>
            </a:r>
            <a:r>
              <a:rPr sz="600" baseline="6944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600" spc="67" baseline="6944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5" baseline="6944" dirty="0">
                <a:solidFill>
                  <a:srgbClr val="151515"/>
                </a:solidFill>
                <a:latin typeface="Arial"/>
                <a:cs typeface="Arial"/>
              </a:rPr>
              <a:t>upload</a:t>
            </a:r>
            <a:r>
              <a:rPr sz="600" baseline="6944" dirty="0">
                <a:solidFill>
                  <a:srgbClr val="151515"/>
                </a:solidFill>
                <a:latin typeface="Arial"/>
                <a:cs typeface="Arial"/>
              </a:rPr>
              <a:t>	Forgetting</a:t>
            </a:r>
            <a:r>
              <a:rPr sz="600" spc="60" baseline="6944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5" baseline="6944" dirty="0">
                <a:solidFill>
                  <a:srgbClr val="151515"/>
                </a:solidFill>
                <a:latin typeface="Arial"/>
                <a:cs typeface="Arial"/>
              </a:rPr>
              <a:t>communication</a:t>
            </a:r>
            <a:endParaRPr sz="600" baseline="694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Only</a:t>
            </a:r>
            <a:r>
              <a:rPr sz="900" b="1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parameters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move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–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raw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data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never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leaves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9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6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147559" y="3069257"/>
            <a:ext cx="34651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Federated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communication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workflow: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Figure 2,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 (2026);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FedAvg: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McMahan et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spc="-2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AISTATS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spc="-20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2017</a:t>
            </a:r>
            <a:endParaRPr sz="500">
              <a:latin typeface="Arial"/>
              <a:cs typeface="Arial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0E534C9-D884-7899-62CD-35FE9D946C7A}"/>
              </a:ext>
            </a:extLst>
          </p:cNvPr>
          <p:cNvSpPr/>
          <p:nvPr/>
        </p:nvSpPr>
        <p:spPr>
          <a:xfrm>
            <a:off x="977900" y="555625"/>
            <a:ext cx="3886200" cy="2245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E94E573-406C-B19E-D9AC-DC5613AC2A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40" y="672985"/>
            <a:ext cx="3530519" cy="196139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Quantum</a:t>
            </a:r>
            <a:r>
              <a:rPr spc="-35" dirty="0"/>
              <a:t> </a:t>
            </a:r>
            <a:r>
              <a:rPr dirty="0"/>
              <a:t>Model:</a:t>
            </a:r>
            <a:r>
              <a:rPr spc="2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spc="-10" dirty="0"/>
              <a:t>Re-</a:t>
            </a:r>
            <a:r>
              <a:rPr dirty="0"/>
              <a:t>Uploading</a:t>
            </a:r>
            <a:r>
              <a:rPr spc="-35" dirty="0"/>
              <a:t> </a:t>
            </a:r>
            <a:r>
              <a:rPr spc="-10" dirty="0"/>
              <a:t>Ansatz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9969" y="1501335"/>
            <a:ext cx="32384" cy="0"/>
          </a:xfrm>
          <a:custGeom>
            <a:avLst/>
            <a:gdLst/>
            <a:ahLst/>
            <a:cxnLst/>
            <a:rect l="l" t="t" r="r" b="b"/>
            <a:pathLst>
              <a:path w="32384">
                <a:moveTo>
                  <a:pt x="0" y="0"/>
                </a:moveTo>
                <a:lnTo>
                  <a:pt x="32389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0279" y="1501335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4162" y="15013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54810" y="15013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8693" y="15013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09340" y="15013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13224" y="1501335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402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69969" y="1463812"/>
            <a:ext cx="3178810" cy="527050"/>
            <a:chOff x="569969" y="1463812"/>
            <a:chExt cx="3178810" cy="527050"/>
          </a:xfrm>
        </p:grpSpPr>
        <p:sp>
          <p:nvSpPr>
            <p:cNvPr id="12" name="object 12"/>
            <p:cNvSpPr/>
            <p:nvPr/>
          </p:nvSpPr>
          <p:spPr>
            <a:xfrm>
              <a:off x="569969" y="1501335"/>
              <a:ext cx="3178810" cy="452120"/>
            </a:xfrm>
            <a:custGeom>
              <a:avLst/>
              <a:gdLst/>
              <a:ahLst/>
              <a:cxnLst/>
              <a:rect l="l" t="t" r="r" b="b"/>
              <a:pathLst>
                <a:path w="3178810" h="452119">
                  <a:moveTo>
                    <a:pt x="280957" y="0"/>
                  </a:moveTo>
                  <a:lnTo>
                    <a:pt x="936272" y="0"/>
                  </a:lnTo>
                </a:path>
                <a:path w="3178810" h="452119">
                  <a:moveTo>
                    <a:pt x="1335487" y="0"/>
                  </a:moveTo>
                  <a:lnTo>
                    <a:pt x="1990803" y="0"/>
                  </a:lnTo>
                </a:path>
                <a:path w="3178810" h="452119">
                  <a:moveTo>
                    <a:pt x="2390018" y="0"/>
                  </a:moveTo>
                  <a:lnTo>
                    <a:pt x="3045334" y="0"/>
                  </a:lnTo>
                </a:path>
                <a:path w="3178810" h="452119">
                  <a:moveTo>
                    <a:pt x="280957" y="150647"/>
                  </a:moveTo>
                  <a:lnTo>
                    <a:pt x="634978" y="150647"/>
                  </a:lnTo>
                </a:path>
                <a:path w="3178810" h="452119">
                  <a:moveTo>
                    <a:pt x="732898" y="150647"/>
                  </a:moveTo>
                  <a:lnTo>
                    <a:pt x="936272" y="150647"/>
                  </a:lnTo>
                </a:path>
                <a:path w="3178810" h="452119">
                  <a:moveTo>
                    <a:pt x="0" y="150647"/>
                  </a:moveTo>
                  <a:lnTo>
                    <a:pt x="32389" y="150647"/>
                  </a:lnTo>
                </a:path>
                <a:path w="3178810" h="452119">
                  <a:moveTo>
                    <a:pt x="130309" y="150647"/>
                  </a:moveTo>
                  <a:lnTo>
                    <a:pt x="183036" y="150647"/>
                  </a:lnTo>
                </a:path>
                <a:path w="3178810" h="452119">
                  <a:moveTo>
                    <a:pt x="1034193" y="150647"/>
                  </a:moveTo>
                  <a:lnTo>
                    <a:pt x="1086919" y="150647"/>
                  </a:lnTo>
                </a:path>
                <a:path w="3178810" h="452119">
                  <a:moveTo>
                    <a:pt x="1787429" y="150647"/>
                  </a:moveTo>
                  <a:lnTo>
                    <a:pt x="1990803" y="150647"/>
                  </a:lnTo>
                </a:path>
                <a:path w="3178810" h="452119">
                  <a:moveTo>
                    <a:pt x="1184840" y="150647"/>
                  </a:moveTo>
                  <a:lnTo>
                    <a:pt x="1689508" y="150647"/>
                  </a:lnTo>
                </a:path>
                <a:path w="3178810" h="452119">
                  <a:moveTo>
                    <a:pt x="2088724" y="150647"/>
                  </a:moveTo>
                  <a:lnTo>
                    <a:pt x="2141450" y="150647"/>
                  </a:lnTo>
                </a:path>
                <a:path w="3178810" h="452119">
                  <a:moveTo>
                    <a:pt x="2841960" y="150647"/>
                  </a:moveTo>
                  <a:lnTo>
                    <a:pt x="3178656" y="150647"/>
                  </a:lnTo>
                </a:path>
                <a:path w="3178810" h="452119">
                  <a:moveTo>
                    <a:pt x="2239371" y="150647"/>
                  </a:moveTo>
                  <a:lnTo>
                    <a:pt x="2744039" y="150647"/>
                  </a:lnTo>
                </a:path>
                <a:path w="3178810" h="452119">
                  <a:moveTo>
                    <a:pt x="280957" y="301294"/>
                  </a:moveTo>
                  <a:lnTo>
                    <a:pt x="936272" y="301294"/>
                  </a:lnTo>
                </a:path>
                <a:path w="3178810" h="452119">
                  <a:moveTo>
                    <a:pt x="1335487" y="301294"/>
                  </a:moveTo>
                  <a:lnTo>
                    <a:pt x="1990803" y="301294"/>
                  </a:lnTo>
                </a:path>
                <a:path w="3178810" h="452119">
                  <a:moveTo>
                    <a:pt x="2390018" y="301294"/>
                  </a:moveTo>
                  <a:lnTo>
                    <a:pt x="3045334" y="301294"/>
                  </a:lnTo>
                </a:path>
                <a:path w="3178810" h="452119">
                  <a:moveTo>
                    <a:pt x="280957" y="451941"/>
                  </a:moveTo>
                  <a:lnTo>
                    <a:pt x="936272" y="451941"/>
                  </a:lnTo>
                </a:path>
                <a:path w="3178810" h="452119">
                  <a:moveTo>
                    <a:pt x="1335487" y="451941"/>
                  </a:moveTo>
                  <a:lnTo>
                    <a:pt x="1990803" y="451941"/>
                  </a:lnTo>
                </a:path>
                <a:path w="3178810" h="452119">
                  <a:moveTo>
                    <a:pt x="2390018" y="451941"/>
                  </a:moveTo>
                  <a:lnTo>
                    <a:pt x="3045334" y="451941"/>
                  </a:lnTo>
                </a:path>
              </a:pathLst>
            </a:custGeom>
            <a:ln w="6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2613" y="1501335"/>
              <a:ext cx="2561590" cy="452120"/>
            </a:xfrm>
            <a:custGeom>
              <a:avLst/>
              <a:gdLst/>
              <a:ahLst/>
              <a:cxnLst/>
              <a:rect l="l" t="t" r="r" b="b"/>
              <a:pathLst>
                <a:path w="2561590" h="452119">
                  <a:moveTo>
                    <a:pt x="0" y="150647"/>
                  </a:moveTo>
                  <a:lnTo>
                    <a:pt x="0" y="0"/>
                  </a:lnTo>
                </a:path>
                <a:path w="2561590" h="452119">
                  <a:moveTo>
                    <a:pt x="150647" y="301294"/>
                  </a:moveTo>
                  <a:lnTo>
                    <a:pt x="150647" y="150647"/>
                  </a:lnTo>
                </a:path>
                <a:path w="2561590" h="452119">
                  <a:moveTo>
                    <a:pt x="301294" y="451941"/>
                  </a:moveTo>
                  <a:lnTo>
                    <a:pt x="301294" y="301294"/>
                  </a:lnTo>
                </a:path>
                <a:path w="2561590" h="452119">
                  <a:moveTo>
                    <a:pt x="451941" y="451941"/>
                  </a:moveTo>
                  <a:lnTo>
                    <a:pt x="451941" y="0"/>
                  </a:lnTo>
                </a:path>
                <a:path w="2561590" h="452119">
                  <a:moveTo>
                    <a:pt x="1054530" y="150647"/>
                  </a:moveTo>
                  <a:lnTo>
                    <a:pt x="1054530" y="0"/>
                  </a:lnTo>
                </a:path>
                <a:path w="2561590" h="452119">
                  <a:moveTo>
                    <a:pt x="1205178" y="301294"/>
                  </a:moveTo>
                  <a:lnTo>
                    <a:pt x="1205178" y="150647"/>
                  </a:lnTo>
                </a:path>
                <a:path w="2561590" h="452119">
                  <a:moveTo>
                    <a:pt x="1355825" y="451941"/>
                  </a:moveTo>
                  <a:lnTo>
                    <a:pt x="1355825" y="301294"/>
                  </a:lnTo>
                </a:path>
                <a:path w="2561590" h="452119">
                  <a:moveTo>
                    <a:pt x="1506472" y="451941"/>
                  </a:moveTo>
                  <a:lnTo>
                    <a:pt x="1506472" y="0"/>
                  </a:lnTo>
                </a:path>
                <a:path w="2561590" h="452119">
                  <a:moveTo>
                    <a:pt x="2109061" y="150647"/>
                  </a:moveTo>
                  <a:lnTo>
                    <a:pt x="2109061" y="0"/>
                  </a:lnTo>
                </a:path>
                <a:path w="2561590" h="452119">
                  <a:moveTo>
                    <a:pt x="2259708" y="301294"/>
                  </a:moveTo>
                  <a:lnTo>
                    <a:pt x="2259708" y="150647"/>
                  </a:lnTo>
                </a:path>
                <a:path w="2561590" h="452119">
                  <a:moveTo>
                    <a:pt x="2410356" y="451941"/>
                  </a:moveTo>
                  <a:lnTo>
                    <a:pt x="2410356" y="301294"/>
                  </a:lnTo>
                </a:path>
                <a:path w="2561590" h="452119">
                  <a:moveTo>
                    <a:pt x="2561003" y="451941"/>
                  </a:moveTo>
                  <a:lnTo>
                    <a:pt x="2561003" y="0"/>
                  </a:lnTo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2358" y="160302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7920" y="0"/>
                  </a:moveTo>
                  <a:lnTo>
                    <a:pt x="0" y="0"/>
                  </a:lnTo>
                  <a:lnTo>
                    <a:pt x="0" y="97920"/>
                  </a:lnTo>
                  <a:lnTo>
                    <a:pt x="97920" y="97920"/>
                  </a:lnTo>
                  <a:lnTo>
                    <a:pt x="97920" y="0"/>
                  </a:lnTo>
                  <a:close/>
                </a:path>
              </a:pathLst>
            </a:custGeom>
            <a:solidFill>
              <a:srgbClr val="BA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358" y="1603021"/>
              <a:ext cx="248920" cy="98425"/>
            </a:xfrm>
            <a:custGeom>
              <a:avLst/>
              <a:gdLst/>
              <a:ahLst/>
              <a:cxnLst/>
              <a:rect l="l" t="t" r="r" b="b"/>
              <a:pathLst>
                <a:path w="248919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  <a:path w="248919" h="98425">
                  <a:moveTo>
                    <a:pt x="150647" y="97920"/>
                  </a:moveTo>
                  <a:lnTo>
                    <a:pt x="248567" y="97920"/>
                  </a:lnTo>
                  <a:lnTo>
                    <a:pt x="248567" y="0"/>
                  </a:lnTo>
                  <a:lnTo>
                    <a:pt x="150647" y="0"/>
                  </a:lnTo>
                  <a:lnTo>
                    <a:pt x="150647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7925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7925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8341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8341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8572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8572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8988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68988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39219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9219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19635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9635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04947" y="160302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89867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89867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70283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70283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06242" y="1603021"/>
              <a:ext cx="248920" cy="98425"/>
            </a:xfrm>
            <a:custGeom>
              <a:avLst/>
              <a:gdLst/>
              <a:ahLst/>
              <a:cxnLst/>
              <a:rect l="l" t="t" r="r" b="b"/>
              <a:pathLst>
                <a:path w="248919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  <a:path w="248919" h="98425">
                  <a:moveTo>
                    <a:pt x="150647" y="97920"/>
                  </a:moveTo>
                  <a:lnTo>
                    <a:pt x="248567" y="97920"/>
                  </a:lnTo>
                  <a:lnTo>
                    <a:pt x="248567" y="0"/>
                  </a:lnTo>
                  <a:lnTo>
                    <a:pt x="150647" y="0"/>
                  </a:lnTo>
                  <a:lnTo>
                    <a:pt x="150647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92456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92456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72872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72872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43103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43103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23519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3519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93750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93750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74166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74166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59478" y="160302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44397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44397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24813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24813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560773" y="1603021"/>
              <a:ext cx="248920" cy="98425"/>
            </a:xfrm>
            <a:custGeom>
              <a:avLst/>
              <a:gdLst/>
              <a:ahLst/>
              <a:cxnLst/>
              <a:rect l="l" t="t" r="r" b="b"/>
              <a:pathLst>
                <a:path w="248919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  <a:path w="248919" h="98425">
                  <a:moveTo>
                    <a:pt x="150647" y="97920"/>
                  </a:moveTo>
                  <a:lnTo>
                    <a:pt x="248567" y="97920"/>
                  </a:lnTo>
                  <a:lnTo>
                    <a:pt x="248567" y="0"/>
                  </a:lnTo>
                  <a:lnTo>
                    <a:pt x="150647" y="0"/>
                  </a:lnTo>
                  <a:lnTo>
                    <a:pt x="150647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46986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46986" y="1486646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27402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027402" y="16177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97634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97634" y="1637294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4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78050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178050" y="1768357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48281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5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48281" y="1787941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5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328697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328697" y="1919004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314009" y="1603021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98928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5" h="29844">
                  <a:moveTo>
                    <a:pt x="18583" y="0"/>
                  </a:moveTo>
                  <a:lnTo>
                    <a:pt x="10792" y="0"/>
                  </a:lnTo>
                  <a:lnTo>
                    <a:pt x="7056" y="1547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lnTo>
                    <a:pt x="18583" y="29376"/>
                  </a:lnTo>
                  <a:lnTo>
                    <a:pt x="22319" y="27828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2319" y="1547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498928" y="1938588"/>
              <a:ext cx="29845" cy="29845"/>
            </a:xfrm>
            <a:custGeom>
              <a:avLst/>
              <a:gdLst/>
              <a:ahLst/>
              <a:cxnLst/>
              <a:rect l="l" t="t" r="r" b="b"/>
              <a:pathLst>
                <a:path w="29845" h="29844">
                  <a:moveTo>
                    <a:pt x="14688" y="29376"/>
                  </a:moveTo>
                  <a:lnTo>
                    <a:pt x="18583" y="29376"/>
                  </a:lnTo>
                  <a:lnTo>
                    <a:pt x="22319" y="27828"/>
                  </a:lnTo>
                  <a:lnTo>
                    <a:pt x="25074" y="25074"/>
                  </a:lnTo>
                  <a:lnTo>
                    <a:pt x="27828" y="22319"/>
                  </a:lnTo>
                  <a:lnTo>
                    <a:pt x="29376" y="18583"/>
                  </a:lnTo>
                  <a:lnTo>
                    <a:pt x="29376" y="14688"/>
                  </a:lnTo>
                  <a:lnTo>
                    <a:pt x="29376" y="10792"/>
                  </a:lnTo>
                  <a:lnTo>
                    <a:pt x="27828" y="7056"/>
                  </a:lnTo>
                  <a:lnTo>
                    <a:pt x="25074" y="4302"/>
                  </a:lnTo>
                  <a:lnTo>
                    <a:pt x="22319" y="1547"/>
                  </a:lnTo>
                  <a:lnTo>
                    <a:pt x="18583" y="0"/>
                  </a:lnTo>
                  <a:lnTo>
                    <a:pt x="14688" y="0"/>
                  </a:lnTo>
                  <a:lnTo>
                    <a:pt x="10792" y="0"/>
                  </a:lnTo>
                  <a:lnTo>
                    <a:pt x="7056" y="1547"/>
                  </a:lnTo>
                  <a:lnTo>
                    <a:pt x="4302" y="4302"/>
                  </a:lnTo>
                  <a:lnTo>
                    <a:pt x="1547" y="7056"/>
                  </a:lnTo>
                  <a:lnTo>
                    <a:pt x="0" y="10792"/>
                  </a:lnTo>
                  <a:lnTo>
                    <a:pt x="0" y="14688"/>
                  </a:lnTo>
                  <a:lnTo>
                    <a:pt x="0" y="18583"/>
                  </a:lnTo>
                  <a:lnTo>
                    <a:pt x="1547" y="22319"/>
                  </a:lnTo>
                  <a:lnTo>
                    <a:pt x="4302" y="25074"/>
                  </a:lnTo>
                  <a:lnTo>
                    <a:pt x="7056" y="27828"/>
                  </a:lnTo>
                  <a:lnTo>
                    <a:pt x="10792" y="29376"/>
                  </a:lnTo>
                  <a:lnTo>
                    <a:pt x="14688" y="29376"/>
                  </a:lnTo>
                  <a:close/>
                </a:path>
              </a:pathLst>
            </a:custGeom>
            <a:ln w="4874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479344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34272" y="0"/>
                  </a:moveTo>
                  <a:lnTo>
                    <a:pt x="664" y="2755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lnTo>
                    <a:pt x="40989" y="6787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close/>
                </a:path>
              </a:pathLst>
            </a:custGeom>
            <a:solidFill>
              <a:srgbClr val="6E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79344" y="1467062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34272" y="68544"/>
                  </a:moveTo>
                  <a:lnTo>
                    <a:pt x="67879" y="40989"/>
                  </a:lnTo>
                  <a:lnTo>
                    <a:pt x="68544" y="34272"/>
                  </a:lnTo>
                  <a:lnTo>
                    <a:pt x="67879" y="27554"/>
                  </a:lnTo>
                  <a:lnTo>
                    <a:pt x="34272" y="0"/>
                  </a:lnTo>
                  <a:lnTo>
                    <a:pt x="27554" y="664"/>
                  </a:lnTo>
                  <a:lnTo>
                    <a:pt x="0" y="34272"/>
                  </a:lnTo>
                  <a:lnTo>
                    <a:pt x="664" y="40989"/>
                  </a:lnTo>
                  <a:lnTo>
                    <a:pt x="34272" y="68544"/>
                  </a:lnTo>
                  <a:close/>
                </a:path>
              </a:pathLst>
            </a:custGeom>
            <a:ln w="6499">
              <a:solidFill>
                <a:srgbClr val="6EA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33029" y="1481750"/>
              <a:ext cx="2600325" cy="491490"/>
            </a:xfrm>
            <a:custGeom>
              <a:avLst/>
              <a:gdLst/>
              <a:ahLst/>
              <a:cxnLst/>
              <a:rect l="l" t="t" r="r" b="b"/>
              <a:pathLst>
                <a:path w="2600325" h="491489">
                  <a:moveTo>
                    <a:pt x="19584" y="189815"/>
                  </a:moveTo>
                  <a:lnTo>
                    <a:pt x="19584" y="150647"/>
                  </a:lnTo>
                </a:path>
                <a:path w="2600325" h="491489">
                  <a:moveTo>
                    <a:pt x="0" y="170231"/>
                  </a:moveTo>
                  <a:lnTo>
                    <a:pt x="39168" y="170231"/>
                  </a:lnTo>
                </a:path>
                <a:path w="2600325" h="491489">
                  <a:moveTo>
                    <a:pt x="170231" y="340462"/>
                  </a:moveTo>
                  <a:lnTo>
                    <a:pt x="170231" y="301294"/>
                  </a:lnTo>
                </a:path>
                <a:path w="2600325" h="491489">
                  <a:moveTo>
                    <a:pt x="150647" y="320878"/>
                  </a:moveTo>
                  <a:lnTo>
                    <a:pt x="189815" y="320878"/>
                  </a:lnTo>
                </a:path>
                <a:path w="2600325" h="491489">
                  <a:moveTo>
                    <a:pt x="320878" y="491110"/>
                  </a:moveTo>
                  <a:lnTo>
                    <a:pt x="320878" y="451941"/>
                  </a:lnTo>
                </a:path>
                <a:path w="2600325" h="491489">
                  <a:moveTo>
                    <a:pt x="301294" y="471525"/>
                  </a:moveTo>
                  <a:lnTo>
                    <a:pt x="340462" y="471525"/>
                  </a:lnTo>
                </a:path>
                <a:path w="2600325" h="491489">
                  <a:moveTo>
                    <a:pt x="471525" y="39168"/>
                  </a:moveTo>
                  <a:lnTo>
                    <a:pt x="471525" y="0"/>
                  </a:lnTo>
                </a:path>
                <a:path w="2600325" h="491489">
                  <a:moveTo>
                    <a:pt x="451941" y="19584"/>
                  </a:moveTo>
                  <a:lnTo>
                    <a:pt x="491110" y="19584"/>
                  </a:lnTo>
                </a:path>
                <a:path w="2600325" h="491489">
                  <a:moveTo>
                    <a:pt x="1074114" y="189815"/>
                  </a:moveTo>
                  <a:lnTo>
                    <a:pt x="1074114" y="150647"/>
                  </a:lnTo>
                </a:path>
                <a:path w="2600325" h="491489">
                  <a:moveTo>
                    <a:pt x="1054530" y="170231"/>
                  </a:moveTo>
                  <a:lnTo>
                    <a:pt x="1093699" y="170231"/>
                  </a:lnTo>
                </a:path>
                <a:path w="2600325" h="491489">
                  <a:moveTo>
                    <a:pt x="1224762" y="340462"/>
                  </a:moveTo>
                  <a:lnTo>
                    <a:pt x="1224762" y="301294"/>
                  </a:lnTo>
                </a:path>
                <a:path w="2600325" h="491489">
                  <a:moveTo>
                    <a:pt x="1205178" y="320878"/>
                  </a:moveTo>
                  <a:lnTo>
                    <a:pt x="1244346" y="320878"/>
                  </a:lnTo>
                </a:path>
                <a:path w="2600325" h="491489">
                  <a:moveTo>
                    <a:pt x="1375409" y="491110"/>
                  </a:moveTo>
                  <a:lnTo>
                    <a:pt x="1375409" y="451941"/>
                  </a:lnTo>
                </a:path>
                <a:path w="2600325" h="491489">
                  <a:moveTo>
                    <a:pt x="1355825" y="471525"/>
                  </a:moveTo>
                  <a:lnTo>
                    <a:pt x="1394993" y="471525"/>
                  </a:lnTo>
                </a:path>
                <a:path w="2600325" h="491489">
                  <a:moveTo>
                    <a:pt x="1526056" y="39168"/>
                  </a:moveTo>
                  <a:lnTo>
                    <a:pt x="1526056" y="0"/>
                  </a:lnTo>
                </a:path>
                <a:path w="2600325" h="491489">
                  <a:moveTo>
                    <a:pt x="1506472" y="19584"/>
                  </a:moveTo>
                  <a:lnTo>
                    <a:pt x="1545640" y="19584"/>
                  </a:lnTo>
                </a:path>
                <a:path w="2600325" h="491489">
                  <a:moveTo>
                    <a:pt x="2128645" y="189815"/>
                  </a:moveTo>
                  <a:lnTo>
                    <a:pt x="2128645" y="150647"/>
                  </a:lnTo>
                </a:path>
                <a:path w="2600325" h="491489">
                  <a:moveTo>
                    <a:pt x="2109061" y="170231"/>
                  </a:moveTo>
                  <a:lnTo>
                    <a:pt x="2148229" y="170231"/>
                  </a:lnTo>
                </a:path>
                <a:path w="2600325" h="491489">
                  <a:moveTo>
                    <a:pt x="2279292" y="340462"/>
                  </a:moveTo>
                  <a:lnTo>
                    <a:pt x="2279292" y="301294"/>
                  </a:lnTo>
                </a:path>
                <a:path w="2600325" h="491489">
                  <a:moveTo>
                    <a:pt x="2259708" y="320878"/>
                  </a:moveTo>
                  <a:lnTo>
                    <a:pt x="2298877" y="320878"/>
                  </a:lnTo>
                </a:path>
                <a:path w="2600325" h="491489">
                  <a:moveTo>
                    <a:pt x="2429940" y="491110"/>
                  </a:moveTo>
                  <a:lnTo>
                    <a:pt x="2429940" y="451941"/>
                  </a:lnTo>
                </a:path>
                <a:path w="2600325" h="491489">
                  <a:moveTo>
                    <a:pt x="2410356" y="471525"/>
                  </a:moveTo>
                  <a:lnTo>
                    <a:pt x="2449524" y="471525"/>
                  </a:lnTo>
                </a:path>
                <a:path w="2600325" h="491489">
                  <a:moveTo>
                    <a:pt x="2580587" y="39168"/>
                  </a:moveTo>
                  <a:lnTo>
                    <a:pt x="2580587" y="0"/>
                  </a:lnTo>
                </a:path>
                <a:path w="2600325" h="491489">
                  <a:moveTo>
                    <a:pt x="2561003" y="19584"/>
                  </a:moveTo>
                  <a:lnTo>
                    <a:pt x="2600171" y="19584"/>
                  </a:lnTo>
                </a:path>
              </a:pathLst>
            </a:custGeom>
            <a:ln w="64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/>
          <p:nvPr/>
        </p:nvSpPr>
        <p:spPr>
          <a:xfrm>
            <a:off x="1604162" y="1802629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54810" y="1802629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658693" y="1802629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809340" y="1802629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713224" y="1802629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402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5"/>
          <p:cNvGrpSpPr/>
          <p:nvPr/>
        </p:nvGrpSpPr>
        <p:grpSpPr>
          <a:xfrm>
            <a:off x="569969" y="1751231"/>
            <a:ext cx="183515" cy="102870"/>
            <a:chOff x="569969" y="1751231"/>
            <a:chExt cx="183515" cy="102870"/>
          </a:xfrm>
        </p:grpSpPr>
        <p:sp>
          <p:nvSpPr>
            <p:cNvPr id="76" name="object 76"/>
            <p:cNvSpPr/>
            <p:nvPr/>
          </p:nvSpPr>
          <p:spPr>
            <a:xfrm>
              <a:off x="569969" y="1802629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0" y="0"/>
                  </a:moveTo>
                  <a:lnTo>
                    <a:pt x="32389" y="0"/>
                  </a:lnTo>
                </a:path>
                <a:path w="183515">
                  <a:moveTo>
                    <a:pt x="130309" y="0"/>
                  </a:moveTo>
                  <a:lnTo>
                    <a:pt x="183036" y="0"/>
                  </a:lnTo>
                </a:path>
              </a:pathLst>
            </a:custGeom>
            <a:ln w="6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2358" y="1753669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7920" y="0"/>
                  </a:moveTo>
                  <a:lnTo>
                    <a:pt x="0" y="0"/>
                  </a:lnTo>
                  <a:lnTo>
                    <a:pt x="0" y="97920"/>
                  </a:lnTo>
                  <a:lnTo>
                    <a:pt x="97920" y="97920"/>
                  </a:lnTo>
                  <a:lnTo>
                    <a:pt x="97920" y="0"/>
                  </a:lnTo>
                  <a:close/>
                </a:path>
              </a:pathLst>
            </a:custGeom>
            <a:solidFill>
              <a:srgbClr val="BA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02358" y="1753669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/>
          <p:nvPr/>
        </p:nvSpPr>
        <p:spPr>
          <a:xfrm>
            <a:off x="1604162" y="1953276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754810" y="1953276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658693" y="1953276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809340" y="1953276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2726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713224" y="1953276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402" y="0"/>
                </a:lnTo>
              </a:path>
            </a:pathLst>
          </a:custGeom>
          <a:ln w="6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4" name="object 84"/>
          <p:cNvGrpSpPr/>
          <p:nvPr/>
        </p:nvGrpSpPr>
        <p:grpSpPr>
          <a:xfrm>
            <a:off x="569969" y="1901879"/>
            <a:ext cx="183515" cy="102870"/>
            <a:chOff x="569969" y="1901879"/>
            <a:chExt cx="183515" cy="102870"/>
          </a:xfrm>
        </p:grpSpPr>
        <p:sp>
          <p:nvSpPr>
            <p:cNvPr id="85" name="object 85"/>
            <p:cNvSpPr/>
            <p:nvPr/>
          </p:nvSpPr>
          <p:spPr>
            <a:xfrm>
              <a:off x="569969" y="1953276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0" y="0"/>
                  </a:moveTo>
                  <a:lnTo>
                    <a:pt x="32389" y="0"/>
                  </a:lnTo>
                </a:path>
                <a:path w="183515">
                  <a:moveTo>
                    <a:pt x="130309" y="0"/>
                  </a:moveTo>
                  <a:lnTo>
                    <a:pt x="183036" y="0"/>
                  </a:lnTo>
                </a:path>
              </a:pathLst>
            </a:custGeom>
            <a:ln w="6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2358" y="1904316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7920" y="0"/>
                  </a:moveTo>
                  <a:lnTo>
                    <a:pt x="0" y="0"/>
                  </a:lnTo>
                  <a:lnTo>
                    <a:pt x="0" y="97920"/>
                  </a:lnTo>
                  <a:lnTo>
                    <a:pt x="97920" y="97920"/>
                  </a:lnTo>
                  <a:lnTo>
                    <a:pt x="97920" y="0"/>
                  </a:lnTo>
                  <a:close/>
                </a:path>
              </a:pathLst>
            </a:custGeom>
            <a:solidFill>
              <a:srgbClr val="BA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2358" y="1904316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0" y="97920"/>
                  </a:moveTo>
                  <a:lnTo>
                    <a:pt x="97920" y="97920"/>
                  </a:lnTo>
                  <a:lnTo>
                    <a:pt x="97920" y="0"/>
                  </a:lnTo>
                  <a:lnTo>
                    <a:pt x="0" y="0"/>
                  </a:lnTo>
                  <a:lnTo>
                    <a:pt x="0" y="97920"/>
                  </a:lnTo>
                  <a:close/>
                </a:path>
              </a:pathLst>
            </a:custGeom>
            <a:ln w="4874">
              <a:solidFill>
                <a:srgbClr val="BA8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452991" y="1450250"/>
            <a:ext cx="12128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00" i="1" spc="-37" baseline="6944" dirty="0">
                <a:latin typeface="Times New Roman"/>
                <a:cs typeface="Times New Roman"/>
              </a:rPr>
              <a:t>q</a:t>
            </a:r>
            <a:r>
              <a:rPr sz="300" spc="-25" dirty="0">
                <a:latin typeface="Cambria"/>
                <a:cs typeface="Cambria"/>
              </a:rPr>
              <a:t>0</a:t>
            </a:r>
            <a:endParaRPr sz="300">
              <a:latin typeface="Cambria"/>
              <a:cs typeface="Cambr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52991" y="1600897"/>
            <a:ext cx="12128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00" i="1" spc="-37" baseline="6944" dirty="0">
                <a:latin typeface="Times New Roman"/>
                <a:cs typeface="Times New Roman"/>
              </a:rPr>
              <a:t>q</a:t>
            </a:r>
            <a:r>
              <a:rPr sz="300" spc="-25" dirty="0">
                <a:latin typeface="Cambria"/>
                <a:cs typeface="Cambria"/>
              </a:rPr>
              <a:t>1</a:t>
            </a:r>
            <a:endParaRPr sz="300">
              <a:latin typeface="Cambria"/>
              <a:cs typeface="Cambr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52991" y="1751544"/>
            <a:ext cx="12128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00" i="1" spc="-37" baseline="6944" dirty="0">
                <a:latin typeface="Times New Roman"/>
                <a:cs typeface="Times New Roman"/>
              </a:rPr>
              <a:t>q</a:t>
            </a:r>
            <a:r>
              <a:rPr sz="300" spc="-25" dirty="0">
                <a:latin typeface="Cambria"/>
                <a:cs typeface="Cambria"/>
              </a:rPr>
              <a:t>2</a:t>
            </a:r>
            <a:endParaRPr sz="300">
              <a:latin typeface="Cambria"/>
              <a:cs typeface="Cambr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99921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85594" y="1596929"/>
            <a:ext cx="127000" cy="108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43815">
              <a:lnSpc>
                <a:spcPct val="100000"/>
              </a:lnSpc>
              <a:spcBef>
                <a:spcPts val="20"/>
              </a:spcBef>
            </a:pPr>
            <a:r>
              <a:rPr sz="200" spc="-20" dirty="0">
                <a:latin typeface="Times New Roman"/>
                <a:cs typeface="Times New Roman"/>
              </a:rPr>
              <a:t>x[1]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85594" y="1747576"/>
            <a:ext cx="127000" cy="108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43815">
              <a:lnSpc>
                <a:spcPct val="100000"/>
              </a:lnSpc>
              <a:spcBef>
                <a:spcPts val="20"/>
              </a:spcBef>
            </a:pPr>
            <a:r>
              <a:rPr sz="200" spc="-20" dirty="0">
                <a:latin typeface="Times New Roman"/>
                <a:cs typeface="Times New Roman"/>
              </a:rPr>
              <a:t>x[2]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16935" y="1950199"/>
            <a:ext cx="69215" cy="57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" spc="-20" dirty="0">
                <a:latin typeface="Times New Roman"/>
                <a:cs typeface="Times New Roman"/>
              </a:rPr>
              <a:t>x[3]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52991" y="1887661"/>
            <a:ext cx="259079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00" i="1" baseline="-6944" dirty="0">
                <a:latin typeface="Times New Roman"/>
                <a:cs typeface="Times New Roman"/>
              </a:rPr>
              <a:t>q</a:t>
            </a:r>
            <a:r>
              <a:rPr sz="450" baseline="-18518" dirty="0">
                <a:latin typeface="Cambria"/>
                <a:cs typeface="Cambria"/>
              </a:rPr>
              <a:t>3</a:t>
            </a:r>
            <a:r>
              <a:rPr sz="450" spc="382" baseline="-18518" dirty="0">
                <a:latin typeface="Cambria"/>
                <a:cs typeface="Cambria"/>
              </a:rPr>
              <a:t>  </a:t>
            </a: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50568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50568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50568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50568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02510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θ[5]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503804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θ[6]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503804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503804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θ[4]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503804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θ[7]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654452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654452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θ[9]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654452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654452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805099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805099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θ[8]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805099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3495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257041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558335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θ[14]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558335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558335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558335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θ[15]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708982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708982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θ[17]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708982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708982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X</a:t>
            </a:r>
            <a:endParaRPr sz="20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25"/>
              </a:spcBef>
            </a:pPr>
            <a:r>
              <a:rPr sz="200" spc="-20" dirty="0">
                <a:latin typeface="Times New Roman"/>
                <a:cs typeface="Times New Roman"/>
              </a:rPr>
              <a:t>x[3]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859630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θ[18]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859630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θ[16]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859630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Y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θ[19]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311571" y="1600584"/>
            <a:ext cx="102870" cy="102870"/>
          </a:xfrm>
          <a:prstGeom prst="rect">
            <a:avLst/>
          </a:prstGeom>
          <a:solidFill>
            <a:srgbClr val="BA8A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θ[21]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12866" y="1751231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θ[22]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612866" y="1449937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θ[20]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12866" y="1901879"/>
            <a:ext cx="102870" cy="102870"/>
          </a:xfrm>
          <a:prstGeom prst="rect">
            <a:avLst/>
          </a:prstGeom>
          <a:solidFill>
            <a:srgbClr val="BA8AFF"/>
          </a:solidFill>
          <a:ln w="3175">
            <a:solidFill>
              <a:srgbClr val="BA8AF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450" spc="-37" baseline="9259" dirty="0">
                <a:latin typeface="Cambria"/>
                <a:cs typeface="Cambria"/>
              </a:rPr>
              <a:t>R</a:t>
            </a:r>
            <a:r>
              <a:rPr sz="200" spc="-25" dirty="0">
                <a:latin typeface="Cambria"/>
                <a:cs typeface="Cambria"/>
              </a:rPr>
              <a:t>Z</a:t>
            </a:r>
            <a:endParaRPr sz="20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200" spc="-10" dirty="0">
                <a:latin typeface="Times New Roman"/>
                <a:cs typeface="Times New Roman"/>
              </a:rPr>
              <a:t>θ[23]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618997" y="1210805"/>
            <a:ext cx="798830" cy="68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" dirty="0">
                <a:latin typeface="Times New Roman"/>
                <a:cs typeface="Times New Roman"/>
              </a:rPr>
              <a:t>Variational</a:t>
            </a:r>
            <a:r>
              <a:rPr sz="250" spc="80" dirty="0">
                <a:latin typeface="Times New Roman"/>
                <a:cs typeface="Times New Roman"/>
              </a:rPr>
              <a:t> </a:t>
            </a:r>
            <a:r>
              <a:rPr sz="250" dirty="0">
                <a:latin typeface="Times New Roman"/>
                <a:cs typeface="Times New Roman"/>
              </a:rPr>
              <a:t>quantum</a:t>
            </a:r>
            <a:r>
              <a:rPr sz="250" spc="85" dirty="0">
                <a:latin typeface="Times New Roman"/>
                <a:cs typeface="Times New Roman"/>
              </a:rPr>
              <a:t> </a:t>
            </a:r>
            <a:r>
              <a:rPr sz="250" dirty="0">
                <a:latin typeface="Times New Roman"/>
                <a:cs typeface="Times New Roman"/>
              </a:rPr>
              <a:t>circuit</a:t>
            </a:r>
            <a:r>
              <a:rPr sz="250" spc="85" dirty="0">
                <a:latin typeface="Times New Roman"/>
                <a:cs typeface="Times New Roman"/>
              </a:rPr>
              <a:t> </a:t>
            </a:r>
            <a:r>
              <a:rPr sz="250" dirty="0">
                <a:latin typeface="Times New Roman"/>
                <a:cs typeface="Times New Roman"/>
              </a:rPr>
              <a:t>(data</a:t>
            </a:r>
            <a:r>
              <a:rPr sz="250" spc="85" dirty="0">
                <a:latin typeface="Times New Roman"/>
                <a:cs typeface="Times New Roman"/>
              </a:rPr>
              <a:t> </a:t>
            </a:r>
            <a:r>
              <a:rPr sz="250" dirty="0">
                <a:latin typeface="Times New Roman"/>
                <a:cs typeface="Times New Roman"/>
              </a:rPr>
              <a:t>re-uploading</a:t>
            </a:r>
            <a:r>
              <a:rPr sz="250" spc="85" dirty="0">
                <a:latin typeface="Times New Roman"/>
                <a:cs typeface="Times New Roman"/>
              </a:rPr>
              <a:t> </a:t>
            </a:r>
            <a:r>
              <a:rPr sz="250" spc="-10" dirty="0">
                <a:latin typeface="Times New Roman"/>
                <a:cs typeface="Times New Roman"/>
              </a:rPr>
              <a:t>ansatz)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875290" y="1156149"/>
            <a:ext cx="7766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E61FE"/>
                </a:solidFill>
                <a:latin typeface="Arial"/>
                <a:cs typeface="Arial"/>
              </a:rPr>
              <a:t>Configuration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0" name="object 1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7190" y="1336166"/>
            <a:ext cx="1613635" cy="50609"/>
          </a:xfrm>
          <a:prstGeom prst="rect">
            <a:avLst/>
          </a:prstGeom>
        </p:spPr>
      </p:pic>
      <p:sp>
        <p:nvSpPr>
          <p:cNvPr id="131" name="object 131"/>
          <p:cNvSpPr txBox="1"/>
          <p:nvPr/>
        </p:nvSpPr>
        <p:spPr>
          <a:xfrm>
            <a:off x="3946715" y="1329791"/>
            <a:ext cx="1186180" cy="5797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4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qubits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,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3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layers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5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24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trainable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parameters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93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8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Data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re-uploading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via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50" i="1" spc="-37" baseline="-11111" dirty="0">
                <a:solidFill>
                  <a:srgbClr val="151515"/>
                </a:solidFill>
                <a:latin typeface="Arial"/>
                <a:cs typeface="Arial"/>
              </a:rPr>
              <a:t>X</a:t>
            </a:r>
            <a:endParaRPr sz="750" baseline="-11111">
              <a:latin typeface="Arial"/>
              <a:cs typeface="Arial"/>
            </a:endParaRPr>
          </a:p>
          <a:p>
            <a:pPr marL="175260">
              <a:lnSpc>
                <a:spcPts val="810"/>
              </a:lnSpc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encoding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135" name="object 1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7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36" name="object 136"/>
          <p:cNvSpPr txBox="1"/>
          <p:nvPr/>
        </p:nvSpPr>
        <p:spPr>
          <a:xfrm>
            <a:off x="956386" y="3069257"/>
            <a:ext cx="38474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Ansatz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design: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 4.1,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Figure 3,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(2026);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data re-uploading:</a:t>
            </a:r>
            <a:r>
              <a:rPr sz="500" i="1" spc="3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Pérez-Salinas et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Quantum 4:226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(2020)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528388" y="1944080"/>
            <a:ext cx="2838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500" i="1" dirty="0">
                <a:solidFill>
                  <a:srgbClr val="151515"/>
                </a:solidFill>
                <a:latin typeface="Arial"/>
                <a:cs typeface="Arial"/>
              </a:rPr>
              <a:t>Y</a:t>
            </a:r>
            <a:r>
              <a:rPr sz="500" i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50" i="1" baseline="7936" dirty="0">
                <a:solidFill>
                  <a:srgbClr val="151515"/>
                </a:solidFill>
                <a:latin typeface="Meiryo UI"/>
                <a:cs typeface="Meiryo UI"/>
              </a:rPr>
              <a:t>,</a:t>
            </a:r>
            <a:r>
              <a:rPr sz="1050" i="1" spc="569" baseline="7936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500" i="1" spc="-50" dirty="0">
                <a:solidFill>
                  <a:srgbClr val="151515"/>
                </a:solidFill>
                <a:latin typeface="Arial"/>
                <a:cs typeface="Arial"/>
              </a:rPr>
              <a:t>Z</a:t>
            </a:r>
            <a:endParaRPr sz="5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946715" y="1916860"/>
            <a:ext cx="1406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Trainable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00" i="1" spc="22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00" i="1" spc="4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+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ring-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CNOT</a:t>
            </a:r>
            <a:endParaRPr sz="7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934015" y="2001949"/>
            <a:ext cx="1379220" cy="4140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32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entangler</a:t>
            </a:r>
            <a:endParaRPr sz="700">
              <a:latin typeface="Arial"/>
              <a:cs typeface="Arial"/>
            </a:endParaRPr>
          </a:p>
          <a:p>
            <a:pPr marL="187960" marR="43180" indent="-137795">
              <a:lnSpc>
                <a:spcPts val="800"/>
              </a:lnSpc>
              <a:spcBef>
                <a:spcPts val="41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6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Gradients</a:t>
            </a:r>
            <a:r>
              <a:rPr sz="700" spc="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via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parameter-shift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rule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Do</a:t>
            </a:r>
            <a:r>
              <a:rPr spc="-25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Measure</a:t>
            </a:r>
            <a:r>
              <a:rPr spc="-25" dirty="0"/>
              <a:t> </a:t>
            </a:r>
            <a:r>
              <a:rPr dirty="0"/>
              <a:t>Memory?</a:t>
            </a:r>
            <a:r>
              <a:rPr spc="3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Quantum</a:t>
            </a:r>
            <a:r>
              <a:rPr spc="-25" dirty="0"/>
              <a:t> </a:t>
            </a:r>
            <a:r>
              <a:rPr dirty="0"/>
              <a:t>Fisher</a:t>
            </a:r>
            <a:r>
              <a:rPr spc="-25" dirty="0"/>
              <a:t> </a:t>
            </a:r>
            <a:r>
              <a:rPr spc="-10" dirty="0"/>
              <a:t>Information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5858" y="1238236"/>
            <a:ext cx="1848485" cy="401320"/>
            <a:chOff x="695858" y="1238236"/>
            <a:chExt cx="1848485" cy="401320"/>
          </a:xfrm>
        </p:grpSpPr>
        <p:sp>
          <p:nvSpPr>
            <p:cNvPr id="5" name="object 5"/>
            <p:cNvSpPr/>
            <p:nvPr/>
          </p:nvSpPr>
          <p:spPr>
            <a:xfrm>
              <a:off x="698388" y="1240766"/>
              <a:ext cx="1843405" cy="396240"/>
            </a:xfrm>
            <a:custGeom>
              <a:avLst/>
              <a:gdLst/>
              <a:ahLst/>
              <a:cxnLst/>
              <a:rect l="l" t="t" r="r" b="b"/>
              <a:pathLst>
                <a:path w="1843405" h="396239">
                  <a:moveTo>
                    <a:pt x="1805262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8048"/>
                  </a:lnTo>
                  <a:lnTo>
                    <a:pt x="2982" y="372823"/>
                  </a:lnTo>
                  <a:lnTo>
                    <a:pt x="11117" y="384889"/>
                  </a:lnTo>
                  <a:lnTo>
                    <a:pt x="23182" y="393023"/>
                  </a:lnTo>
                  <a:lnTo>
                    <a:pt x="37958" y="396006"/>
                  </a:lnTo>
                  <a:lnTo>
                    <a:pt x="1805262" y="396006"/>
                  </a:lnTo>
                  <a:lnTo>
                    <a:pt x="1820038" y="393023"/>
                  </a:lnTo>
                  <a:lnTo>
                    <a:pt x="1832103" y="384889"/>
                  </a:lnTo>
                  <a:lnTo>
                    <a:pt x="1840238" y="372823"/>
                  </a:lnTo>
                  <a:lnTo>
                    <a:pt x="1843221" y="358048"/>
                  </a:lnTo>
                  <a:lnTo>
                    <a:pt x="1843221" y="37958"/>
                  </a:lnTo>
                  <a:lnTo>
                    <a:pt x="1840238" y="23182"/>
                  </a:lnTo>
                  <a:lnTo>
                    <a:pt x="1832103" y="11117"/>
                  </a:lnTo>
                  <a:lnTo>
                    <a:pt x="1820038" y="2982"/>
                  </a:lnTo>
                  <a:lnTo>
                    <a:pt x="1805262" y="0"/>
                  </a:lnTo>
                  <a:close/>
                </a:path>
              </a:pathLst>
            </a:custGeom>
            <a:solidFill>
              <a:srgbClr val="F9D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8388" y="1240766"/>
              <a:ext cx="1843405" cy="396240"/>
            </a:xfrm>
            <a:custGeom>
              <a:avLst/>
              <a:gdLst/>
              <a:ahLst/>
              <a:cxnLst/>
              <a:rect l="l" t="t" r="r" b="b"/>
              <a:pathLst>
                <a:path w="1843405" h="396239">
                  <a:moveTo>
                    <a:pt x="1805262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8048"/>
                  </a:lnTo>
                  <a:lnTo>
                    <a:pt x="2982" y="372823"/>
                  </a:lnTo>
                  <a:lnTo>
                    <a:pt x="11117" y="384889"/>
                  </a:lnTo>
                  <a:lnTo>
                    <a:pt x="23182" y="393023"/>
                  </a:lnTo>
                  <a:lnTo>
                    <a:pt x="37958" y="396006"/>
                  </a:lnTo>
                  <a:lnTo>
                    <a:pt x="1805262" y="396006"/>
                  </a:lnTo>
                  <a:lnTo>
                    <a:pt x="1820038" y="393023"/>
                  </a:lnTo>
                  <a:lnTo>
                    <a:pt x="1832103" y="384889"/>
                  </a:lnTo>
                  <a:lnTo>
                    <a:pt x="1840238" y="372823"/>
                  </a:lnTo>
                  <a:lnTo>
                    <a:pt x="1843221" y="358048"/>
                  </a:lnTo>
                  <a:lnTo>
                    <a:pt x="1843221" y="37958"/>
                  </a:lnTo>
                  <a:lnTo>
                    <a:pt x="1840238" y="23182"/>
                  </a:lnTo>
                  <a:lnTo>
                    <a:pt x="1832103" y="11117"/>
                  </a:lnTo>
                  <a:lnTo>
                    <a:pt x="1820038" y="2982"/>
                  </a:lnTo>
                  <a:lnTo>
                    <a:pt x="1805262" y="0"/>
                  </a:lnTo>
                  <a:close/>
                </a:path>
              </a:pathLst>
            </a:custGeom>
            <a:ln w="5060">
              <a:solidFill>
                <a:srgbClr val="D91E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0155" y="1290645"/>
            <a:ext cx="7531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High</a:t>
            </a:r>
            <a:r>
              <a:rPr sz="900" b="1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Fisher</a:t>
            </a:r>
            <a:r>
              <a:rPr sz="900" b="1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038" y="1270398"/>
            <a:ext cx="1117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600" i="1" spc="-25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600" spc="-25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7801" y="1362702"/>
            <a:ext cx="1016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3658" y="1454495"/>
            <a:ext cx="17856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state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changes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rapidly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5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important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7457" y="1927307"/>
            <a:ext cx="1805305" cy="401320"/>
            <a:chOff x="717457" y="1927307"/>
            <a:chExt cx="1805305" cy="401320"/>
          </a:xfrm>
        </p:grpSpPr>
        <p:sp>
          <p:nvSpPr>
            <p:cNvPr id="12" name="object 12"/>
            <p:cNvSpPr/>
            <p:nvPr/>
          </p:nvSpPr>
          <p:spPr>
            <a:xfrm>
              <a:off x="719988" y="1929838"/>
              <a:ext cx="1800225" cy="396240"/>
            </a:xfrm>
            <a:custGeom>
              <a:avLst/>
              <a:gdLst/>
              <a:ahLst/>
              <a:cxnLst/>
              <a:rect l="l" t="t" r="r" b="b"/>
              <a:pathLst>
                <a:path w="1800225" h="396239">
                  <a:moveTo>
                    <a:pt x="176206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8048"/>
                  </a:lnTo>
                  <a:lnTo>
                    <a:pt x="2982" y="372823"/>
                  </a:lnTo>
                  <a:lnTo>
                    <a:pt x="11117" y="384889"/>
                  </a:lnTo>
                  <a:lnTo>
                    <a:pt x="23182" y="393024"/>
                  </a:lnTo>
                  <a:lnTo>
                    <a:pt x="37958" y="396006"/>
                  </a:lnTo>
                  <a:lnTo>
                    <a:pt x="1762064" y="396006"/>
                  </a:lnTo>
                  <a:lnTo>
                    <a:pt x="1776839" y="393024"/>
                  </a:lnTo>
                  <a:lnTo>
                    <a:pt x="1788905" y="384889"/>
                  </a:lnTo>
                  <a:lnTo>
                    <a:pt x="1797039" y="372823"/>
                  </a:lnTo>
                  <a:lnTo>
                    <a:pt x="1800022" y="358048"/>
                  </a:lnTo>
                  <a:lnTo>
                    <a:pt x="1800022" y="37958"/>
                  </a:lnTo>
                  <a:lnTo>
                    <a:pt x="1797039" y="23182"/>
                  </a:lnTo>
                  <a:lnTo>
                    <a:pt x="1788905" y="11117"/>
                  </a:lnTo>
                  <a:lnTo>
                    <a:pt x="1776839" y="2982"/>
                  </a:lnTo>
                  <a:lnTo>
                    <a:pt x="1762064" y="0"/>
                  </a:lnTo>
                  <a:close/>
                </a:path>
              </a:pathLst>
            </a:custGeom>
            <a:solidFill>
              <a:srgbClr val="DEF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988" y="1929838"/>
              <a:ext cx="1800225" cy="396240"/>
            </a:xfrm>
            <a:custGeom>
              <a:avLst/>
              <a:gdLst/>
              <a:ahLst/>
              <a:cxnLst/>
              <a:rect l="l" t="t" r="r" b="b"/>
              <a:pathLst>
                <a:path w="1800225" h="396239">
                  <a:moveTo>
                    <a:pt x="176206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58048"/>
                  </a:lnTo>
                  <a:lnTo>
                    <a:pt x="2982" y="372823"/>
                  </a:lnTo>
                  <a:lnTo>
                    <a:pt x="11117" y="384889"/>
                  </a:lnTo>
                  <a:lnTo>
                    <a:pt x="23182" y="393024"/>
                  </a:lnTo>
                  <a:lnTo>
                    <a:pt x="37958" y="396006"/>
                  </a:lnTo>
                  <a:lnTo>
                    <a:pt x="1762064" y="396006"/>
                  </a:lnTo>
                  <a:lnTo>
                    <a:pt x="1776839" y="393024"/>
                  </a:lnTo>
                  <a:lnTo>
                    <a:pt x="1788905" y="384889"/>
                  </a:lnTo>
                  <a:lnTo>
                    <a:pt x="1797039" y="372823"/>
                  </a:lnTo>
                  <a:lnTo>
                    <a:pt x="1800022" y="358048"/>
                  </a:lnTo>
                  <a:lnTo>
                    <a:pt x="1800022" y="37958"/>
                  </a:lnTo>
                  <a:lnTo>
                    <a:pt x="1797039" y="23182"/>
                  </a:lnTo>
                  <a:lnTo>
                    <a:pt x="1788905" y="11117"/>
                  </a:lnTo>
                  <a:lnTo>
                    <a:pt x="1776839" y="2982"/>
                  </a:lnTo>
                  <a:lnTo>
                    <a:pt x="1762064" y="0"/>
                  </a:lnTo>
                  <a:close/>
                </a:path>
              </a:pathLst>
            </a:custGeom>
            <a:ln w="5060">
              <a:solidFill>
                <a:srgbClr val="24A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18538" y="1959462"/>
            <a:ext cx="1117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600" i="1" spc="-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8255" y="1979709"/>
            <a:ext cx="8528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Low</a:t>
            </a:r>
            <a:r>
              <a:rPr sz="900" b="1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Fisher</a:t>
            </a:r>
            <a:r>
              <a:rPr sz="900" b="1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r>
              <a:rPr sz="900" i="1" spc="-37" baseline="-23148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endParaRPr sz="900" baseline="-23148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4034" y="2143559"/>
            <a:ext cx="16719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state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barely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changes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4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not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client-specific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8117" y="1183314"/>
            <a:ext cx="14751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E61FE"/>
                </a:solidFill>
                <a:latin typeface="Arial"/>
                <a:cs typeface="Arial"/>
              </a:rPr>
              <a:t>Parameter-</a:t>
            </a:r>
            <a:r>
              <a:rPr sz="1000" dirty="0">
                <a:solidFill>
                  <a:srgbClr val="0E61FE"/>
                </a:solidFill>
                <a:latin typeface="Arial"/>
                <a:cs typeface="Arial"/>
              </a:rPr>
              <a:t>Shift</a:t>
            </a:r>
            <a:r>
              <a:rPr sz="1000" spc="3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E61FE"/>
                </a:solidFill>
                <a:latin typeface="Arial"/>
                <a:cs typeface="Arial"/>
              </a:rPr>
              <a:t>Estimator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0016" y="1354175"/>
            <a:ext cx="2520810" cy="5060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410813" y="1450601"/>
            <a:ext cx="2895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r>
              <a:rPr sz="600" i="1" spc="1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350" spc="-75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endParaRPr sz="1350" baseline="6172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8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90294" y="3069257"/>
            <a:ext cx="33794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Diagonal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QFIM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estimator:</a:t>
            </a:r>
            <a:r>
              <a:rPr sz="500" i="1" spc="3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Eq. (3),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4.2,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(2026);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Stokes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et 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Quantum 4:269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4"/>
              </a:rPr>
              <a:t>(2020)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8485" y="1407269"/>
            <a:ext cx="6476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95017" y="1435729"/>
            <a:ext cx="889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solidFill>
                  <a:srgbClr val="151515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41242" y="1435729"/>
            <a:ext cx="16236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3060" algn="l"/>
              </a:tabLst>
            </a:pPr>
            <a:r>
              <a:rPr sz="900" i="1" spc="-50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r>
              <a:rPr sz="900" i="1" dirty="0">
                <a:solidFill>
                  <a:srgbClr val="151515"/>
                </a:solidFill>
                <a:latin typeface="Arial"/>
                <a:cs typeface="Arial"/>
              </a:rPr>
              <a:t>	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r>
              <a:rPr sz="9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275" dirty="0">
                <a:solidFill>
                  <a:srgbClr val="151515"/>
                </a:solidFill>
                <a:latin typeface="Source Sans 3"/>
                <a:cs typeface="Source Sans 3"/>
              </a:rPr>
              <a:t>−</a:t>
            </a:r>
            <a:r>
              <a:rPr sz="900" i="1" spc="295" dirty="0">
                <a:solidFill>
                  <a:srgbClr val="151515"/>
                </a:solidFill>
                <a:latin typeface="Source Sans 3"/>
                <a:cs typeface="Source Sans 3"/>
              </a:rPr>
              <a:t> </a:t>
            </a:r>
            <a:r>
              <a:rPr sz="900" i="1" spc="50" dirty="0">
                <a:solidFill>
                  <a:srgbClr val="151515"/>
                </a:solidFill>
                <a:latin typeface="Source Sans 3"/>
                <a:cs typeface="Source Sans 3"/>
              </a:rPr>
              <a:t>⟨</a:t>
            </a:r>
            <a:r>
              <a:rPr sz="900" i="1" spc="50" dirty="0">
                <a:solidFill>
                  <a:srgbClr val="151515"/>
                </a:solidFill>
                <a:latin typeface="Arial"/>
                <a:cs typeface="Arial"/>
              </a:rPr>
              <a:t>ψ</a:t>
            </a:r>
            <a:r>
              <a:rPr sz="900" spc="5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900" b="1" i="1" spc="50" dirty="0">
                <a:solidFill>
                  <a:srgbClr val="151515"/>
                </a:solidFill>
                <a:latin typeface="Arial"/>
                <a:cs typeface="Arial"/>
              </a:rPr>
              <a:t>θ</a:t>
            </a:r>
            <a:r>
              <a:rPr sz="900" spc="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900" spc="-135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900" i="1" spc="60" dirty="0">
                <a:solidFill>
                  <a:srgbClr val="151515"/>
                </a:solidFill>
                <a:latin typeface="Source Sans 3"/>
                <a:cs typeface="Source Sans 3"/>
              </a:rPr>
              <a:t>|</a:t>
            </a:r>
            <a:r>
              <a:rPr sz="900" i="1" spc="60" dirty="0">
                <a:solidFill>
                  <a:srgbClr val="151515"/>
                </a:solidFill>
                <a:latin typeface="Arial"/>
                <a:cs typeface="Arial"/>
              </a:rPr>
              <a:t>ψ</a:t>
            </a:r>
            <a:r>
              <a:rPr sz="900" spc="6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900" b="1" i="1" spc="60" dirty="0">
                <a:solidFill>
                  <a:srgbClr val="151515"/>
                </a:solidFill>
                <a:latin typeface="Arial"/>
                <a:cs typeface="Arial"/>
              </a:rPr>
              <a:t>θ</a:t>
            </a:r>
            <a:r>
              <a:rPr sz="900" b="1" i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Lucida Sans Unicode"/>
                <a:cs typeface="Lucida Sans Unicode"/>
              </a:rPr>
              <a:t>+</a:t>
            </a:r>
            <a:r>
              <a:rPr sz="900" spc="-8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900" i="1" dirty="0">
                <a:solidFill>
                  <a:srgbClr val="151515"/>
                </a:solidFill>
                <a:latin typeface="Arial"/>
                <a:cs typeface="Arial"/>
              </a:rPr>
              <a:t>π</a:t>
            </a:r>
            <a:r>
              <a:rPr sz="900" i="1" spc="2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i="1" spc="-15" baseline="-9259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900" i="1" spc="-89" baseline="-9259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900" i="1" spc="55" dirty="0">
                <a:solidFill>
                  <a:srgbClr val="151515"/>
                </a:solidFill>
                <a:latin typeface="Source Sans 3"/>
                <a:cs typeface="Source Sans 3"/>
              </a:rPr>
              <a:t>⟩</a:t>
            </a:r>
            <a:endParaRPr sz="900">
              <a:latin typeface="Source Sans 3"/>
              <a:cs typeface="Source Sans 3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01234" y="1407269"/>
            <a:ext cx="106680" cy="162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>
              <a:lnSpc>
                <a:spcPts val="355"/>
              </a:lnSpc>
              <a:spcBef>
                <a:spcPts val="105"/>
              </a:spcBef>
            </a:pPr>
            <a:r>
              <a:rPr sz="600" spc="-50" dirty="0">
                <a:solidFill>
                  <a:srgbClr val="151515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5"/>
              </a:lnSpc>
            </a:pPr>
            <a:r>
              <a:rPr sz="900" spc="-5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4941" y="1915069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39541" y="1752052"/>
            <a:ext cx="1212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No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ancilla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qubits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required</a:t>
            </a:r>
            <a:endParaRPr sz="700">
              <a:latin typeface="Arial"/>
              <a:cs typeface="Arial"/>
            </a:endParaRPr>
          </a:p>
          <a:p>
            <a:pPr marL="240029">
              <a:lnSpc>
                <a:spcPct val="100000"/>
              </a:lnSpc>
              <a:spcBef>
                <a:spcPts val="360"/>
              </a:spcBef>
            </a:pPr>
            <a:r>
              <a:rPr sz="500" spc="-25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500" i="1" spc="-25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500" spc="-25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56305" y="2003535"/>
            <a:ext cx="47053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3230" algn="l"/>
              </a:tabLst>
            </a:pPr>
            <a:r>
              <a:rPr sz="750" i="1" spc="-37" baseline="5555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r>
              <a:rPr sz="750" i="1" baseline="5555" dirty="0">
                <a:solidFill>
                  <a:srgbClr val="151515"/>
                </a:solidFill>
                <a:latin typeface="Arial"/>
                <a:cs typeface="Arial"/>
              </a:rPr>
              <a:t>	</a:t>
            </a:r>
            <a:r>
              <a:rPr sz="500" i="1" spc="-50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35273" y="1980243"/>
            <a:ext cx="35433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55" dirty="0">
                <a:solidFill>
                  <a:srgbClr val="151515"/>
                </a:solidFill>
                <a:latin typeface="Arial"/>
                <a:cs typeface="Arial"/>
              </a:rPr>
              <a:t>x</a:t>
            </a:r>
            <a:r>
              <a:rPr sz="500" i="1" spc="55" dirty="0">
                <a:solidFill>
                  <a:srgbClr val="151515"/>
                </a:solidFill>
                <a:latin typeface="Meiryo UI"/>
                <a:cs typeface="Meiryo UI"/>
              </a:rPr>
              <a:t>∼</a:t>
            </a:r>
            <a:r>
              <a:rPr sz="500" i="1" spc="55" dirty="0">
                <a:solidFill>
                  <a:srgbClr val="151515"/>
                </a:solidFill>
                <a:latin typeface="Arial"/>
                <a:cs typeface="Arial"/>
              </a:rPr>
              <a:t>D</a:t>
            </a:r>
            <a:r>
              <a:rPr sz="500" i="1" spc="305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500" i="1" spc="-25" dirty="0">
                <a:solidFill>
                  <a:srgbClr val="151515"/>
                </a:solidFill>
                <a:latin typeface="Arial"/>
                <a:cs typeface="Arial"/>
              </a:rPr>
              <a:t>kk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02190" y="1940372"/>
            <a:ext cx="21132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9590" algn="l"/>
              </a:tabLst>
            </a:pP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r>
              <a:rPr sz="700" i="1" spc="28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700" spc="1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spc="-50" dirty="0">
                <a:solidFill>
                  <a:srgbClr val="151515"/>
                </a:solidFill>
                <a:latin typeface="Arial"/>
                <a:cs typeface="Arial"/>
              </a:rPr>
              <a:t>E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	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[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F</a:t>
            </a:r>
            <a:r>
              <a:rPr sz="700" i="1" spc="4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x</a:t>
            </a:r>
            <a:r>
              <a:rPr sz="700" i="1" spc="-1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)]</a:t>
            </a:r>
            <a:r>
              <a:rPr sz="700" spc="-15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–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averaged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over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’s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inputs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39541" y="2110459"/>
            <a:ext cx="2308225" cy="2457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75260" marR="30480" indent="-137795">
              <a:lnSpc>
                <a:spcPts val="800"/>
              </a:lnSpc>
              <a:spcBef>
                <a:spcPts val="25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6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Hardware-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compatible:</a:t>
            </a:r>
            <a:r>
              <a:rPr sz="700" spc="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reuses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circuits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already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needed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7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training</a:t>
            </a:r>
            <a:r>
              <a:rPr sz="7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gradients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Measure</a:t>
            </a:r>
            <a:r>
              <a:rPr spc="-30" dirty="0"/>
              <a:t> </a:t>
            </a:r>
            <a:r>
              <a:rPr dirty="0"/>
              <a:t>Structural</a:t>
            </a:r>
            <a:r>
              <a:rPr spc="-30" dirty="0"/>
              <a:t> </a:t>
            </a:r>
            <a:r>
              <a:rPr dirty="0"/>
              <a:t>Importance?</a:t>
            </a:r>
            <a:r>
              <a:rPr spc="2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Entanglement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05495" y="1214481"/>
            <a:ext cx="1705610" cy="1338580"/>
            <a:chOff x="605495" y="1214481"/>
            <a:chExt cx="1705610" cy="13385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495" y="1216704"/>
              <a:ext cx="1705223" cy="13058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8648" y="1216704"/>
              <a:ext cx="0" cy="1306195"/>
            </a:xfrm>
            <a:custGeom>
              <a:avLst/>
              <a:gdLst/>
              <a:ahLst/>
              <a:cxnLst/>
              <a:rect l="l" t="t" r="r" b="b"/>
              <a:pathLst>
                <a:path h="1306195">
                  <a:moveTo>
                    <a:pt x="0" y="1305823"/>
                  </a:moveTo>
                  <a:lnTo>
                    <a:pt x="0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8648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8648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88974" y="2545134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41779" y="1214481"/>
            <a:ext cx="6350" cy="1338580"/>
            <a:chOff x="1241779" y="1214481"/>
            <a:chExt cx="6350" cy="1338580"/>
          </a:xfrm>
        </p:grpSpPr>
        <p:sp>
          <p:nvSpPr>
            <p:cNvPr id="11" name="object 11"/>
            <p:cNvSpPr/>
            <p:nvPr/>
          </p:nvSpPr>
          <p:spPr>
            <a:xfrm>
              <a:off x="1244954" y="1216704"/>
              <a:ext cx="0" cy="1306195"/>
            </a:xfrm>
            <a:custGeom>
              <a:avLst/>
              <a:gdLst/>
              <a:ahLst/>
              <a:cxnLst/>
              <a:rect l="l" t="t" r="r" b="b"/>
              <a:pathLst>
                <a:path h="1306195">
                  <a:moveTo>
                    <a:pt x="0" y="1305823"/>
                  </a:moveTo>
                  <a:lnTo>
                    <a:pt x="0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4954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4954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15279" y="2545134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68085" y="1214481"/>
            <a:ext cx="6350" cy="1338580"/>
            <a:chOff x="1668085" y="1214481"/>
            <a:chExt cx="6350" cy="1338580"/>
          </a:xfrm>
        </p:grpSpPr>
        <p:sp>
          <p:nvSpPr>
            <p:cNvPr id="16" name="object 16"/>
            <p:cNvSpPr/>
            <p:nvPr/>
          </p:nvSpPr>
          <p:spPr>
            <a:xfrm>
              <a:off x="1671260" y="1216704"/>
              <a:ext cx="0" cy="1306195"/>
            </a:xfrm>
            <a:custGeom>
              <a:avLst/>
              <a:gdLst/>
              <a:ahLst/>
              <a:cxnLst/>
              <a:rect l="l" t="t" r="r" b="b"/>
              <a:pathLst>
                <a:path h="1306195">
                  <a:moveTo>
                    <a:pt x="0" y="1305823"/>
                  </a:moveTo>
                  <a:lnTo>
                    <a:pt x="0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1260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1260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41585" y="2545134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94391" y="1214481"/>
            <a:ext cx="6350" cy="1338580"/>
            <a:chOff x="2094391" y="1214481"/>
            <a:chExt cx="6350" cy="1338580"/>
          </a:xfrm>
        </p:grpSpPr>
        <p:sp>
          <p:nvSpPr>
            <p:cNvPr id="21" name="object 21"/>
            <p:cNvSpPr/>
            <p:nvPr/>
          </p:nvSpPr>
          <p:spPr>
            <a:xfrm>
              <a:off x="2097566" y="1216704"/>
              <a:ext cx="0" cy="1306195"/>
            </a:xfrm>
            <a:custGeom>
              <a:avLst/>
              <a:gdLst/>
              <a:ahLst/>
              <a:cxnLst/>
              <a:rect l="l" t="t" r="r" b="b"/>
              <a:pathLst>
                <a:path h="1306195">
                  <a:moveTo>
                    <a:pt x="0" y="1305823"/>
                  </a:moveTo>
                  <a:lnTo>
                    <a:pt x="0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97566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97566" y="2522527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5">
                  <a:moveTo>
                    <a:pt x="0" y="0"/>
                  </a:moveTo>
                  <a:lnTo>
                    <a:pt x="0" y="27159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67891" y="2545134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7018" y="2634833"/>
            <a:ext cx="202565" cy="118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spc="-20" dirty="0">
                <a:latin typeface="Times New Roman"/>
                <a:cs typeface="Times New Roman"/>
              </a:rPr>
              <a:t>Qubit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8336" y="1216704"/>
            <a:ext cx="1732914" cy="1309370"/>
            <a:chOff x="578336" y="1216704"/>
            <a:chExt cx="1732914" cy="1309370"/>
          </a:xfrm>
        </p:grpSpPr>
        <p:sp>
          <p:nvSpPr>
            <p:cNvPr id="27" name="object 27"/>
            <p:cNvSpPr/>
            <p:nvPr/>
          </p:nvSpPr>
          <p:spPr>
            <a:xfrm>
              <a:off x="605495" y="1434341"/>
              <a:ext cx="1705610" cy="0"/>
            </a:xfrm>
            <a:custGeom>
              <a:avLst/>
              <a:gdLst/>
              <a:ahLst/>
              <a:cxnLst/>
              <a:rect l="l" t="t" r="r" b="b"/>
              <a:pathLst>
                <a:path w="1705610">
                  <a:moveTo>
                    <a:pt x="0" y="0"/>
                  </a:moveTo>
                  <a:lnTo>
                    <a:pt x="1705223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336" y="143434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8336" y="1434341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5495" y="1869615"/>
              <a:ext cx="1705610" cy="0"/>
            </a:xfrm>
            <a:custGeom>
              <a:avLst/>
              <a:gdLst/>
              <a:ahLst/>
              <a:cxnLst/>
              <a:rect l="l" t="t" r="r" b="b"/>
              <a:pathLst>
                <a:path w="1705610">
                  <a:moveTo>
                    <a:pt x="0" y="0"/>
                  </a:moveTo>
                  <a:lnTo>
                    <a:pt x="1705223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8336" y="186961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8336" y="1869615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5495" y="2304890"/>
              <a:ext cx="1705610" cy="0"/>
            </a:xfrm>
            <a:custGeom>
              <a:avLst/>
              <a:gdLst/>
              <a:ahLst/>
              <a:cxnLst/>
              <a:rect l="l" t="t" r="r" b="b"/>
              <a:pathLst>
                <a:path w="1705610">
                  <a:moveTo>
                    <a:pt x="0" y="0"/>
                  </a:moveTo>
                  <a:lnTo>
                    <a:pt x="1705223" y="0"/>
                  </a:lnTo>
                </a:path>
              </a:pathLst>
            </a:custGeom>
            <a:ln w="3879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8336" y="2304890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8336" y="2304890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5495" y="1216704"/>
              <a:ext cx="1705610" cy="1306195"/>
            </a:xfrm>
            <a:custGeom>
              <a:avLst/>
              <a:gdLst/>
              <a:ahLst/>
              <a:cxnLst/>
              <a:rect l="l" t="t" r="r" b="b"/>
              <a:pathLst>
                <a:path w="1705610" h="1306195">
                  <a:moveTo>
                    <a:pt x="0" y="1305823"/>
                  </a:moveTo>
                  <a:lnTo>
                    <a:pt x="0" y="0"/>
                  </a:lnTo>
                </a:path>
                <a:path w="1705610" h="1306195">
                  <a:moveTo>
                    <a:pt x="0" y="1305823"/>
                  </a:moveTo>
                  <a:lnTo>
                    <a:pt x="1705223" y="1305823"/>
                  </a:lnTo>
                </a:path>
              </a:pathLst>
            </a:custGeom>
            <a:ln w="6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04527" y="1378380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4527" y="1813654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4527" y="2248929"/>
            <a:ext cx="596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7607" y="1766445"/>
            <a:ext cx="111760" cy="20637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spc="-10" dirty="0">
                <a:latin typeface="Times New Roman"/>
                <a:cs typeface="Times New Roman"/>
              </a:rPr>
              <a:t>Layer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8234" y="1372475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0.52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74540" y="1372475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1.00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00846" y="1372475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1.00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27152" y="1372475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1.00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8234" y="1807750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74540" y="1807750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0.88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00846" y="1807750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27152" y="1807750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8234" y="2243024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74540" y="2243024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00846" y="2243024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27152" y="2243024"/>
            <a:ext cx="14097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0" dirty="0">
                <a:solidFill>
                  <a:srgbClr val="FFFFFF"/>
                </a:solidFill>
                <a:latin typeface="Times New Roman"/>
                <a:cs typeface="Times New Roman"/>
              </a:rPr>
              <a:t>0.97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9821" y="990051"/>
            <a:ext cx="1351280" cy="209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730"/>
              </a:lnSpc>
              <a:spcBef>
                <a:spcPts val="90"/>
              </a:spcBef>
            </a:pPr>
            <a:r>
              <a:rPr sz="975" b="1" spc="-15" baseline="8547" dirty="0">
                <a:latin typeface="Times New Roman"/>
                <a:cs typeface="Times New Roman"/>
              </a:rPr>
              <a:t>Per-</a:t>
            </a:r>
            <a:r>
              <a:rPr sz="975" b="1" baseline="8547" dirty="0">
                <a:latin typeface="Times New Roman"/>
                <a:cs typeface="Times New Roman"/>
              </a:rPr>
              <a:t>gate</a:t>
            </a:r>
            <a:r>
              <a:rPr sz="975" b="1" spc="15" baseline="8547" dirty="0">
                <a:latin typeface="Times New Roman"/>
                <a:cs typeface="Times New Roman"/>
              </a:rPr>
              <a:t> </a:t>
            </a:r>
            <a:r>
              <a:rPr sz="975" b="1" spc="-15" baseline="8547" dirty="0">
                <a:latin typeface="Times New Roman"/>
                <a:cs typeface="Times New Roman"/>
              </a:rPr>
              <a:t>entanglement</a:t>
            </a:r>
            <a:r>
              <a:rPr sz="975" b="1" spc="15" baseline="8547" dirty="0">
                <a:latin typeface="Times New Roman"/>
                <a:cs typeface="Times New Roman"/>
              </a:rPr>
              <a:t> </a:t>
            </a:r>
            <a:r>
              <a:rPr sz="975" b="1" baseline="8547" dirty="0">
                <a:latin typeface="Times New Roman"/>
                <a:cs typeface="Times New Roman"/>
              </a:rPr>
              <a:t>weight</a:t>
            </a:r>
            <a:r>
              <a:rPr sz="975" b="1" spc="22" baseline="8547" dirty="0">
                <a:latin typeface="Times New Roman"/>
                <a:cs typeface="Times New Roman"/>
              </a:rPr>
              <a:t> </a:t>
            </a:r>
            <a:r>
              <a:rPr sz="975" i="1" spc="-15" baseline="8547" dirty="0">
                <a:latin typeface="Times New Roman"/>
                <a:cs typeface="Times New Roman"/>
              </a:rPr>
              <a:t>w</a:t>
            </a:r>
            <a:r>
              <a:rPr sz="450" i="1" spc="-10" dirty="0">
                <a:latin typeface="Times New Roman"/>
                <a:cs typeface="Times New Roman"/>
              </a:rPr>
              <a:t>ent</a:t>
            </a:r>
            <a:r>
              <a:rPr sz="975" spc="-15" baseline="8547" dirty="0">
                <a:latin typeface="Cambria"/>
                <a:cs typeface="Cambria"/>
              </a:rPr>
              <a:t>(</a:t>
            </a:r>
            <a:r>
              <a:rPr sz="975" i="1" spc="-15" baseline="8547" dirty="0">
                <a:latin typeface="Times New Roman"/>
                <a:cs typeface="Times New Roman"/>
              </a:rPr>
              <a:t>k</a:t>
            </a:r>
            <a:r>
              <a:rPr sz="975" spc="-15" baseline="8547" dirty="0">
                <a:latin typeface="Cambria"/>
                <a:cs typeface="Cambria"/>
              </a:rPr>
              <a:t>)</a:t>
            </a:r>
            <a:endParaRPr sz="975" baseline="8547">
              <a:latin typeface="Cambria"/>
              <a:cs typeface="Cambria"/>
            </a:endParaRPr>
          </a:p>
          <a:p>
            <a:pPr marL="45720">
              <a:lnSpc>
                <a:spcPts val="730"/>
              </a:lnSpc>
            </a:pPr>
            <a:r>
              <a:rPr sz="650" b="1" spc="-10" dirty="0">
                <a:latin typeface="Times New Roman"/>
                <a:cs typeface="Times New Roman"/>
              </a:rPr>
              <a:t>(single-</a:t>
            </a:r>
            <a:r>
              <a:rPr sz="650" b="1" dirty="0">
                <a:latin typeface="Times New Roman"/>
                <a:cs typeface="Times New Roman"/>
              </a:rPr>
              <a:t>qubit</a:t>
            </a:r>
            <a:r>
              <a:rPr sz="650" b="1" spc="-5" dirty="0">
                <a:latin typeface="Times New Roman"/>
                <a:cs typeface="Times New Roman"/>
              </a:rPr>
              <a:t> </a:t>
            </a:r>
            <a:r>
              <a:rPr sz="650" b="1" dirty="0">
                <a:latin typeface="Times New Roman"/>
                <a:cs typeface="Times New Roman"/>
              </a:rPr>
              <a:t>von</a:t>
            </a:r>
            <a:r>
              <a:rPr sz="650" b="1" spc="-5" dirty="0">
                <a:latin typeface="Times New Roman"/>
                <a:cs typeface="Times New Roman"/>
              </a:rPr>
              <a:t> </a:t>
            </a:r>
            <a:r>
              <a:rPr sz="650" b="1" spc="-10" dirty="0">
                <a:latin typeface="Times New Roman"/>
                <a:cs typeface="Times New Roman"/>
              </a:rPr>
              <a:t>Neumann</a:t>
            </a:r>
            <a:r>
              <a:rPr sz="650" b="1" spc="-5" dirty="0">
                <a:latin typeface="Times New Roman"/>
                <a:cs typeface="Times New Roman"/>
              </a:rPr>
              <a:t> </a:t>
            </a:r>
            <a:r>
              <a:rPr sz="650" b="1" spc="-10" dirty="0">
                <a:latin typeface="Times New Roman"/>
                <a:cs typeface="Times New Roman"/>
              </a:rPr>
              <a:t>entropy)</a:t>
            </a:r>
            <a:endParaRPr sz="65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413803" y="1213212"/>
            <a:ext cx="96520" cy="1313180"/>
            <a:chOff x="2413803" y="1213212"/>
            <a:chExt cx="96520" cy="1313180"/>
          </a:xfrm>
        </p:grpSpPr>
        <p:sp>
          <p:nvSpPr>
            <p:cNvPr id="55" name="object 55"/>
            <p:cNvSpPr/>
            <p:nvPr/>
          </p:nvSpPr>
          <p:spPr>
            <a:xfrm>
              <a:off x="2482586" y="229522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482586" y="229522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0" y="0"/>
                  </a:moveTo>
                  <a:lnTo>
                    <a:pt x="27159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482586" y="202559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482586" y="202559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0" y="0"/>
                  </a:moveTo>
                  <a:lnTo>
                    <a:pt x="27159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482586" y="175595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482586" y="1755959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0" y="0"/>
                  </a:moveTo>
                  <a:lnTo>
                    <a:pt x="27159" y="0"/>
                  </a:lnTo>
                </a:path>
              </a:pathLst>
            </a:custGeom>
            <a:ln w="6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482586" y="148632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5">
                  <a:moveTo>
                    <a:pt x="27159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434" y="1216316"/>
              <a:ext cx="92311" cy="130597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417295" y="1216704"/>
              <a:ext cx="65405" cy="1306195"/>
            </a:xfrm>
            <a:custGeom>
              <a:avLst/>
              <a:gdLst/>
              <a:ahLst/>
              <a:cxnLst/>
              <a:rect l="l" t="t" r="r" b="b"/>
              <a:pathLst>
                <a:path w="65405" h="1306195">
                  <a:moveTo>
                    <a:pt x="0" y="1305823"/>
                  </a:moveTo>
                  <a:lnTo>
                    <a:pt x="32645" y="1305823"/>
                  </a:lnTo>
                  <a:lnTo>
                    <a:pt x="65291" y="1305823"/>
                  </a:lnTo>
                  <a:lnTo>
                    <a:pt x="65291" y="0"/>
                  </a:lnTo>
                  <a:lnTo>
                    <a:pt x="32645" y="0"/>
                  </a:lnTo>
                  <a:lnTo>
                    <a:pt x="0" y="0"/>
                  </a:lnTo>
                  <a:lnTo>
                    <a:pt x="0" y="1305823"/>
                  </a:lnTo>
                  <a:close/>
                </a:path>
              </a:pathLst>
            </a:custGeom>
            <a:ln w="6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524205" y="2239268"/>
            <a:ext cx="10985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latin typeface="Times New Roman"/>
                <a:cs typeface="Times New Roman"/>
              </a:rPr>
              <a:t>0.6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24205" y="1969633"/>
            <a:ext cx="10985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latin typeface="Times New Roman"/>
                <a:cs typeface="Times New Roman"/>
              </a:rPr>
              <a:t>0.7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524205" y="1699998"/>
            <a:ext cx="10985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latin typeface="Times New Roman"/>
                <a:cs typeface="Times New Roman"/>
              </a:rPr>
              <a:t>0.8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524205" y="1430363"/>
            <a:ext cx="10985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-25" dirty="0">
                <a:latin typeface="Times New Roman"/>
                <a:cs typeface="Times New Roman"/>
              </a:rPr>
              <a:t>0.9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624802" y="1640333"/>
            <a:ext cx="111760" cy="45910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dirty="0">
                <a:latin typeface="Times New Roman"/>
                <a:cs typeface="Times New Roman"/>
              </a:rPr>
              <a:t>Entropy</a:t>
            </a:r>
            <a:r>
              <a:rPr sz="600" spc="35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(bits)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867304" y="900104"/>
            <a:ext cx="1231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828C4"/>
                </a:solidFill>
                <a:latin typeface="Arial"/>
                <a:cs typeface="Arial"/>
              </a:rPr>
              <a:t>Entanglement</a:t>
            </a:r>
            <a:r>
              <a:rPr sz="1000" spc="-5" dirty="0">
                <a:solidFill>
                  <a:srgbClr val="6828C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28C4"/>
                </a:solidFill>
                <a:latin typeface="Arial"/>
                <a:cs typeface="Arial"/>
              </a:rPr>
              <a:t>Weight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9203" y="1080134"/>
            <a:ext cx="2621633" cy="50609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3302508" y="1203231"/>
            <a:ext cx="9232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44" baseline="6172" dirty="0">
                <a:solidFill>
                  <a:srgbClr val="151515"/>
                </a:solidFill>
                <a:latin typeface="Arial"/>
                <a:cs typeface="Arial"/>
              </a:rPr>
              <a:t>w</a:t>
            </a:r>
            <a:r>
              <a:rPr sz="600" spc="30" dirty="0">
                <a:solidFill>
                  <a:srgbClr val="151515"/>
                </a:solidFill>
                <a:latin typeface="Georgia"/>
                <a:cs typeface="Georgia"/>
              </a:rPr>
              <a:t>ent</a:t>
            </a:r>
            <a:r>
              <a:rPr sz="1350" spc="44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1350" i="1" spc="44" baseline="6172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1350" i="1" spc="-247" baseline="6172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350" spc="97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1350" spc="-37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1350" spc="44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1350" spc="150" baseline="6172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1350" u="sng" spc="359" baseline="43209" dirty="0">
                <a:solidFill>
                  <a:srgbClr val="151515"/>
                </a:solidFill>
                <a:uFill>
                  <a:solidFill>
                    <a:srgbClr val="151515"/>
                  </a:solidFill>
                </a:uFill>
                <a:latin typeface="Arial"/>
                <a:cs typeface="Arial"/>
              </a:rPr>
              <a:t>  </a:t>
            </a:r>
            <a:r>
              <a:rPr sz="1350" u="sng" spc="-75" baseline="43209" dirty="0">
                <a:solidFill>
                  <a:srgbClr val="151515"/>
                </a:solidFill>
                <a:uFill>
                  <a:solidFill>
                    <a:srgbClr val="151515"/>
                  </a:solidFill>
                </a:uFill>
                <a:latin typeface="Arial"/>
                <a:cs typeface="Arial"/>
              </a:rPr>
              <a:t>1</a:t>
            </a:r>
            <a:r>
              <a:rPr sz="1350" u="sng" spc="750" baseline="43209" dirty="0">
                <a:solidFill>
                  <a:srgbClr val="151515"/>
                </a:solidFill>
                <a:uFill>
                  <a:solidFill>
                    <a:srgbClr val="151515"/>
                  </a:solidFill>
                </a:uFill>
                <a:latin typeface="Arial"/>
                <a:cs typeface="Arial"/>
              </a:rPr>
              <a:t> </a:t>
            </a:r>
            <a:endParaRPr sz="1350" baseline="43209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477103" y="3059008"/>
            <a:ext cx="1701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9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/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525252"/>
                </a:solidFill>
                <a:latin typeface="Arial"/>
                <a:cs typeface="Arial"/>
              </a:rPr>
              <a:t>22</a:t>
            </a:r>
            <a:endParaRPr sz="5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29436" y="3069257"/>
            <a:ext cx="31013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Entanglement weight:</a:t>
            </a:r>
            <a:r>
              <a:rPr sz="500" i="1" spc="3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Eq.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(4), Section 4.3,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(2026);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Wootters,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PRL 80:2245</a:t>
            </a:r>
            <a:r>
              <a:rPr sz="500" i="1" spc="5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6"/>
              </a:rPr>
              <a:t>(1998)</a:t>
            </a:r>
            <a:endParaRPr sz="5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848531" y="1285526"/>
            <a:ext cx="3771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60" baseline="9259" dirty="0">
                <a:solidFill>
                  <a:srgbClr val="151515"/>
                </a:solidFill>
                <a:latin typeface="Source Sans 3"/>
                <a:cs typeface="Source Sans 3"/>
              </a:rPr>
              <a:t>|P</a:t>
            </a:r>
            <a:r>
              <a:rPr sz="600" i="1" spc="40" dirty="0">
                <a:solidFill>
                  <a:srgbClr val="151515"/>
                </a:solidFill>
                <a:latin typeface="Trebuchet MS"/>
                <a:cs typeface="Trebuchet MS"/>
              </a:rPr>
              <a:t>ℓ</a:t>
            </a:r>
            <a:r>
              <a:rPr sz="600" spc="4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600" i="1" spc="40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600" i="1" spc="-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4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1350" i="1" spc="60" baseline="9259" dirty="0">
                <a:solidFill>
                  <a:srgbClr val="151515"/>
                </a:solidFill>
                <a:latin typeface="Source Sans 3"/>
                <a:cs typeface="Source Sans 3"/>
              </a:rPr>
              <a:t>|</a:t>
            </a:r>
            <a:endParaRPr sz="1350" baseline="9259">
              <a:latin typeface="Source Sans 3"/>
              <a:cs typeface="Source Sans 3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07065" y="1082403"/>
            <a:ext cx="1949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780" dirty="0">
                <a:solidFill>
                  <a:srgbClr val="151515"/>
                </a:solidFill>
                <a:latin typeface="Arial"/>
                <a:cs typeface="Arial"/>
              </a:rPr>
              <a:t>L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44860" y="1367083"/>
            <a:ext cx="5130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600" i="1" dirty="0">
                <a:solidFill>
                  <a:srgbClr val="151515"/>
                </a:solidFill>
                <a:latin typeface="Trebuchet MS"/>
                <a:cs typeface="Trebuchet MS"/>
              </a:rPr>
              <a:t>,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b</a:t>
            </a:r>
            <a:r>
              <a:rPr sz="60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600" i="1" dirty="0">
                <a:solidFill>
                  <a:srgbClr val="151515"/>
                </a:solidFill>
                <a:latin typeface="Meiryo UI"/>
                <a:cs typeface="Meiryo UI"/>
              </a:rPr>
              <a:t>∈P</a:t>
            </a:r>
            <a:r>
              <a:rPr sz="750" i="1" baseline="-16666" dirty="0">
                <a:solidFill>
                  <a:srgbClr val="151515"/>
                </a:solidFill>
                <a:latin typeface="Meiryo UI"/>
                <a:cs typeface="Meiryo UI"/>
              </a:rPr>
              <a:t>ℓ</a:t>
            </a:r>
            <a:r>
              <a:rPr sz="750" baseline="-16666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50" i="1" baseline="-16666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750" i="1" spc="-15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50" spc="-75" baseline="-16666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750" baseline="-16666">
              <a:latin typeface="Lucida Sans Unicode"/>
              <a:cs typeface="Lucida Sans Unicode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568012" y="1190581"/>
            <a:ext cx="4095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151515"/>
                </a:solidFill>
                <a:latin typeface="Arial"/>
                <a:cs typeface="Arial"/>
              </a:rPr>
              <a:t>C</a:t>
            </a:r>
            <a:r>
              <a:rPr sz="9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900" i="1" dirty="0">
                <a:solidFill>
                  <a:srgbClr val="151515"/>
                </a:solidFill>
                <a:latin typeface="Arial"/>
                <a:cs typeface="Arial"/>
              </a:rPr>
              <a:t>ρ</a:t>
            </a:r>
            <a:r>
              <a:rPr sz="900" i="1" baseline="-9259" dirty="0">
                <a:solidFill>
                  <a:srgbClr val="151515"/>
                </a:solidFill>
                <a:latin typeface="Arial"/>
                <a:cs typeface="Arial"/>
              </a:rPr>
              <a:t>ab</a:t>
            </a:r>
            <a:r>
              <a:rPr sz="900" i="1" spc="-75" baseline="-9259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15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38729" y="1606637"/>
            <a:ext cx="2359660" cy="6534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75260" marR="30480" indent="-137795">
              <a:lnSpc>
                <a:spcPts val="800"/>
              </a:lnSpc>
              <a:spcBef>
                <a:spcPts val="25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4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Mean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pairwise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von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Neumann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entropy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after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layer’s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entangling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block</a:t>
            </a:r>
            <a:endParaRPr sz="700">
              <a:latin typeface="Arial"/>
              <a:cs typeface="Arial"/>
            </a:endParaRPr>
          </a:p>
          <a:p>
            <a:pPr marL="175260" marR="34925" indent="-137795">
              <a:lnSpc>
                <a:spcPts val="800"/>
              </a:lnSpc>
              <a:spcBef>
                <a:spcPts val="3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3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High</a:t>
            </a:r>
            <a:r>
              <a:rPr sz="700" b="1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entanglement</a:t>
            </a:r>
            <a:r>
              <a:rPr sz="700" b="1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3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shared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knowledge,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structurally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critical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29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Low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entanglement</a:t>
            </a:r>
            <a:r>
              <a:rPr sz="700" b="1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5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safe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remove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297" y="274769"/>
            <a:ext cx="1506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Pruning</a:t>
            </a: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611131" y="916850"/>
            <a:ext cx="2538095" cy="521970"/>
            <a:chOff x="1611131" y="916850"/>
            <a:chExt cx="2538095" cy="521970"/>
          </a:xfrm>
        </p:grpSpPr>
        <p:sp>
          <p:nvSpPr>
            <p:cNvPr id="5" name="object 5"/>
            <p:cNvSpPr/>
            <p:nvPr/>
          </p:nvSpPr>
          <p:spPr>
            <a:xfrm>
              <a:off x="1619988" y="925706"/>
              <a:ext cx="2520315" cy="504190"/>
            </a:xfrm>
            <a:custGeom>
              <a:avLst/>
              <a:gdLst/>
              <a:ahLst/>
              <a:cxnLst/>
              <a:rect l="l" t="t" r="r" b="b"/>
              <a:pathLst>
                <a:path w="2520315" h="504190">
                  <a:moveTo>
                    <a:pt x="2444115" y="0"/>
                  </a:moveTo>
                  <a:lnTo>
                    <a:pt x="75916" y="0"/>
                  </a:lnTo>
                  <a:lnTo>
                    <a:pt x="46366" y="5965"/>
                  </a:lnTo>
                  <a:lnTo>
                    <a:pt x="22235" y="22235"/>
                  </a:lnTo>
                  <a:lnTo>
                    <a:pt x="5965" y="46366"/>
                  </a:lnTo>
                  <a:lnTo>
                    <a:pt x="0" y="75916"/>
                  </a:lnTo>
                  <a:lnTo>
                    <a:pt x="0" y="428087"/>
                  </a:lnTo>
                  <a:lnTo>
                    <a:pt x="5965" y="457638"/>
                  </a:lnTo>
                  <a:lnTo>
                    <a:pt x="22235" y="481768"/>
                  </a:lnTo>
                  <a:lnTo>
                    <a:pt x="46366" y="498038"/>
                  </a:lnTo>
                  <a:lnTo>
                    <a:pt x="75916" y="504004"/>
                  </a:lnTo>
                  <a:lnTo>
                    <a:pt x="2444115" y="504004"/>
                  </a:lnTo>
                  <a:lnTo>
                    <a:pt x="2473666" y="498038"/>
                  </a:lnTo>
                  <a:lnTo>
                    <a:pt x="2497797" y="481768"/>
                  </a:lnTo>
                  <a:lnTo>
                    <a:pt x="2514066" y="457638"/>
                  </a:lnTo>
                  <a:lnTo>
                    <a:pt x="2520032" y="428087"/>
                  </a:lnTo>
                  <a:lnTo>
                    <a:pt x="2520032" y="75916"/>
                  </a:lnTo>
                  <a:lnTo>
                    <a:pt x="2514066" y="46366"/>
                  </a:lnTo>
                  <a:lnTo>
                    <a:pt x="2497797" y="22235"/>
                  </a:lnTo>
                  <a:lnTo>
                    <a:pt x="2473666" y="5965"/>
                  </a:lnTo>
                  <a:lnTo>
                    <a:pt x="2444115" y="0"/>
                  </a:lnTo>
                  <a:close/>
                </a:path>
              </a:pathLst>
            </a:custGeom>
            <a:solidFill>
              <a:srgbClr val="15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9988" y="925706"/>
              <a:ext cx="2520315" cy="504190"/>
            </a:xfrm>
            <a:custGeom>
              <a:avLst/>
              <a:gdLst/>
              <a:ahLst/>
              <a:cxnLst/>
              <a:rect l="l" t="t" r="r" b="b"/>
              <a:pathLst>
                <a:path w="2520315" h="504190">
                  <a:moveTo>
                    <a:pt x="2444115" y="0"/>
                  </a:moveTo>
                  <a:lnTo>
                    <a:pt x="75916" y="0"/>
                  </a:lnTo>
                  <a:lnTo>
                    <a:pt x="46366" y="5965"/>
                  </a:lnTo>
                  <a:lnTo>
                    <a:pt x="22235" y="22235"/>
                  </a:lnTo>
                  <a:lnTo>
                    <a:pt x="5965" y="46366"/>
                  </a:lnTo>
                  <a:lnTo>
                    <a:pt x="0" y="75916"/>
                  </a:lnTo>
                  <a:lnTo>
                    <a:pt x="0" y="428087"/>
                  </a:lnTo>
                  <a:lnTo>
                    <a:pt x="5965" y="457638"/>
                  </a:lnTo>
                  <a:lnTo>
                    <a:pt x="22235" y="481768"/>
                  </a:lnTo>
                  <a:lnTo>
                    <a:pt x="46366" y="498038"/>
                  </a:lnTo>
                  <a:lnTo>
                    <a:pt x="75916" y="504004"/>
                  </a:lnTo>
                  <a:lnTo>
                    <a:pt x="2444115" y="504004"/>
                  </a:lnTo>
                  <a:lnTo>
                    <a:pt x="2473666" y="498038"/>
                  </a:lnTo>
                  <a:lnTo>
                    <a:pt x="2497797" y="481768"/>
                  </a:lnTo>
                  <a:lnTo>
                    <a:pt x="2514066" y="457638"/>
                  </a:lnTo>
                  <a:lnTo>
                    <a:pt x="2520032" y="428087"/>
                  </a:lnTo>
                  <a:lnTo>
                    <a:pt x="2520032" y="75916"/>
                  </a:lnTo>
                  <a:lnTo>
                    <a:pt x="2514066" y="46366"/>
                  </a:lnTo>
                  <a:lnTo>
                    <a:pt x="2497797" y="22235"/>
                  </a:lnTo>
                  <a:lnTo>
                    <a:pt x="2473666" y="5965"/>
                  </a:lnTo>
                  <a:lnTo>
                    <a:pt x="2444115" y="0"/>
                  </a:lnTo>
                  <a:close/>
                </a:path>
              </a:pathLst>
            </a:custGeom>
            <a:ln w="1771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27475" y="979548"/>
            <a:ext cx="1879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0376" y="1026015"/>
            <a:ext cx="17151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378460" algn="l"/>
              </a:tabLst>
            </a:pPr>
            <a:r>
              <a:rPr sz="1700" i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i="1" spc="-37" baseline="-11574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800" i="1" baseline="-1157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1700" spc="4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i="1" spc="-1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spc="-15" baseline="-11574" dirty="0">
                <a:solidFill>
                  <a:srgbClr val="FFFFFF"/>
                </a:solidFill>
                <a:latin typeface="Cambria"/>
                <a:cs typeface="Cambria"/>
              </a:rPr>
              <a:t>ent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sz="1700" i="1" spc="-1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700" i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sz="17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i="1" spc="-2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800" i="1" spc="-37" baseline="-25462" dirty="0">
                <a:solidFill>
                  <a:srgbClr val="FFFFFF"/>
                </a:solidFill>
                <a:latin typeface="Arial"/>
                <a:cs typeface="Arial"/>
              </a:rPr>
              <a:t>kk</a:t>
            </a:r>
            <a:endParaRPr sz="1800" baseline="-2546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731" y="1712339"/>
            <a:ext cx="1483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45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Rank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all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24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parameters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by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750" i="1" spc="-37" baseline="-11111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331" y="1877503"/>
            <a:ext cx="2482215" cy="397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730"/>
              </a:lnSpc>
              <a:spcBef>
                <a:spcPts val="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Prune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every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θ</a:t>
            </a:r>
            <a:r>
              <a:rPr sz="750" i="1" baseline="-11111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750" i="1" spc="202" baseline="-1111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with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750" i="1" baseline="-11111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r>
              <a:rPr sz="750" i="1" spc="254" baseline="-1111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55" dirty="0">
                <a:solidFill>
                  <a:srgbClr val="151515"/>
                </a:solidFill>
                <a:latin typeface="Meiryo UI"/>
                <a:cs typeface="Meiryo UI"/>
              </a:rPr>
              <a:t>&lt;</a:t>
            </a:r>
            <a:r>
              <a:rPr sz="700" i="1" spc="-2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τ</a:t>
            </a:r>
            <a:r>
              <a:rPr sz="700" i="1" spc="-16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,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reset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reference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value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515"/>
                </a:solidFill>
                <a:latin typeface="Meiryo UI"/>
                <a:cs typeface="Meiryo UI"/>
              </a:rPr>
              <a:t>θ</a:t>
            </a:r>
            <a:r>
              <a:rPr sz="750" spc="-37" baseline="33333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endParaRPr sz="750" baseline="33333">
              <a:latin typeface="Arial"/>
              <a:cs typeface="Arial"/>
            </a:endParaRPr>
          </a:p>
          <a:p>
            <a:pPr marR="111125" algn="r">
              <a:lnSpc>
                <a:spcPts val="370"/>
              </a:lnSpc>
            </a:pPr>
            <a:r>
              <a:rPr sz="500" i="1" spc="-50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endParaRPr sz="500">
              <a:latin typeface="Arial"/>
              <a:cs typeface="Arial"/>
            </a:endParaRPr>
          </a:p>
          <a:p>
            <a:pPr marL="200660" marR="43180" indent="-137795">
              <a:lnSpc>
                <a:spcPts val="800"/>
              </a:lnSpc>
              <a:spcBef>
                <a:spcPts val="25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Default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operating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point:</a:t>
            </a:r>
            <a:r>
              <a:rPr sz="700" spc="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τ</a:t>
            </a:r>
            <a:r>
              <a:rPr sz="700" i="1" spc="2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corresponding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20%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prune</a:t>
            </a:r>
            <a:r>
              <a:rPr sz="700" b="1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fraction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17252" y="1813474"/>
            <a:ext cx="3810" cy="713740"/>
            <a:chOff x="3417252" y="1813474"/>
            <a:chExt cx="3810" cy="713740"/>
          </a:xfrm>
        </p:grpSpPr>
        <p:sp>
          <p:nvSpPr>
            <p:cNvPr id="12" name="object 12"/>
            <p:cNvSpPr/>
            <p:nvPr/>
          </p:nvSpPr>
          <p:spPr>
            <a:xfrm>
              <a:off x="3419157" y="1814744"/>
              <a:ext cx="0" cy="33655"/>
            </a:xfrm>
            <a:custGeom>
              <a:avLst/>
              <a:gdLst/>
              <a:ahLst/>
              <a:cxnLst/>
              <a:rect l="l" t="t" r="r" b="b"/>
              <a:pathLst>
                <a:path h="33655">
                  <a:moveTo>
                    <a:pt x="0" y="0"/>
                  </a:moveTo>
                  <a:lnTo>
                    <a:pt x="0" y="33055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9157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19157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96504" y="2516913"/>
            <a:ext cx="4572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50" dirty="0">
                <a:latin typeface="Times New Roman"/>
                <a:cs typeface="Times New Roman"/>
              </a:rPr>
              <a:t>0</a:t>
            </a:r>
            <a:endParaRPr sz="3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13367" y="1813474"/>
            <a:ext cx="3810" cy="713740"/>
            <a:chOff x="3813367" y="1813474"/>
            <a:chExt cx="3810" cy="713740"/>
          </a:xfrm>
        </p:grpSpPr>
        <p:sp>
          <p:nvSpPr>
            <p:cNvPr id="17" name="object 17"/>
            <p:cNvSpPr/>
            <p:nvPr/>
          </p:nvSpPr>
          <p:spPr>
            <a:xfrm>
              <a:off x="3815272" y="1814744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h="64769">
                  <a:moveTo>
                    <a:pt x="0" y="0"/>
                  </a:moveTo>
                  <a:lnTo>
                    <a:pt x="0" y="64168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5272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5272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92619" y="2516913"/>
            <a:ext cx="4572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50" dirty="0">
                <a:latin typeface="Times New Roman"/>
                <a:cs typeface="Times New Roman"/>
              </a:rPr>
              <a:t>5</a:t>
            </a:r>
            <a:endParaRPr sz="3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09481" y="1813474"/>
            <a:ext cx="796290" cy="713740"/>
            <a:chOff x="4209481" y="1813474"/>
            <a:chExt cx="796290" cy="713740"/>
          </a:xfrm>
        </p:grpSpPr>
        <p:sp>
          <p:nvSpPr>
            <p:cNvPr id="22" name="object 22"/>
            <p:cNvSpPr/>
            <p:nvPr/>
          </p:nvSpPr>
          <p:spPr>
            <a:xfrm>
              <a:off x="4211386" y="1814744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5243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11386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11386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07500" y="1814744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30">
                  <a:moveTo>
                    <a:pt x="0" y="0"/>
                  </a:moveTo>
                  <a:lnTo>
                    <a:pt x="0" y="137808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07500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07500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03615" y="1814744"/>
              <a:ext cx="0" cy="356870"/>
            </a:xfrm>
            <a:custGeom>
              <a:avLst/>
              <a:gdLst/>
              <a:ahLst/>
              <a:cxnLst/>
              <a:rect l="l" t="t" r="r" b="b"/>
              <a:pathLst>
                <a:path h="356869">
                  <a:moveTo>
                    <a:pt x="0" y="0"/>
                  </a:moveTo>
                  <a:lnTo>
                    <a:pt x="0" y="356291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03615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03615" y="2508911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5924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71009" y="2516913"/>
            <a:ext cx="65405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5" dirty="0">
                <a:latin typeface="Times New Roman"/>
                <a:cs typeface="Times New Roman"/>
              </a:rPr>
              <a:t>20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66325" y="2512482"/>
            <a:ext cx="728345" cy="13716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R="59055" algn="r">
              <a:lnSpc>
                <a:spcPct val="100000"/>
              </a:lnSpc>
              <a:spcBef>
                <a:spcPts val="145"/>
              </a:spcBef>
              <a:tabLst>
                <a:tab pos="395605" algn="l"/>
              </a:tabLst>
            </a:pPr>
            <a:r>
              <a:rPr sz="300" spc="-25" dirty="0">
                <a:latin typeface="Times New Roman"/>
                <a:cs typeface="Times New Roman"/>
              </a:rPr>
              <a:t>10</a:t>
            </a:r>
            <a:r>
              <a:rPr sz="300" dirty="0">
                <a:latin typeface="Times New Roman"/>
                <a:cs typeface="Times New Roman"/>
              </a:rPr>
              <a:t>	</a:t>
            </a:r>
            <a:r>
              <a:rPr sz="300" spc="-25" dirty="0">
                <a:latin typeface="Times New Roman"/>
                <a:cs typeface="Times New Roman"/>
              </a:rPr>
              <a:t>15</a:t>
            </a:r>
            <a:endParaRPr sz="3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0"/>
              </a:spcBef>
            </a:pPr>
            <a:r>
              <a:rPr sz="350" dirty="0">
                <a:latin typeface="Times New Roman"/>
                <a:cs typeface="Times New Roman"/>
              </a:rPr>
              <a:t>Parameter</a:t>
            </a:r>
            <a:r>
              <a:rPr sz="350" spc="20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rank</a:t>
            </a:r>
            <a:r>
              <a:rPr sz="350" spc="25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(sorted</a:t>
            </a:r>
            <a:r>
              <a:rPr sz="350" spc="25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by</a:t>
            </a:r>
            <a:r>
              <a:rPr sz="350" spc="25" dirty="0">
                <a:latin typeface="Times New Roman"/>
                <a:cs typeface="Times New Roman"/>
              </a:rPr>
              <a:t> </a:t>
            </a:r>
            <a:r>
              <a:rPr sz="350" spc="-10" dirty="0">
                <a:latin typeface="Times New Roman"/>
                <a:cs typeface="Times New Roman"/>
              </a:rPr>
              <a:t>importance)</a:t>
            </a:r>
            <a:endParaRPr sz="3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277268" y="1814744"/>
            <a:ext cx="2090420" cy="696595"/>
            <a:chOff x="3277268" y="1814744"/>
            <a:chExt cx="2090420" cy="696595"/>
          </a:xfrm>
        </p:grpSpPr>
        <p:sp>
          <p:nvSpPr>
            <p:cNvPr id="34" name="object 34"/>
            <p:cNvSpPr/>
            <p:nvPr/>
          </p:nvSpPr>
          <p:spPr>
            <a:xfrm>
              <a:off x="3293193" y="2508911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0" y="0"/>
                  </a:moveTo>
                  <a:lnTo>
                    <a:pt x="2074054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77268" y="25089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77268" y="25089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93193" y="2376687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0" y="0"/>
                  </a:moveTo>
                  <a:lnTo>
                    <a:pt x="94275" y="0"/>
                  </a:lnTo>
                </a:path>
                <a:path w="2074545">
                  <a:moveTo>
                    <a:pt x="157653" y="0"/>
                  </a:moveTo>
                  <a:lnTo>
                    <a:pt x="173498" y="0"/>
                  </a:lnTo>
                </a:path>
                <a:path w="2074545">
                  <a:moveTo>
                    <a:pt x="236876" y="0"/>
                  </a:moveTo>
                  <a:lnTo>
                    <a:pt x="252720" y="0"/>
                  </a:lnTo>
                </a:path>
                <a:path w="2074545">
                  <a:moveTo>
                    <a:pt x="316099" y="0"/>
                  </a:moveTo>
                  <a:lnTo>
                    <a:pt x="331943" y="0"/>
                  </a:lnTo>
                </a:path>
                <a:path w="2074545">
                  <a:moveTo>
                    <a:pt x="395322" y="0"/>
                  </a:moveTo>
                  <a:lnTo>
                    <a:pt x="411166" y="0"/>
                  </a:lnTo>
                </a:path>
                <a:path w="2074545">
                  <a:moveTo>
                    <a:pt x="474544" y="0"/>
                  </a:moveTo>
                  <a:lnTo>
                    <a:pt x="490389" y="0"/>
                  </a:lnTo>
                </a:path>
                <a:path w="2074545">
                  <a:moveTo>
                    <a:pt x="553767" y="0"/>
                  </a:moveTo>
                  <a:lnTo>
                    <a:pt x="569612" y="0"/>
                  </a:lnTo>
                </a:path>
                <a:path w="2074545">
                  <a:moveTo>
                    <a:pt x="632990" y="0"/>
                  </a:moveTo>
                  <a:lnTo>
                    <a:pt x="648835" y="0"/>
                  </a:lnTo>
                </a:path>
                <a:path w="2074545">
                  <a:moveTo>
                    <a:pt x="712213" y="0"/>
                  </a:moveTo>
                  <a:lnTo>
                    <a:pt x="728058" y="0"/>
                  </a:lnTo>
                </a:path>
                <a:path w="2074545">
                  <a:moveTo>
                    <a:pt x="791436" y="0"/>
                  </a:moveTo>
                  <a:lnTo>
                    <a:pt x="807281" y="0"/>
                  </a:lnTo>
                </a:path>
                <a:path w="2074545">
                  <a:moveTo>
                    <a:pt x="870659" y="0"/>
                  </a:moveTo>
                  <a:lnTo>
                    <a:pt x="886503" y="0"/>
                  </a:lnTo>
                </a:path>
                <a:path w="2074545">
                  <a:moveTo>
                    <a:pt x="949882" y="0"/>
                  </a:moveTo>
                  <a:lnTo>
                    <a:pt x="965726" y="0"/>
                  </a:lnTo>
                </a:path>
                <a:path w="2074545">
                  <a:moveTo>
                    <a:pt x="1029105" y="0"/>
                  </a:moveTo>
                  <a:lnTo>
                    <a:pt x="1044949" y="0"/>
                  </a:lnTo>
                </a:path>
                <a:path w="2074545">
                  <a:moveTo>
                    <a:pt x="1108327" y="0"/>
                  </a:moveTo>
                  <a:lnTo>
                    <a:pt x="1124172" y="0"/>
                  </a:lnTo>
                </a:path>
                <a:path w="2074545">
                  <a:moveTo>
                    <a:pt x="1187550" y="0"/>
                  </a:moveTo>
                  <a:lnTo>
                    <a:pt x="1203395" y="0"/>
                  </a:lnTo>
                </a:path>
                <a:path w="2074545">
                  <a:moveTo>
                    <a:pt x="1266773" y="0"/>
                  </a:moveTo>
                  <a:lnTo>
                    <a:pt x="1282618" y="0"/>
                  </a:lnTo>
                </a:path>
                <a:path w="2074545">
                  <a:moveTo>
                    <a:pt x="1345996" y="0"/>
                  </a:moveTo>
                  <a:lnTo>
                    <a:pt x="1361841" y="0"/>
                  </a:lnTo>
                </a:path>
                <a:path w="2074545">
                  <a:moveTo>
                    <a:pt x="1425219" y="0"/>
                  </a:moveTo>
                  <a:lnTo>
                    <a:pt x="1441063" y="0"/>
                  </a:lnTo>
                </a:path>
                <a:path w="2074545">
                  <a:moveTo>
                    <a:pt x="1504442" y="0"/>
                  </a:moveTo>
                  <a:lnTo>
                    <a:pt x="1520286" y="0"/>
                  </a:lnTo>
                </a:path>
                <a:path w="2074545">
                  <a:moveTo>
                    <a:pt x="1583665" y="0"/>
                  </a:moveTo>
                  <a:lnTo>
                    <a:pt x="1599509" y="0"/>
                  </a:lnTo>
                </a:path>
                <a:path w="2074545">
                  <a:moveTo>
                    <a:pt x="1662887" y="0"/>
                  </a:moveTo>
                  <a:lnTo>
                    <a:pt x="1678732" y="0"/>
                  </a:lnTo>
                </a:path>
                <a:path w="2074545">
                  <a:moveTo>
                    <a:pt x="1742110" y="0"/>
                  </a:moveTo>
                  <a:lnTo>
                    <a:pt x="1757955" y="0"/>
                  </a:lnTo>
                </a:path>
                <a:path w="2074545">
                  <a:moveTo>
                    <a:pt x="1821333" y="0"/>
                  </a:moveTo>
                  <a:lnTo>
                    <a:pt x="1837178" y="0"/>
                  </a:lnTo>
                </a:path>
                <a:path w="2074545">
                  <a:moveTo>
                    <a:pt x="1900556" y="0"/>
                  </a:moveTo>
                  <a:lnTo>
                    <a:pt x="1916401" y="0"/>
                  </a:lnTo>
                </a:path>
                <a:path w="2074545">
                  <a:moveTo>
                    <a:pt x="1979779" y="0"/>
                  </a:moveTo>
                  <a:lnTo>
                    <a:pt x="2074054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77268" y="237668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77268" y="237668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93193" y="2244463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316099" y="0"/>
                  </a:moveTo>
                  <a:lnTo>
                    <a:pt x="331943" y="0"/>
                  </a:lnTo>
                </a:path>
                <a:path w="2074545">
                  <a:moveTo>
                    <a:pt x="395322" y="0"/>
                  </a:moveTo>
                  <a:lnTo>
                    <a:pt x="411166" y="0"/>
                  </a:lnTo>
                </a:path>
                <a:path w="2074545">
                  <a:moveTo>
                    <a:pt x="236876" y="0"/>
                  </a:moveTo>
                  <a:lnTo>
                    <a:pt x="252720" y="0"/>
                  </a:lnTo>
                </a:path>
                <a:path w="2074545">
                  <a:moveTo>
                    <a:pt x="632990" y="0"/>
                  </a:moveTo>
                  <a:lnTo>
                    <a:pt x="648835" y="0"/>
                  </a:lnTo>
                </a:path>
                <a:path w="2074545">
                  <a:moveTo>
                    <a:pt x="474544" y="0"/>
                  </a:moveTo>
                  <a:lnTo>
                    <a:pt x="490389" y="0"/>
                  </a:lnTo>
                </a:path>
                <a:path w="2074545">
                  <a:moveTo>
                    <a:pt x="949882" y="0"/>
                  </a:moveTo>
                  <a:lnTo>
                    <a:pt x="965726" y="0"/>
                  </a:lnTo>
                </a:path>
                <a:path w="2074545">
                  <a:moveTo>
                    <a:pt x="1029105" y="0"/>
                  </a:moveTo>
                  <a:lnTo>
                    <a:pt x="1044949" y="0"/>
                  </a:lnTo>
                </a:path>
                <a:path w="2074545">
                  <a:moveTo>
                    <a:pt x="0" y="0"/>
                  </a:moveTo>
                  <a:lnTo>
                    <a:pt x="94275" y="0"/>
                  </a:lnTo>
                </a:path>
                <a:path w="2074545">
                  <a:moveTo>
                    <a:pt x="712213" y="0"/>
                  </a:moveTo>
                  <a:lnTo>
                    <a:pt x="728058" y="0"/>
                  </a:lnTo>
                </a:path>
                <a:path w="2074545">
                  <a:moveTo>
                    <a:pt x="553767" y="0"/>
                  </a:moveTo>
                  <a:lnTo>
                    <a:pt x="569612" y="0"/>
                  </a:lnTo>
                </a:path>
                <a:path w="2074545">
                  <a:moveTo>
                    <a:pt x="157653" y="0"/>
                  </a:moveTo>
                  <a:lnTo>
                    <a:pt x="173498" y="0"/>
                  </a:lnTo>
                </a:path>
                <a:path w="2074545">
                  <a:moveTo>
                    <a:pt x="1108327" y="0"/>
                  </a:moveTo>
                  <a:lnTo>
                    <a:pt x="1124172" y="0"/>
                  </a:lnTo>
                </a:path>
                <a:path w="2074545">
                  <a:moveTo>
                    <a:pt x="1504442" y="0"/>
                  </a:moveTo>
                  <a:lnTo>
                    <a:pt x="1520286" y="0"/>
                  </a:lnTo>
                </a:path>
                <a:path w="2074545">
                  <a:moveTo>
                    <a:pt x="791436" y="0"/>
                  </a:moveTo>
                  <a:lnTo>
                    <a:pt x="807281" y="0"/>
                  </a:lnTo>
                </a:path>
                <a:path w="2074545">
                  <a:moveTo>
                    <a:pt x="1583665" y="0"/>
                  </a:moveTo>
                  <a:lnTo>
                    <a:pt x="1599509" y="0"/>
                  </a:lnTo>
                </a:path>
                <a:path w="2074545">
                  <a:moveTo>
                    <a:pt x="870659" y="0"/>
                  </a:moveTo>
                  <a:lnTo>
                    <a:pt x="886503" y="0"/>
                  </a:lnTo>
                </a:path>
                <a:path w="2074545">
                  <a:moveTo>
                    <a:pt x="1662887" y="0"/>
                  </a:moveTo>
                  <a:lnTo>
                    <a:pt x="1678732" y="0"/>
                  </a:lnTo>
                </a:path>
                <a:path w="2074545">
                  <a:moveTo>
                    <a:pt x="1187550" y="0"/>
                  </a:moveTo>
                  <a:lnTo>
                    <a:pt x="1203395" y="0"/>
                  </a:lnTo>
                </a:path>
                <a:path w="2074545">
                  <a:moveTo>
                    <a:pt x="1742110" y="0"/>
                  </a:moveTo>
                  <a:lnTo>
                    <a:pt x="1757955" y="0"/>
                  </a:lnTo>
                </a:path>
                <a:path w="2074545">
                  <a:moveTo>
                    <a:pt x="1345996" y="0"/>
                  </a:moveTo>
                  <a:lnTo>
                    <a:pt x="1361841" y="0"/>
                  </a:lnTo>
                </a:path>
                <a:path w="2074545">
                  <a:moveTo>
                    <a:pt x="1821333" y="0"/>
                  </a:moveTo>
                  <a:lnTo>
                    <a:pt x="1837178" y="0"/>
                  </a:lnTo>
                </a:path>
                <a:path w="2074545">
                  <a:moveTo>
                    <a:pt x="1425219" y="0"/>
                  </a:moveTo>
                  <a:lnTo>
                    <a:pt x="1441063" y="0"/>
                  </a:lnTo>
                </a:path>
                <a:path w="2074545">
                  <a:moveTo>
                    <a:pt x="1900556" y="0"/>
                  </a:moveTo>
                  <a:lnTo>
                    <a:pt x="1916401" y="0"/>
                  </a:lnTo>
                </a:path>
                <a:path w="2074545">
                  <a:moveTo>
                    <a:pt x="1266773" y="0"/>
                  </a:moveTo>
                  <a:lnTo>
                    <a:pt x="1282618" y="0"/>
                  </a:lnTo>
                </a:path>
                <a:path w="2074545">
                  <a:moveTo>
                    <a:pt x="1979779" y="0"/>
                  </a:moveTo>
                  <a:lnTo>
                    <a:pt x="2074054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77268" y="224446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77268" y="224446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93193" y="2112238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870659" y="0"/>
                  </a:moveTo>
                  <a:lnTo>
                    <a:pt x="886503" y="0"/>
                  </a:lnTo>
                </a:path>
                <a:path w="2074545">
                  <a:moveTo>
                    <a:pt x="1345996" y="0"/>
                  </a:moveTo>
                  <a:lnTo>
                    <a:pt x="1361841" y="0"/>
                  </a:lnTo>
                </a:path>
                <a:path w="2074545">
                  <a:moveTo>
                    <a:pt x="316099" y="0"/>
                  </a:moveTo>
                  <a:lnTo>
                    <a:pt x="331943" y="0"/>
                  </a:lnTo>
                </a:path>
                <a:path w="2074545">
                  <a:moveTo>
                    <a:pt x="395322" y="0"/>
                  </a:moveTo>
                  <a:lnTo>
                    <a:pt x="411166" y="0"/>
                  </a:lnTo>
                </a:path>
                <a:path w="2074545">
                  <a:moveTo>
                    <a:pt x="1425219" y="0"/>
                  </a:moveTo>
                  <a:lnTo>
                    <a:pt x="1441063" y="0"/>
                  </a:lnTo>
                </a:path>
                <a:path w="2074545">
                  <a:moveTo>
                    <a:pt x="949882" y="0"/>
                  </a:moveTo>
                  <a:lnTo>
                    <a:pt x="965726" y="0"/>
                  </a:lnTo>
                </a:path>
                <a:path w="2074545">
                  <a:moveTo>
                    <a:pt x="474544" y="0"/>
                  </a:moveTo>
                  <a:lnTo>
                    <a:pt x="490389" y="0"/>
                  </a:lnTo>
                </a:path>
                <a:path w="2074545">
                  <a:moveTo>
                    <a:pt x="1504442" y="0"/>
                  </a:moveTo>
                  <a:lnTo>
                    <a:pt x="1520286" y="0"/>
                  </a:lnTo>
                </a:path>
                <a:path w="2074545">
                  <a:moveTo>
                    <a:pt x="553767" y="0"/>
                  </a:moveTo>
                  <a:lnTo>
                    <a:pt x="569612" y="0"/>
                  </a:lnTo>
                </a:path>
                <a:path w="2074545">
                  <a:moveTo>
                    <a:pt x="1029105" y="0"/>
                  </a:moveTo>
                  <a:lnTo>
                    <a:pt x="1044949" y="0"/>
                  </a:lnTo>
                </a:path>
                <a:path w="2074545">
                  <a:moveTo>
                    <a:pt x="632990" y="0"/>
                  </a:moveTo>
                  <a:lnTo>
                    <a:pt x="648835" y="0"/>
                  </a:lnTo>
                </a:path>
                <a:path w="2074545">
                  <a:moveTo>
                    <a:pt x="712213" y="0"/>
                  </a:moveTo>
                  <a:lnTo>
                    <a:pt x="728058" y="0"/>
                  </a:lnTo>
                </a:path>
                <a:path w="2074545">
                  <a:moveTo>
                    <a:pt x="1108327" y="0"/>
                  </a:moveTo>
                  <a:lnTo>
                    <a:pt x="1124172" y="0"/>
                  </a:lnTo>
                </a:path>
                <a:path w="2074545">
                  <a:moveTo>
                    <a:pt x="1583665" y="0"/>
                  </a:moveTo>
                  <a:lnTo>
                    <a:pt x="2074054" y="0"/>
                  </a:lnTo>
                </a:path>
                <a:path w="2074545">
                  <a:moveTo>
                    <a:pt x="0" y="0"/>
                  </a:moveTo>
                  <a:lnTo>
                    <a:pt x="94275" y="0"/>
                  </a:lnTo>
                </a:path>
                <a:path w="2074545">
                  <a:moveTo>
                    <a:pt x="1187550" y="0"/>
                  </a:moveTo>
                  <a:lnTo>
                    <a:pt x="1203395" y="0"/>
                  </a:lnTo>
                </a:path>
                <a:path w="2074545">
                  <a:moveTo>
                    <a:pt x="791436" y="0"/>
                  </a:moveTo>
                  <a:lnTo>
                    <a:pt x="807281" y="0"/>
                  </a:lnTo>
                </a:path>
                <a:path w="2074545">
                  <a:moveTo>
                    <a:pt x="157653" y="0"/>
                  </a:moveTo>
                  <a:lnTo>
                    <a:pt x="173498" y="0"/>
                  </a:lnTo>
                </a:path>
                <a:path w="2074545">
                  <a:moveTo>
                    <a:pt x="1266773" y="0"/>
                  </a:moveTo>
                  <a:lnTo>
                    <a:pt x="1282618" y="0"/>
                  </a:lnTo>
                </a:path>
                <a:path w="2074545">
                  <a:moveTo>
                    <a:pt x="236876" y="0"/>
                  </a:moveTo>
                  <a:lnTo>
                    <a:pt x="25272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77268" y="211223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7268" y="211223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93193" y="1980014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0" y="0"/>
                  </a:moveTo>
                  <a:lnTo>
                    <a:pt x="94275" y="0"/>
                  </a:lnTo>
                </a:path>
                <a:path w="2074545">
                  <a:moveTo>
                    <a:pt x="157653" y="0"/>
                  </a:moveTo>
                  <a:lnTo>
                    <a:pt x="173498" y="0"/>
                  </a:lnTo>
                </a:path>
                <a:path w="2074545">
                  <a:moveTo>
                    <a:pt x="1345996" y="0"/>
                  </a:moveTo>
                  <a:lnTo>
                    <a:pt x="1361841" y="0"/>
                  </a:lnTo>
                </a:path>
                <a:path w="2074545">
                  <a:moveTo>
                    <a:pt x="1504442" y="0"/>
                  </a:moveTo>
                  <a:lnTo>
                    <a:pt x="2074054" y="0"/>
                  </a:lnTo>
                </a:path>
                <a:path w="2074545">
                  <a:moveTo>
                    <a:pt x="553767" y="0"/>
                  </a:moveTo>
                  <a:lnTo>
                    <a:pt x="569612" y="0"/>
                  </a:lnTo>
                </a:path>
                <a:path w="2074545">
                  <a:moveTo>
                    <a:pt x="474544" y="0"/>
                  </a:moveTo>
                  <a:lnTo>
                    <a:pt x="490389" y="0"/>
                  </a:lnTo>
                </a:path>
                <a:path w="2074545">
                  <a:moveTo>
                    <a:pt x="712213" y="0"/>
                  </a:moveTo>
                  <a:lnTo>
                    <a:pt x="728058" y="0"/>
                  </a:lnTo>
                </a:path>
                <a:path w="2074545">
                  <a:moveTo>
                    <a:pt x="1266773" y="0"/>
                  </a:moveTo>
                  <a:lnTo>
                    <a:pt x="1282618" y="0"/>
                  </a:lnTo>
                </a:path>
                <a:path w="2074545">
                  <a:moveTo>
                    <a:pt x="1029105" y="0"/>
                  </a:moveTo>
                  <a:lnTo>
                    <a:pt x="1044949" y="0"/>
                  </a:lnTo>
                </a:path>
                <a:path w="2074545">
                  <a:moveTo>
                    <a:pt x="870659" y="0"/>
                  </a:moveTo>
                  <a:lnTo>
                    <a:pt x="886503" y="0"/>
                  </a:lnTo>
                </a:path>
                <a:path w="2074545">
                  <a:moveTo>
                    <a:pt x="1425219" y="0"/>
                  </a:moveTo>
                  <a:lnTo>
                    <a:pt x="1441063" y="0"/>
                  </a:lnTo>
                </a:path>
                <a:path w="2074545">
                  <a:moveTo>
                    <a:pt x="949882" y="0"/>
                  </a:moveTo>
                  <a:lnTo>
                    <a:pt x="965726" y="0"/>
                  </a:lnTo>
                </a:path>
                <a:path w="2074545">
                  <a:moveTo>
                    <a:pt x="236876" y="0"/>
                  </a:moveTo>
                  <a:lnTo>
                    <a:pt x="252720" y="0"/>
                  </a:lnTo>
                </a:path>
                <a:path w="2074545">
                  <a:moveTo>
                    <a:pt x="1187550" y="0"/>
                  </a:moveTo>
                  <a:lnTo>
                    <a:pt x="1203395" y="0"/>
                  </a:lnTo>
                </a:path>
                <a:path w="2074545">
                  <a:moveTo>
                    <a:pt x="791436" y="0"/>
                  </a:moveTo>
                  <a:lnTo>
                    <a:pt x="807281" y="0"/>
                  </a:lnTo>
                </a:path>
                <a:path w="2074545">
                  <a:moveTo>
                    <a:pt x="395322" y="0"/>
                  </a:moveTo>
                  <a:lnTo>
                    <a:pt x="411166" y="0"/>
                  </a:lnTo>
                </a:path>
                <a:path w="2074545">
                  <a:moveTo>
                    <a:pt x="632990" y="0"/>
                  </a:moveTo>
                  <a:lnTo>
                    <a:pt x="648835" y="0"/>
                  </a:lnTo>
                </a:path>
                <a:path w="2074545">
                  <a:moveTo>
                    <a:pt x="1108327" y="0"/>
                  </a:moveTo>
                  <a:lnTo>
                    <a:pt x="1124172" y="0"/>
                  </a:lnTo>
                </a:path>
                <a:path w="2074545">
                  <a:moveTo>
                    <a:pt x="316099" y="0"/>
                  </a:moveTo>
                  <a:lnTo>
                    <a:pt x="331943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7268" y="198001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7268" y="198001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93193" y="1847790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0" y="0"/>
                  </a:moveTo>
                  <a:lnTo>
                    <a:pt x="2074054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77268" y="184779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77268" y="184779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5924" y="0"/>
                  </a:moveTo>
                  <a:lnTo>
                    <a:pt x="0" y="0"/>
                  </a:lnTo>
                </a:path>
              </a:pathLst>
            </a:custGeom>
            <a:ln w="36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87458" y="1847811"/>
              <a:ext cx="1489710" cy="661670"/>
            </a:xfrm>
            <a:custGeom>
              <a:avLst/>
              <a:gdLst/>
              <a:ahLst/>
              <a:cxnLst/>
              <a:rect l="l" t="t" r="r" b="b"/>
              <a:pathLst>
                <a:path w="1489710" h="661669">
                  <a:moveTo>
                    <a:pt x="63385" y="0"/>
                  </a:moveTo>
                  <a:lnTo>
                    <a:pt x="0" y="0"/>
                  </a:lnTo>
                  <a:lnTo>
                    <a:pt x="0" y="661111"/>
                  </a:lnTo>
                  <a:lnTo>
                    <a:pt x="63385" y="661111"/>
                  </a:lnTo>
                  <a:lnTo>
                    <a:pt x="63385" y="0"/>
                  </a:lnTo>
                  <a:close/>
                </a:path>
                <a:path w="1489710" h="661669">
                  <a:moveTo>
                    <a:pt x="142608" y="101"/>
                  </a:moveTo>
                  <a:lnTo>
                    <a:pt x="79222" y="101"/>
                  </a:lnTo>
                  <a:lnTo>
                    <a:pt x="79222" y="661111"/>
                  </a:lnTo>
                  <a:lnTo>
                    <a:pt x="142608" y="661111"/>
                  </a:lnTo>
                  <a:lnTo>
                    <a:pt x="142608" y="101"/>
                  </a:lnTo>
                  <a:close/>
                </a:path>
                <a:path w="1489710" h="661669">
                  <a:moveTo>
                    <a:pt x="221830" y="1054"/>
                  </a:moveTo>
                  <a:lnTo>
                    <a:pt x="158445" y="1054"/>
                  </a:lnTo>
                  <a:lnTo>
                    <a:pt x="158445" y="661111"/>
                  </a:lnTo>
                  <a:lnTo>
                    <a:pt x="221830" y="661111"/>
                  </a:lnTo>
                  <a:lnTo>
                    <a:pt x="221830" y="1054"/>
                  </a:lnTo>
                  <a:close/>
                </a:path>
                <a:path w="1489710" h="661669">
                  <a:moveTo>
                    <a:pt x="301053" y="8445"/>
                  </a:moveTo>
                  <a:lnTo>
                    <a:pt x="237667" y="8445"/>
                  </a:lnTo>
                  <a:lnTo>
                    <a:pt x="237667" y="661111"/>
                  </a:lnTo>
                  <a:lnTo>
                    <a:pt x="301053" y="661111"/>
                  </a:lnTo>
                  <a:lnTo>
                    <a:pt x="301053" y="8445"/>
                  </a:lnTo>
                  <a:close/>
                </a:path>
                <a:path w="1489710" h="661669">
                  <a:moveTo>
                    <a:pt x="380276" y="20840"/>
                  </a:moveTo>
                  <a:lnTo>
                    <a:pt x="316890" y="20840"/>
                  </a:lnTo>
                  <a:lnTo>
                    <a:pt x="316890" y="661111"/>
                  </a:lnTo>
                  <a:lnTo>
                    <a:pt x="380276" y="661111"/>
                  </a:lnTo>
                  <a:lnTo>
                    <a:pt x="380276" y="20840"/>
                  </a:lnTo>
                  <a:close/>
                </a:path>
                <a:path w="1489710" h="661669">
                  <a:moveTo>
                    <a:pt x="459498" y="31102"/>
                  </a:moveTo>
                  <a:lnTo>
                    <a:pt x="396113" y="31102"/>
                  </a:lnTo>
                  <a:lnTo>
                    <a:pt x="396113" y="661111"/>
                  </a:lnTo>
                  <a:lnTo>
                    <a:pt x="459498" y="661111"/>
                  </a:lnTo>
                  <a:lnTo>
                    <a:pt x="459498" y="31102"/>
                  </a:lnTo>
                  <a:close/>
                </a:path>
                <a:path w="1489710" h="661669">
                  <a:moveTo>
                    <a:pt x="538721" y="38773"/>
                  </a:moveTo>
                  <a:lnTo>
                    <a:pt x="475335" y="38773"/>
                  </a:lnTo>
                  <a:lnTo>
                    <a:pt x="475335" y="661111"/>
                  </a:lnTo>
                  <a:lnTo>
                    <a:pt x="538721" y="661111"/>
                  </a:lnTo>
                  <a:lnTo>
                    <a:pt x="538721" y="38773"/>
                  </a:lnTo>
                  <a:close/>
                </a:path>
                <a:path w="1489710" h="661669">
                  <a:moveTo>
                    <a:pt x="617943" y="41757"/>
                  </a:moveTo>
                  <a:lnTo>
                    <a:pt x="554558" y="41757"/>
                  </a:lnTo>
                  <a:lnTo>
                    <a:pt x="554558" y="661111"/>
                  </a:lnTo>
                  <a:lnTo>
                    <a:pt x="617943" y="661111"/>
                  </a:lnTo>
                  <a:lnTo>
                    <a:pt x="617943" y="41757"/>
                  </a:lnTo>
                  <a:close/>
                </a:path>
                <a:path w="1489710" h="661669">
                  <a:moveTo>
                    <a:pt x="697166" y="61125"/>
                  </a:moveTo>
                  <a:lnTo>
                    <a:pt x="633780" y="61125"/>
                  </a:lnTo>
                  <a:lnTo>
                    <a:pt x="633780" y="661111"/>
                  </a:lnTo>
                  <a:lnTo>
                    <a:pt x="697166" y="661111"/>
                  </a:lnTo>
                  <a:lnTo>
                    <a:pt x="697166" y="61125"/>
                  </a:lnTo>
                  <a:close/>
                </a:path>
                <a:path w="1489710" h="661669">
                  <a:moveTo>
                    <a:pt x="776389" y="67081"/>
                  </a:moveTo>
                  <a:lnTo>
                    <a:pt x="713016" y="67081"/>
                  </a:lnTo>
                  <a:lnTo>
                    <a:pt x="713016" y="661111"/>
                  </a:lnTo>
                  <a:lnTo>
                    <a:pt x="776389" y="661111"/>
                  </a:lnTo>
                  <a:lnTo>
                    <a:pt x="776389" y="67081"/>
                  </a:lnTo>
                  <a:close/>
                </a:path>
                <a:path w="1489710" h="661669">
                  <a:moveTo>
                    <a:pt x="855611" y="72186"/>
                  </a:moveTo>
                  <a:lnTo>
                    <a:pt x="792238" y="72186"/>
                  </a:lnTo>
                  <a:lnTo>
                    <a:pt x="792238" y="661111"/>
                  </a:lnTo>
                  <a:lnTo>
                    <a:pt x="855611" y="661111"/>
                  </a:lnTo>
                  <a:lnTo>
                    <a:pt x="855611" y="72186"/>
                  </a:lnTo>
                  <a:close/>
                </a:path>
                <a:path w="1489710" h="661669">
                  <a:moveTo>
                    <a:pt x="934834" y="75336"/>
                  </a:moveTo>
                  <a:lnTo>
                    <a:pt x="871461" y="75336"/>
                  </a:lnTo>
                  <a:lnTo>
                    <a:pt x="871461" y="661111"/>
                  </a:lnTo>
                  <a:lnTo>
                    <a:pt x="934834" y="661111"/>
                  </a:lnTo>
                  <a:lnTo>
                    <a:pt x="934834" y="75336"/>
                  </a:lnTo>
                  <a:close/>
                </a:path>
                <a:path w="1489710" h="661669">
                  <a:moveTo>
                    <a:pt x="1014056" y="80162"/>
                  </a:moveTo>
                  <a:lnTo>
                    <a:pt x="950683" y="80162"/>
                  </a:lnTo>
                  <a:lnTo>
                    <a:pt x="950683" y="661111"/>
                  </a:lnTo>
                  <a:lnTo>
                    <a:pt x="1014056" y="661111"/>
                  </a:lnTo>
                  <a:lnTo>
                    <a:pt x="1014056" y="80162"/>
                  </a:lnTo>
                  <a:close/>
                </a:path>
                <a:path w="1489710" h="661669">
                  <a:moveTo>
                    <a:pt x="1093279" y="89750"/>
                  </a:moveTo>
                  <a:lnTo>
                    <a:pt x="1029906" y="89750"/>
                  </a:lnTo>
                  <a:lnTo>
                    <a:pt x="1029906" y="661111"/>
                  </a:lnTo>
                  <a:lnTo>
                    <a:pt x="1093279" y="661111"/>
                  </a:lnTo>
                  <a:lnTo>
                    <a:pt x="1093279" y="89750"/>
                  </a:lnTo>
                  <a:close/>
                </a:path>
                <a:path w="1489710" h="661669">
                  <a:moveTo>
                    <a:pt x="1172502" y="98285"/>
                  </a:moveTo>
                  <a:lnTo>
                    <a:pt x="1109129" y="98285"/>
                  </a:lnTo>
                  <a:lnTo>
                    <a:pt x="1109129" y="661111"/>
                  </a:lnTo>
                  <a:lnTo>
                    <a:pt x="1172502" y="661111"/>
                  </a:lnTo>
                  <a:lnTo>
                    <a:pt x="1172502" y="98285"/>
                  </a:lnTo>
                  <a:close/>
                </a:path>
                <a:path w="1489710" h="661669">
                  <a:moveTo>
                    <a:pt x="1251724" y="104749"/>
                  </a:moveTo>
                  <a:lnTo>
                    <a:pt x="1188351" y="104749"/>
                  </a:lnTo>
                  <a:lnTo>
                    <a:pt x="1188351" y="661111"/>
                  </a:lnTo>
                  <a:lnTo>
                    <a:pt x="1251724" y="661111"/>
                  </a:lnTo>
                  <a:lnTo>
                    <a:pt x="1251724" y="104749"/>
                  </a:lnTo>
                  <a:close/>
                </a:path>
                <a:path w="1489710" h="661669">
                  <a:moveTo>
                    <a:pt x="1330947" y="108915"/>
                  </a:moveTo>
                  <a:lnTo>
                    <a:pt x="1267574" y="108915"/>
                  </a:lnTo>
                  <a:lnTo>
                    <a:pt x="1267574" y="661111"/>
                  </a:lnTo>
                  <a:lnTo>
                    <a:pt x="1330947" y="661111"/>
                  </a:lnTo>
                  <a:lnTo>
                    <a:pt x="1330947" y="108915"/>
                  </a:lnTo>
                  <a:close/>
                </a:path>
                <a:path w="1489710" h="661669">
                  <a:moveTo>
                    <a:pt x="1410169" y="113372"/>
                  </a:moveTo>
                  <a:lnTo>
                    <a:pt x="1346796" y="113372"/>
                  </a:lnTo>
                  <a:lnTo>
                    <a:pt x="1346796" y="661111"/>
                  </a:lnTo>
                  <a:lnTo>
                    <a:pt x="1410169" y="661111"/>
                  </a:lnTo>
                  <a:lnTo>
                    <a:pt x="1410169" y="113372"/>
                  </a:lnTo>
                  <a:close/>
                </a:path>
                <a:path w="1489710" h="661669">
                  <a:moveTo>
                    <a:pt x="1489392" y="133134"/>
                  </a:moveTo>
                  <a:lnTo>
                    <a:pt x="1426019" y="133134"/>
                  </a:lnTo>
                  <a:lnTo>
                    <a:pt x="1426019" y="661111"/>
                  </a:lnTo>
                  <a:lnTo>
                    <a:pt x="1489392" y="661111"/>
                  </a:lnTo>
                  <a:lnTo>
                    <a:pt x="1489392" y="133134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92700" y="2166645"/>
              <a:ext cx="380365" cy="342900"/>
            </a:xfrm>
            <a:custGeom>
              <a:avLst/>
              <a:gdLst/>
              <a:ahLst/>
              <a:cxnLst/>
              <a:rect l="l" t="t" r="r" b="b"/>
              <a:pathLst>
                <a:path w="380364" h="342900">
                  <a:moveTo>
                    <a:pt x="63373" y="0"/>
                  </a:moveTo>
                  <a:lnTo>
                    <a:pt x="0" y="0"/>
                  </a:lnTo>
                  <a:lnTo>
                    <a:pt x="0" y="342277"/>
                  </a:lnTo>
                  <a:lnTo>
                    <a:pt x="63373" y="342277"/>
                  </a:lnTo>
                  <a:lnTo>
                    <a:pt x="63373" y="0"/>
                  </a:lnTo>
                  <a:close/>
                </a:path>
                <a:path w="380364" h="342900">
                  <a:moveTo>
                    <a:pt x="142595" y="4394"/>
                  </a:moveTo>
                  <a:lnTo>
                    <a:pt x="79222" y="4394"/>
                  </a:lnTo>
                  <a:lnTo>
                    <a:pt x="79222" y="342277"/>
                  </a:lnTo>
                  <a:lnTo>
                    <a:pt x="142595" y="342277"/>
                  </a:lnTo>
                  <a:lnTo>
                    <a:pt x="142595" y="4394"/>
                  </a:lnTo>
                  <a:close/>
                </a:path>
                <a:path w="380364" h="342900">
                  <a:moveTo>
                    <a:pt x="221818" y="21475"/>
                  </a:moveTo>
                  <a:lnTo>
                    <a:pt x="158445" y="21475"/>
                  </a:lnTo>
                  <a:lnTo>
                    <a:pt x="158445" y="342277"/>
                  </a:lnTo>
                  <a:lnTo>
                    <a:pt x="221818" y="342277"/>
                  </a:lnTo>
                  <a:lnTo>
                    <a:pt x="221818" y="21475"/>
                  </a:lnTo>
                  <a:close/>
                </a:path>
                <a:path w="380364" h="342900">
                  <a:moveTo>
                    <a:pt x="301040" y="32334"/>
                  </a:moveTo>
                  <a:lnTo>
                    <a:pt x="237667" y="32334"/>
                  </a:lnTo>
                  <a:lnTo>
                    <a:pt x="237667" y="342277"/>
                  </a:lnTo>
                  <a:lnTo>
                    <a:pt x="301040" y="342277"/>
                  </a:lnTo>
                  <a:lnTo>
                    <a:pt x="301040" y="32334"/>
                  </a:lnTo>
                  <a:close/>
                </a:path>
                <a:path w="380364" h="342900">
                  <a:moveTo>
                    <a:pt x="380263" y="63817"/>
                  </a:moveTo>
                  <a:lnTo>
                    <a:pt x="316890" y="63817"/>
                  </a:lnTo>
                  <a:lnTo>
                    <a:pt x="316890" y="342277"/>
                  </a:lnTo>
                  <a:lnTo>
                    <a:pt x="380263" y="342277"/>
                  </a:lnTo>
                  <a:lnTo>
                    <a:pt x="380263" y="63817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93193" y="2166638"/>
              <a:ext cx="2074545" cy="0"/>
            </a:xfrm>
            <a:custGeom>
              <a:avLst/>
              <a:gdLst/>
              <a:ahLst/>
              <a:cxnLst/>
              <a:rect l="l" t="t" r="r" b="b"/>
              <a:pathLst>
                <a:path w="2074545">
                  <a:moveTo>
                    <a:pt x="0" y="0"/>
                  </a:moveTo>
                  <a:lnTo>
                    <a:pt x="2074054" y="0"/>
                  </a:lnTo>
                </a:path>
              </a:pathLst>
            </a:custGeom>
            <a:ln w="45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93193" y="1814744"/>
              <a:ext cx="2074545" cy="694690"/>
            </a:xfrm>
            <a:custGeom>
              <a:avLst/>
              <a:gdLst/>
              <a:ahLst/>
              <a:cxnLst/>
              <a:rect l="l" t="t" r="r" b="b"/>
              <a:pathLst>
                <a:path w="2074545" h="694689">
                  <a:moveTo>
                    <a:pt x="0" y="694167"/>
                  </a:moveTo>
                  <a:lnTo>
                    <a:pt x="0" y="0"/>
                  </a:lnTo>
                </a:path>
                <a:path w="2074545" h="694689">
                  <a:moveTo>
                    <a:pt x="0" y="694167"/>
                  </a:moveTo>
                  <a:lnTo>
                    <a:pt x="2074054" y="694167"/>
                  </a:lnTo>
                </a:path>
              </a:pathLst>
            </a:custGeom>
            <a:ln w="4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86590" y="1850915"/>
              <a:ext cx="77470" cy="27305"/>
            </a:xfrm>
            <a:custGeom>
              <a:avLst/>
              <a:gdLst/>
              <a:ahLst/>
              <a:cxnLst/>
              <a:rect l="l" t="t" r="r" b="b"/>
              <a:pathLst>
                <a:path w="77470" h="27305">
                  <a:moveTo>
                    <a:pt x="77348" y="0"/>
                  </a:moveTo>
                  <a:lnTo>
                    <a:pt x="0" y="0"/>
                  </a:lnTo>
                  <a:lnTo>
                    <a:pt x="0" y="27071"/>
                  </a:lnTo>
                  <a:lnTo>
                    <a:pt x="77348" y="27071"/>
                  </a:lnTo>
                  <a:lnTo>
                    <a:pt x="77348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086590" y="1850915"/>
              <a:ext cx="77470" cy="27305"/>
            </a:xfrm>
            <a:custGeom>
              <a:avLst/>
              <a:gdLst/>
              <a:ahLst/>
              <a:cxnLst/>
              <a:rect l="l" t="t" r="r" b="b"/>
              <a:pathLst>
                <a:path w="77470" h="27305">
                  <a:moveTo>
                    <a:pt x="0" y="27071"/>
                  </a:moveTo>
                  <a:lnTo>
                    <a:pt x="77348" y="27071"/>
                  </a:lnTo>
                  <a:lnTo>
                    <a:pt x="77348" y="0"/>
                  </a:lnTo>
                  <a:lnTo>
                    <a:pt x="0" y="0"/>
                  </a:lnTo>
                  <a:lnTo>
                    <a:pt x="0" y="27071"/>
                  </a:lnTo>
                  <a:close/>
                </a:path>
              </a:pathLst>
            </a:custGeom>
            <a:ln w="4549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086590" y="1907434"/>
              <a:ext cx="77470" cy="27305"/>
            </a:xfrm>
            <a:custGeom>
              <a:avLst/>
              <a:gdLst/>
              <a:ahLst/>
              <a:cxnLst/>
              <a:rect l="l" t="t" r="r" b="b"/>
              <a:pathLst>
                <a:path w="77470" h="27305">
                  <a:moveTo>
                    <a:pt x="77348" y="0"/>
                  </a:moveTo>
                  <a:lnTo>
                    <a:pt x="0" y="0"/>
                  </a:lnTo>
                  <a:lnTo>
                    <a:pt x="0" y="27071"/>
                  </a:lnTo>
                  <a:lnTo>
                    <a:pt x="77348" y="27071"/>
                  </a:lnTo>
                  <a:lnTo>
                    <a:pt x="77348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86590" y="1907434"/>
              <a:ext cx="77470" cy="27305"/>
            </a:xfrm>
            <a:custGeom>
              <a:avLst/>
              <a:gdLst/>
              <a:ahLst/>
              <a:cxnLst/>
              <a:rect l="l" t="t" r="r" b="b"/>
              <a:pathLst>
                <a:path w="77470" h="27305">
                  <a:moveTo>
                    <a:pt x="0" y="27071"/>
                  </a:moveTo>
                  <a:lnTo>
                    <a:pt x="77348" y="27071"/>
                  </a:lnTo>
                  <a:lnTo>
                    <a:pt x="77348" y="0"/>
                  </a:lnTo>
                  <a:lnTo>
                    <a:pt x="0" y="0"/>
                  </a:lnTo>
                  <a:lnTo>
                    <a:pt x="0" y="27071"/>
                  </a:lnTo>
                  <a:close/>
                </a:path>
              </a:pathLst>
            </a:custGeom>
            <a:ln w="454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178973" y="2338621"/>
            <a:ext cx="95250" cy="205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0" dirty="0">
                <a:latin typeface="Times New Roman"/>
                <a:cs typeface="Times New Roman"/>
              </a:rPr>
              <a:t>0.05</a:t>
            </a: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" spc="-20" dirty="0">
                <a:latin typeface="Times New Roman"/>
                <a:cs typeface="Times New Roman"/>
              </a:rPr>
              <a:t>0.00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10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1684972" y="3069257"/>
            <a:ext cx="23901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Pruning rule:</a:t>
            </a:r>
            <a:r>
              <a:rPr sz="500" i="1" spc="3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Eq. (5), Section 4.4, Algorithm 2–3,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78973" y="2206397"/>
            <a:ext cx="9525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0" dirty="0">
                <a:latin typeface="Times New Roman"/>
                <a:cs typeface="Times New Roman"/>
              </a:rPr>
              <a:t>0.10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78973" y="2074173"/>
            <a:ext cx="9525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0" dirty="0">
                <a:latin typeface="Times New Roman"/>
                <a:cs typeface="Times New Roman"/>
              </a:rPr>
              <a:t>0.15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78973" y="1941949"/>
            <a:ext cx="9525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0" dirty="0">
                <a:latin typeface="Times New Roman"/>
                <a:cs typeface="Times New Roman"/>
              </a:rPr>
              <a:t>0.20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178973" y="1809724"/>
            <a:ext cx="9525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" spc="-20" dirty="0">
                <a:latin typeface="Times New Roman"/>
                <a:cs typeface="Times New Roman"/>
              </a:rPr>
              <a:t>0.25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098029" y="2005941"/>
            <a:ext cx="85725" cy="314325"/>
          </a:xfrm>
          <a:prstGeom prst="rect">
            <a:avLst/>
          </a:prstGeom>
        </p:spPr>
        <p:txBody>
          <a:bodyPr vert="vert270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525" i="1" baseline="7936" dirty="0">
                <a:latin typeface="Times New Roman"/>
                <a:cs typeface="Times New Roman"/>
              </a:rPr>
              <a:t>s</a:t>
            </a:r>
            <a:r>
              <a:rPr sz="250" i="1" dirty="0">
                <a:latin typeface="Times New Roman"/>
                <a:cs typeface="Times New Roman"/>
              </a:rPr>
              <a:t>k</a:t>
            </a:r>
            <a:r>
              <a:rPr sz="250" i="1" spc="30" dirty="0">
                <a:latin typeface="Times New Roman"/>
                <a:cs typeface="Times New Roman"/>
              </a:rPr>
              <a:t> </a:t>
            </a:r>
            <a:r>
              <a:rPr sz="525" baseline="7936" dirty="0">
                <a:latin typeface="Cambria"/>
                <a:cs typeface="Cambria"/>
              </a:rPr>
              <a:t>=</a:t>
            </a:r>
            <a:r>
              <a:rPr sz="525" spc="-15" baseline="7936" dirty="0">
                <a:latin typeface="Cambria"/>
                <a:cs typeface="Cambria"/>
              </a:rPr>
              <a:t> </a:t>
            </a:r>
            <a:r>
              <a:rPr sz="525" i="1" spc="-15" baseline="7936" dirty="0">
                <a:latin typeface="Times New Roman"/>
                <a:cs typeface="Times New Roman"/>
              </a:rPr>
              <a:t>w</a:t>
            </a:r>
            <a:r>
              <a:rPr sz="250" i="1" spc="-10" dirty="0">
                <a:latin typeface="Times New Roman"/>
                <a:cs typeface="Times New Roman"/>
              </a:rPr>
              <a:t>ent</a:t>
            </a:r>
            <a:r>
              <a:rPr sz="525" spc="-15" baseline="7936" dirty="0">
                <a:latin typeface="Cambria"/>
                <a:cs typeface="Cambria"/>
              </a:rPr>
              <a:t>(</a:t>
            </a:r>
            <a:r>
              <a:rPr sz="525" i="1" spc="-15" baseline="7936" dirty="0">
                <a:latin typeface="Times New Roman"/>
                <a:cs typeface="Times New Roman"/>
              </a:rPr>
              <a:t>k</a:t>
            </a:r>
            <a:r>
              <a:rPr sz="525" spc="-15" baseline="7936" dirty="0">
                <a:latin typeface="Cambria"/>
                <a:cs typeface="Cambria"/>
              </a:rPr>
              <a:t>)</a:t>
            </a:r>
            <a:r>
              <a:rPr sz="525" spc="-22" baseline="7936" dirty="0">
                <a:latin typeface="Cambria"/>
                <a:cs typeface="Cambria"/>
              </a:rPr>
              <a:t> </a:t>
            </a:r>
            <a:r>
              <a:rPr sz="525" baseline="7936" dirty="0">
                <a:latin typeface="Cambria"/>
                <a:cs typeface="Cambria"/>
              </a:rPr>
              <a:t>⋅</a:t>
            </a:r>
            <a:r>
              <a:rPr sz="525" spc="-15" baseline="7936" dirty="0">
                <a:latin typeface="Cambria"/>
                <a:cs typeface="Cambria"/>
              </a:rPr>
              <a:t> </a:t>
            </a:r>
            <a:r>
              <a:rPr sz="525" i="1" baseline="7936" dirty="0">
                <a:latin typeface="Times New Roman"/>
                <a:cs typeface="Times New Roman"/>
              </a:rPr>
              <a:t>F</a:t>
            </a:r>
            <a:r>
              <a:rPr sz="525" i="1" spc="-52" baseline="7936" dirty="0">
                <a:latin typeface="Times New Roman"/>
                <a:cs typeface="Times New Roman"/>
              </a:rPr>
              <a:t> </a:t>
            </a:r>
            <a:r>
              <a:rPr sz="375" spc="-37" baseline="44444" dirty="0">
                <a:latin typeface="Cambria"/>
                <a:cs typeface="Cambria"/>
              </a:rPr>
              <a:t>(</a:t>
            </a:r>
            <a:r>
              <a:rPr sz="375" i="1" spc="-37" baseline="44444" dirty="0">
                <a:latin typeface="Times New Roman"/>
                <a:cs typeface="Times New Roman"/>
              </a:rPr>
              <a:t>j</a:t>
            </a:r>
            <a:r>
              <a:rPr sz="375" spc="-37" baseline="44444" dirty="0">
                <a:latin typeface="Cambria"/>
                <a:cs typeface="Cambria"/>
              </a:rPr>
              <a:t>)</a:t>
            </a:r>
            <a:endParaRPr sz="375" baseline="44444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132216" y="2012562"/>
            <a:ext cx="57785" cy="5397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50" i="1" spc="-25" dirty="0">
                <a:latin typeface="Times New Roman"/>
                <a:cs typeface="Times New Roman"/>
              </a:rPr>
              <a:t>kk</a:t>
            </a:r>
            <a:endParaRPr sz="2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768653" y="1726970"/>
            <a:ext cx="1123950" cy="83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10" dirty="0">
                <a:latin typeface="Times New Roman"/>
                <a:cs typeface="Times New Roman"/>
              </a:rPr>
              <a:t>Parameter importance</a:t>
            </a:r>
            <a:r>
              <a:rPr sz="350" b="1" spc="30" dirty="0">
                <a:latin typeface="Times New Roman"/>
                <a:cs typeface="Times New Roman"/>
              </a:rPr>
              <a:t> </a:t>
            </a:r>
            <a:r>
              <a:rPr sz="350" b="1" spc="10" dirty="0">
                <a:latin typeface="Times New Roman"/>
                <a:cs typeface="Times New Roman"/>
              </a:rPr>
              <a:t>ranking</a:t>
            </a:r>
            <a:r>
              <a:rPr sz="350" b="1" spc="25" dirty="0">
                <a:latin typeface="Times New Roman"/>
                <a:cs typeface="Times New Roman"/>
              </a:rPr>
              <a:t> </a:t>
            </a:r>
            <a:r>
              <a:rPr sz="350" b="1" spc="10" dirty="0">
                <a:latin typeface="Times New Roman"/>
                <a:cs typeface="Times New Roman"/>
              </a:rPr>
              <a:t>(EWP</a:t>
            </a:r>
            <a:r>
              <a:rPr sz="350" b="1" spc="5" dirty="0">
                <a:latin typeface="Times New Roman"/>
                <a:cs typeface="Times New Roman"/>
              </a:rPr>
              <a:t> </a:t>
            </a:r>
            <a:r>
              <a:rPr sz="350" b="1" spc="10" dirty="0">
                <a:latin typeface="Times New Roman"/>
                <a:cs typeface="Times New Roman"/>
              </a:rPr>
              <a:t>pruning</a:t>
            </a:r>
            <a:r>
              <a:rPr sz="350" b="1" spc="25" dirty="0">
                <a:latin typeface="Times New Roman"/>
                <a:cs typeface="Times New Roman"/>
              </a:rPr>
              <a:t> </a:t>
            </a:r>
            <a:r>
              <a:rPr sz="350" b="1" spc="-10" dirty="0">
                <a:latin typeface="Times New Roman"/>
                <a:cs typeface="Times New Roman"/>
              </a:rPr>
              <a:t>scores)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82177" y="1816504"/>
            <a:ext cx="163195" cy="13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600"/>
              </a:lnSpc>
              <a:spcBef>
                <a:spcPts val="100"/>
              </a:spcBef>
            </a:pPr>
            <a:r>
              <a:rPr sz="300" spc="-10" dirty="0">
                <a:latin typeface="Times New Roman"/>
                <a:cs typeface="Times New Roman"/>
              </a:rPr>
              <a:t>Pruned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Times New Roman"/>
                <a:cs typeface="Times New Roman"/>
              </a:rPr>
              <a:t>Retained</a:t>
            </a:r>
            <a:endParaRPr sz="3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Complete</a:t>
            </a:r>
            <a:r>
              <a:rPr spc="-5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75726" y="783978"/>
            <a:ext cx="1090295" cy="370205"/>
            <a:chOff x="375726" y="783978"/>
            <a:chExt cx="1090295" cy="370205"/>
          </a:xfrm>
        </p:grpSpPr>
        <p:sp>
          <p:nvSpPr>
            <p:cNvPr id="5" name="object 5"/>
            <p:cNvSpPr/>
            <p:nvPr/>
          </p:nvSpPr>
          <p:spPr>
            <a:xfrm>
              <a:off x="380806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4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4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DBE7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806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4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4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0079" y="879943"/>
            <a:ext cx="1040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Training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81864" y="783978"/>
            <a:ext cx="1090295" cy="370205"/>
            <a:chOff x="1681864" y="783978"/>
            <a:chExt cx="1090295" cy="370205"/>
          </a:xfrm>
        </p:grpSpPr>
        <p:sp>
          <p:nvSpPr>
            <p:cNvPr id="9" name="object 9"/>
            <p:cNvSpPr/>
            <p:nvPr/>
          </p:nvSpPr>
          <p:spPr>
            <a:xfrm>
              <a:off x="1686944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E8D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86944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6828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06217" y="824939"/>
            <a:ext cx="1040765" cy="258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Forget</a:t>
            </a:r>
            <a:endParaRPr sz="8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3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Request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88003" y="783978"/>
            <a:ext cx="1090295" cy="370205"/>
            <a:chOff x="2988003" y="783978"/>
            <a:chExt cx="1090295" cy="370205"/>
          </a:xfrm>
        </p:grpSpPr>
        <p:sp>
          <p:nvSpPr>
            <p:cNvPr id="13" name="object 13"/>
            <p:cNvSpPr/>
            <p:nvPr/>
          </p:nvSpPr>
          <p:spPr>
            <a:xfrm>
              <a:off x="2993083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DEF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93083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24A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93833" y="889532"/>
            <a:ext cx="278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solidFill>
                  <a:srgbClr val="151515"/>
                </a:solidFill>
                <a:latin typeface="Arial"/>
                <a:cs typeface="Arial"/>
              </a:rPr>
              <a:t>QFIM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94141" y="783978"/>
            <a:ext cx="1090295" cy="370205"/>
            <a:chOff x="4294141" y="783978"/>
            <a:chExt cx="1090295" cy="370205"/>
          </a:xfrm>
        </p:grpSpPr>
        <p:sp>
          <p:nvSpPr>
            <p:cNvPr id="17" name="object 17"/>
            <p:cNvSpPr/>
            <p:nvPr/>
          </p:nvSpPr>
          <p:spPr>
            <a:xfrm>
              <a:off x="4299221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DEF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9221" y="789058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24A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18494" y="824406"/>
            <a:ext cx="1046480" cy="258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Entanglement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Weight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94141" y="1370107"/>
            <a:ext cx="1090295" cy="370205"/>
            <a:chOff x="4294141" y="1370107"/>
            <a:chExt cx="1090295" cy="370205"/>
          </a:xfrm>
        </p:grpSpPr>
        <p:sp>
          <p:nvSpPr>
            <p:cNvPr id="21" name="object 21"/>
            <p:cNvSpPr/>
            <p:nvPr/>
          </p:nvSpPr>
          <p:spPr>
            <a:xfrm>
              <a:off x="4299221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F1E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99221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03559" y="1468867"/>
            <a:ext cx="45783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51515"/>
                </a:solidFill>
                <a:latin typeface="Arial"/>
                <a:cs typeface="Arial"/>
              </a:rPr>
              <a:t>Score</a:t>
            </a:r>
            <a:r>
              <a:rPr sz="800" spc="-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800" i="1" spc="-25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900" i="1" spc="-37" baseline="-13888" dirty="0">
                <a:solidFill>
                  <a:srgbClr val="151515"/>
                </a:solidFill>
                <a:latin typeface="Arial"/>
                <a:cs typeface="Arial"/>
              </a:rPr>
              <a:t>k</a:t>
            </a:r>
            <a:endParaRPr sz="900" baseline="-13888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88003" y="1370107"/>
            <a:ext cx="1090295" cy="370205"/>
            <a:chOff x="2988003" y="1370107"/>
            <a:chExt cx="1090295" cy="370205"/>
          </a:xfrm>
        </p:grpSpPr>
        <p:sp>
          <p:nvSpPr>
            <p:cNvPr id="25" name="object 25"/>
            <p:cNvSpPr/>
            <p:nvPr/>
          </p:nvSpPr>
          <p:spPr>
            <a:xfrm>
              <a:off x="2993083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F9D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93083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D91E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84575" y="1476741"/>
            <a:ext cx="297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Prune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81864" y="1370107"/>
            <a:ext cx="1090295" cy="370205"/>
            <a:chOff x="1681864" y="1370107"/>
            <a:chExt cx="1090295" cy="370205"/>
          </a:xfrm>
        </p:grpSpPr>
        <p:sp>
          <p:nvSpPr>
            <p:cNvPr id="29" name="object 29"/>
            <p:cNvSpPr/>
            <p:nvPr/>
          </p:nvSpPr>
          <p:spPr>
            <a:xfrm>
              <a:off x="1686944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86944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5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5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89683" y="1476741"/>
            <a:ext cx="474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Fine-</a:t>
            </a:r>
            <a:r>
              <a:rPr sz="800" spc="-20" dirty="0">
                <a:solidFill>
                  <a:srgbClr val="151515"/>
                </a:solidFill>
                <a:latin typeface="Arial"/>
                <a:cs typeface="Arial"/>
              </a:rPr>
              <a:t>Tune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5726" y="1370107"/>
            <a:ext cx="1090295" cy="370205"/>
            <a:chOff x="375726" y="1370107"/>
            <a:chExt cx="1090295" cy="370205"/>
          </a:xfrm>
        </p:grpSpPr>
        <p:sp>
          <p:nvSpPr>
            <p:cNvPr id="33" name="object 33"/>
            <p:cNvSpPr/>
            <p:nvPr/>
          </p:nvSpPr>
          <p:spPr>
            <a:xfrm>
              <a:off x="380806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4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4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solidFill>
              <a:srgbClr val="C3D7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0806" y="1375187"/>
              <a:ext cx="1080135" cy="360045"/>
            </a:xfrm>
            <a:custGeom>
              <a:avLst/>
              <a:gdLst/>
              <a:ahLst/>
              <a:cxnLst/>
              <a:rect l="l" t="t" r="r" b="b"/>
              <a:pathLst>
                <a:path w="1080135" h="360044">
                  <a:moveTo>
                    <a:pt x="1054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34698"/>
                  </a:lnTo>
                  <a:lnTo>
                    <a:pt x="1988" y="344548"/>
                  </a:lnTo>
                  <a:lnTo>
                    <a:pt x="7411" y="352592"/>
                  </a:lnTo>
                  <a:lnTo>
                    <a:pt x="15455" y="358015"/>
                  </a:lnTo>
                  <a:lnTo>
                    <a:pt x="25305" y="360004"/>
                  </a:lnTo>
                  <a:lnTo>
                    <a:pt x="1054708" y="360004"/>
                  </a:lnTo>
                  <a:lnTo>
                    <a:pt x="1064558" y="358015"/>
                  </a:lnTo>
                  <a:lnTo>
                    <a:pt x="1072601" y="352592"/>
                  </a:lnTo>
                  <a:lnTo>
                    <a:pt x="1078024" y="344548"/>
                  </a:lnTo>
                  <a:lnTo>
                    <a:pt x="1080013" y="334698"/>
                  </a:lnTo>
                  <a:lnTo>
                    <a:pt x="1080013" y="25305"/>
                  </a:lnTo>
                  <a:lnTo>
                    <a:pt x="1078024" y="15455"/>
                  </a:lnTo>
                  <a:lnTo>
                    <a:pt x="1072601" y="7411"/>
                  </a:lnTo>
                  <a:lnTo>
                    <a:pt x="1064558" y="1988"/>
                  </a:lnTo>
                  <a:lnTo>
                    <a:pt x="1054708" y="0"/>
                  </a:lnTo>
                  <a:close/>
                </a:path>
              </a:pathLst>
            </a:custGeom>
            <a:ln w="10122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2457" y="1476741"/>
            <a:ext cx="417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1515"/>
                </a:solidFill>
                <a:latin typeface="Arial"/>
                <a:cs typeface="Arial"/>
              </a:rPr>
              <a:t>Evaluate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465881" y="947244"/>
            <a:ext cx="3395345" cy="629920"/>
            <a:chOff x="1465881" y="947244"/>
            <a:chExt cx="3395345" cy="629920"/>
          </a:xfrm>
        </p:grpSpPr>
        <p:sp>
          <p:nvSpPr>
            <p:cNvPr id="37" name="object 37"/>
            <p:cNvSpPr/>
            <p:nvPr/>
          </p:nvSpPr>
          <p:spPr>
            <a:xfrm>
              <a:off x="1465881" y="969060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23113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23113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72019" y="969060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29251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29251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78157" y="969060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9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35389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0"/>
                  </a:move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35389" y="953570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15489"/>
                  </a:moveTo>
                  <a:lnTo>
                    <a:pt x="0" y="0"/>
                  </a:lnTo>
                  <a:lnTo>
                    <a:pt x="13681" y="15489"/>
                  </a:lnTo>
                  <a:lnTo>
                    <a:pt x="0" y="30979"/>
                  </a:lnTo>
                  <a:lnTo>
                    <a:pt x="40753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839228" y="1154123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0"/>
                  </a:moveTo>
                  <a:lnTo>
                    <a:pt x="0" y="167749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23738" y="1311355"/>
              <a:ext cx="31115" cy="41275"/>
            </a:xfrm>
            <a:custGeom>
              <a:avLst/>
              <a:gdLst/>
              <a:ahLst/>
              <a:cxnLst/>
              <a:rect l="l" t="t" r="r" b="b"/>
              <a:pathLst>
                <a:path w="31114" h="41275">
                  <a:moveTo>
                    <a:pt x="30979" y="0"/>
                  </a:moveTo>
                  <a:lnTo>
                    <a:pt x="15489" y="13681"/>
                  </a:lnTo>
                  <a:lnTo>
                    <a:pt x="0" y="0"/>
                  </a:lnTo>
                  <a:lnTo>
                    <a:pt x="15489" y="40753"/>
                  </a:lnTo>
                  <a:lnTo>
                    <a:pt x="3097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23738" y="1311355"/>
              <a:ext cx="31115" cy="41275"/>
            </a:xfrm>
            <a:custGeom>
              <a:avLst/>
              <a:gdLst/>
              <a:ahLst/>
              <a:cxnLst/>
              <a:rect l="l" t="t" r="r" b="b"/>
              <a:pathLst>
                <a:path w="31114" h="41275">
                  <a:moveTo>
                    <a:pt x="15489" y="40753"/>
                  </a:moveTo>
                  <a:lnTo>
                    <a:pt x="30979" y="0"/>
                  </a:lnTo>
                  <a:lnTo>
                    <a:pt x="15489" y="13681"/>
                  </a:lnTo>
                  <a:lnTo>
                    <a:pt x="0" y="0"/>
                  </a:lnTo>
                  <a:lnTo>
                    <a:pt x="15489" y="40753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26410" y="1555189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167749" y="0"/>
                  </a:moveTo>
                  <a:lnTo>
                    <a:pt x="0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96174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30979"/>
                  </a:move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lnTo>
                    <a:pt x="40753" y="30979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96174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15489"/>
                  </a:moveTo>
                  <a:lnTo>
                    <a:pt x="40753" y="30979"/>
                  </a:ln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20272" y="1555189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167749" y="0"/>
                  </a:moveTo>
                  <a:lnTo>
                    <a:pt x="0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90036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30979"/>
                  </a:move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lnTo>
                    <a:pt x="40753" y="30979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90036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15489"/>
                  </a:moveTo>
                  <a:lnTo>
                    <a:pt x="40753" y="30979"/>
                  </a:ln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14134" y="1555189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167749" y="0"/>
                  </a:moveTo>
                  <a:lnTo>
                    <a:pt x="0" y="0"/>
                  </a:lnTo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83898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40753" y="30979"/>
                  </a:move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lnTo>
                    <a:pt x="40753" y="30979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83898" y="153969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5">
                  <a:moveTo>
                    <a:pt x="0" y="15489"/>
                  </a:moveTo>
                  <a:lnTo>
                    <a:pt x="40753" y="30979"/>
                  </a:lnTo>
                  <a:lnTo>
                    <a:pt x="27072" y="15489"/>
                  </a:lnTo>
                  <a:lnTo>
                    <a:pt x="40753" y="0"/>
                  </a:lnTo>
                  <a:lnTo>
                    <a:pt x="0" y="15489"/>
                  </a:lnTo>
                  <a:close/>
                </a:path>
              </a:pathLst>
            </a:custGeom>
            <a:ln w="1265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47294" y="2009818"/>
            <a:ext cx="70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Complexity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93" y="2187892"/>
            <a:ext cx="5141666" cy="50609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321894" y="2222642"/>
            <a:ext cx="5116830" cy="458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19"/>
              </a:lnSpc>
              <a:spcBef>
                <a:spcPts val="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Full retraining:</a:t>
            </a:r>
            <a:r>
              <a:rPr sz="700" spc="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O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00" i="1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515"/>
                </a:solidFill>
                <a:latin typeface="Meiryo UI"/>
                <a:cs typeface="Meiryo UI"/>
              </a:rPr>
              <a:t>·</a:t>
            </a:r>
            <a:r>
              <a:rPr sz="700" i="1" spc="-5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700" i="1" spc="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515"/>
                </a:solidFill>
                <a:latin typeface="Meiryo UI"/>
                <a:cs typeface="Meiryo UI"/>
              </a:rPr>
              <a:t>·</a:t>
            </a:r>
            <a:r>
              <a:rPr sz="700" i="1" spc="-5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i="1" spc="50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spc="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700" spc="-25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circuit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evaluations.</a:t>
            </a:r>
            <a:r>
              <a:rPr sz="700" spc="30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EWP: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O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B</a:t>
            </a:r>
            <a:r>
              <a:rPr sz="700" i="1" spc="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515"/>
                </a:solidFill>
                <a:latin typeface="Meiryo UI"/>
                <a:cs typeface="Meiryo UI"/>
              </a:rPr>
              <a:t>·</a:t>
            </a:r>
            <a:r>
              <a:rPr sz="700" i="1" spc="-6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i="1" spc="50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spc="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QFIM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+</a:t>
            </a:r>
            <a:r>
              <a:rPr sz="700" spc="-85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O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 entanglement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+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small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O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(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50" i="1" baseline="-16666" dirty="0">
                <a:solidFill>
                  <a:srgbClr val="151515"/>
                </a:solidFill>
                <a:latin typeface="Arial"/>
                <a:cs typeface="Arial"/>
              </a:rPr>
              <a:t>ft</a:t>
            </a:r>
            <a:r>
              <a:rPr sz="750" i="1" spc="-67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750" i="1" spc="-15" baseline="-16666" dirty="0">
                <a:solidFill>
                  <a:srgbClr val="151515"/>
                </a:solidFill>
                <a:latin typeface="Arial"/>
                <a:cs typeface="Arial"/>
              </a:rPr>
              <a:t>ft</a:t>
            </a:r>
            <a:r>
              <a:rPr sz="750" i="1" spc="-60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50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spc="50" dirty="0">
                <a:solidFill>
                  <a:srgbClr val="151515"/>
                </a:solidFill>
                <a:latin typeface="Lucida Sans Unicode"/>
                <a:cs typeface="Lucida Sans Unicode"/>
              </a:rPr>
              <a:t>)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fine-tune,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819"/>
              </a:lnSpc>
            </a:pP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50" i="1" baseline="-16666" dirty="0">
                <a:solidFill>
                  <a:srgbClr val="151515"/>
                </a:solidFill>
                <a:latin typeface="Arial"/>
                <a:cs typeface="Arial"/>
              </a:rPr>
              <a:t>ft</a:t>
            </a:r>
            <a:r>
              <a:rPr sz="750" i="1" spc="75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204" dirty="0">
                <a:solidFill>
                  <a:srgbClr val="151515"/>
                </a:solidFill>
                <a:latin typeface="Meiryo UI"/>
                <a:cs typeface="Meiryo UI"/>
              </a:rPr>
              <a:t>≪</a:t>
            </a:r>
            <a:r>
              <a:rPr sz="700" i="1" spc="204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00" i="1" spc="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4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measured</a:t>
            </a:r>
            <a:r>
              <a:rPr sz="700" b="1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4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×</a:t>
            </a:r>
            <a:r>
              <a:rPr sz="700" i="1" spc="-4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wall-clock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 speed-</a:t>
            </a:r>
            <a:r>
              <a:rPr sz="700" b="1" spc="-25" dirty="0">
                <a:solidFill>
                  <a:srgbClr val="151515"/>
                </a:solidFill>
                <a:latin typeface="Arial"/>
                <a:cs typeface="Arial"/>
              </a:rPr>
              <a:t>up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  <a:p>
            <a:pPr marL="38100" marR="125730">
              <a:lnSpc>
                <a:spcPts val="700"/>
              </a:lnSpc>
              <a:spcBef>
                <a:spcPts val="395"/>
              </a:spcBef>
            </a:pP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Here,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600" i="1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=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number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training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rounds,</a:t>
            </a:r>
            <a:r>
              <a:rPr sz="600" spc="20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600" i="1" spc="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=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 iterations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per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round,</a:t>
            </a:r>
            <a:r>
              <a:rPr sz="600" spc="20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600" i="1" spc="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=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parameters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(circuit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evaluations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per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parameter),</a:t>
            </a:r>
            <a:r>
              <a:rPr sz="600" spc="20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B</a:t>
            </a:r>
            <a:r>
              <a:rPr sz="600" i="1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=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batch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size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 (samples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6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Fisher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information),</a:t>
            </a:r>
            <a:r>
              <a:rPr sz="600" spc="215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600" i="1" spc="-10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750" i="1" spc="-15" baseline="-16666" dirty="0">
                <a:solidFill>
                  <a:srgbClr val="151515"/>
                </a:solidFill>
                <a:latin typeface="Arial"/>
                <a:cs typeface="Arial"/>
              </a:rPr>
              <a:t>ft</a:t>
            </a:r>
            <a:r>
              <a:rPr sz="750" i="1" spc="-60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151515"/>
                </a:solidFill>
                <a:latin typeface="Trebuchet MS"/>
                <a:cs typeface="Trebuchet MS"/>
              </a:rPr>
              <a:t>,</a:t>
            </a:r>
            <a:r>
              <a:rPr sz="600" i="1" spc="-55" dirty="0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750" i="1" baseline="-16666" dirty="0">
                <a:solidFill>
                  <a:srgbClr val="151515"/>
                </a:solidFill>
                <a:latin typeface="Arial"/>
                <a:cs typeface="Arial"/>
              </a:rPr>
              <a:t>ft</a:t>
            </a:r>
            <a:r>
              <a:rPr sz="750" i="1" spc="179" baseline="-16666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=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fine-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tune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rounds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 and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iterations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(much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151515"/>
                </a:solidFill>
                <a:latin typeface="Arial"/>
                <a:cs typeface="Arial"/>
              </a:rPr>
              <a:t>smaller</a:t>
            </a:r>
            <a:r>
              <a:rPr sz="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151515"/>
                </a:solidFill>
                <a:latin typeface="Arial"/>
                <a:cs typeface="Arial"/>
              </a:rPr>
              <a:t>than </a:t>
            </a:r>
            <a:r>
              <a:rPr sz="600" i="1" dirty="0">
                <a:solidFill>
                  <a:srgbClr val="151515"/>
                </a:solidFill>
                <a:latin typeface="Arial"/>
                <a:cs typeface="Arial"/>
              </a:rPr>
              <a:t>R</a:t>
            </a:r>
            <a:r>
              <a:rPr sz="600" i="1" dirty="0">
                <a:solidFill>
                  <a:srgbClr val="151515"/>
                </a:solidFill>
                <a:latin typeface="Trebuchet MS"/>
                <a:cs typeface="Trebuchet MS"/>
              </a:rPr>
              <a:t>,</a:t>
            </a:r>
            <a:r>
              <a:rPr sz="600" i="1" spc="-50" dirty="0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sz="600" i="1" spc="-25" dirty="0">
                <a:solidFill>
                  <a:srgbClr val="151515"/>
                </a:solidFill>
                <a:latin typeface="Arial"/>
                <a:cs typeface="Arial"/>
              </a:rPr>
              <a:t>I</a:t>
            </a:r>
            <a:r>
              <a:rPr sz="600" spc="-25" dirty="0">
                <a:solidFill>
                  <a:srgbClr val="151515"/>
                </a:solidFill>
                <a:latin typeface="Arial"/>
                <a:cs typeface="Arial"/>
              </a:rPr>
              <a:t>).</a:t>
            </a:r>
            <a:endParaRPr sz="6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11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972805" y="3069257"/>
            <a:ext cx="1814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Algorithms 1–4,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 4.6,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Experimental</a:t>
            </a:r>
            <a:r>
              <a:rPr spc="-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93" y="920584"/>
            <a:ext cx="1714458" cy="506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1894" y="695965"/>
            <a:ext cx="1402080" cy="3956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3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6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5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clients,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180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samples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each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731" y="1096389"/>
            <a:ext cx="1416050" cy="5518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75260" marR="30480" indent="-137795">
              <a:lnSpc>
                <a:spcPts val="800"/>
              </a:lnSpc>
              <a:spcBef>
                <a:spcPts val="25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4-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D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synthetic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supply-chain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risk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features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Non-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IID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strength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515"/>
                </a:solidFill>
                <a:latin typeface="Meiryo UI"/>
                <a:cs typeface="Meiryo UI"/>
              </a:rPr>
              <a:t>β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i="1" spc="-20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9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15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75/25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train/test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split</a:t>
            </a:r>
            <a:endParaRPr sz="7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779" y="920584"/>
            <a:ext cx="1714458" cy="506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35479" y="695965"/>
            <a:ext cx="1113155" cy="3956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6828C4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3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8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4-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qubit,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3-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layer 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VQC</a:t>
            </a:r>
            <a:endParaRPr sz="7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6364" y="920584"/>
            <a:ext cx="1714458" cy="50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49065" y="695965"/>
            <a:ext cx="1067435" cy="3956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1000" b="1" spc="-10" dirty="0">
                <a:solidFill>
                  <a:srgbClr val="24A047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334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6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Simulated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Qiskit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5890" y="1066025"/>
            <a:ext cx="1416050" cy="4813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6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3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random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seeds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515"/>
                </a:solidFill>
                <a:latin typeface="Meiryo UI"/>
                <a:cs typeface="Meiryo UI"/>
              </a:rPr>
              <a:t>{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i="1" spc="-20" dirty="0">
                <a:solidFill>
                  <a:srgbClr val="151515"/>
                </a:solidFill>
                <a:latin typeface="Meiryo UI"/>
                <a:cs typeface="Meiryo UI"/>
              </a:rPr>
              <a:t>,</a:t>
            </a:r>
            <a:r>
              <a:rPr sz="700" i="1" spc="-10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1</a:t>
            </a:r>
            <a:r>
              <a:rPr sz="700" i="1" spc="-10" dirty="0">
                <a:solidFill>
                  <a:srgbClr val="151515"/>
                </a:solidFill>
                <a:latin typeface="Meiryo UI"/>
                <a:cs typeface="Meiryo UI"/>
              </a:rPr>
              <a:t>,</a:t>
            </a:r>
            <a:r>
              <a:rPr sz="700" i="1" spc="-10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2</a:t>
            </a:r>
            <a:r>
              <a:rPr sz="700" i="1" spc="-25" dirty="0">
                <a:solidFill>
                  <a:srgbClr val="151515"/>
                </a:solidFill>
                <a:latin typeface="Meiryo UI"/>
                <a:cs typeface="Meiryo UI"/>
              </a:rPr>
              <a:t>}</a:t>
            </a:r>
            <a:endParaRPr sz="700">
              <a:latin typeface="Meiryo UI"/>
              <a:cs typeface="Meiryo UI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0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=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forgotten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Default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prune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threshold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τ</a:t>
            </a:r>
            <a:r>
              <a:rPr sz="700" i="1" spc="-16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i="1" spc="-20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4663" y="2853058"/>
            <a:ext cx="50165" cy="8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50" dirty="0">
                <a:latin typeface="Times New Roman"/>
                <a:cs typeface="Times New Roman"/>
              </a:rPr>
              <a:t>0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4897" y="2853058"/>
            <a:ext cx="50165" cy="8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50" dirty="0">
                <a:latin typeface="Times New Roman"/>
                <a:cs typeface="Times New Roman"/>
              </a:rPr>
              <a:t>1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5599" y="2853058"/>
            <a:ext cx="50165" cy="8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50" dirty="0">
                <a:latin typeface="Times New Roman"/>
                <a:cs typeface="Times New Roman"/>
              </a:rPr>
              <a:t>4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5833" y="2853058"/>
            <a:ext cx="50165" cy="8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50" dirty="0">
                <a:latin typeface="Times New Roman"/>
                <a:cs typeface="Times New Roman"/>
              </a:rPr>
              <a:t>5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82728" y="2847538"/>
            <a:ext cx="395605" cy="1644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80"/>
              </a:spcBef>
              <a:tabLst>
                <a:tab pos="314960" algn="l"/>
              </a:tabLst>
            </a:pPr>
            <a:r>
              <a:rPr sz="350" spc="-50" dirty="0">
                <a:latin typeface="Times New Roman"/>
                <a:cs typeface="Times New Roman"/>
              </a:rPr>
              <a:t>2</a:t>
            </a:r>
            <a:r>
              <a:rPr sz="350" dirty="0">
                <a:latin typeface="Times New Roman"/>
                <a:cs typeface="Times New Roman"/>
              </a:rPr>
              <a:t>	</a:t>
            </a:r>
            <a:r>
              <a:rPr sz="350" spc="-50" dirty="0">
                <a:latin typeface="Times New Roman"/>
                <a:cs typeface="Times New Roman"/>
              </a:rPr>
              <a:t>3</a:t>
            </a: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50" dirty="0">
                <a:latin typeface="Times New Roman"/>
                <a:cs typeface="Times New Roman"/>
              </a:rPr>
              <a:t>Federated</a:t>
            </a:r>
            <a:r>
              <a:rPr sz="450" spc="-25" dirty="0">
                <a:latin typeface="Times New Roman"/>
                <a:cs typeface="Times New Roman"/>
              </a:rPr>
              <a:t> </a:t>
            </a:r>
            <a:r>
              <a:rPr sz="450" spc="-10" dirty="0">
                <a:latin typeface="Times New Roman"/>
                <a:cs typeface="Times New Roman"/>
              </a:rPr>
              <a:t>round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5536" y="2027345"/>
            <a:ext cx="111760" cy="806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20" dirty="0">
                <a:latin typeface="Times New Roman"/>
                <a:cs typeface="Times New Roman"/>
              </a:rPr>
              <a:t>0.85</a:t>
            </a: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50" spc="-20" dirty="0">
                <a:latin typeface="Times New Roman"/>
                <a:cs typeface="Times New Roman"/>
              </a:rPr>
              <a:t>0.80</a:t>
            </a: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50" spc="-20" dirty="0">
                <a:latin typeface="Times New Roman"/>
                <a:cs typeface="Times New Roman"/>
              </a:rPr>
              <a:t>0.75</a:t>
            </a: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" spc="-20" dirty="0">
                <a:latin typeface="Times New Roman"/>
                <a:cs typeface="Times New Roman"/>
              </a:rPr>
              <a:t>0.70</a:t>
            </a: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50" spc="-20" dirty="0">
                <a:latin typeface="Times New Roman"/>
                <a:cs typeface="Times New Roman"/>
              </a:rPr>
              <a:t>0.65</a:t>
            </a: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50" spc="-20" dirty="0">
                <a:latin typeface="Times New Roman"/>
                <a:cs typeface="Times New Roman"/>
              </a:rPr>
              <a:t>0.60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25536" y="1883044"/>
            <a:ext cx="111760" cy="8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-20" dirty="0">
                <a:latin typeface="Times New Roman"/>
                <a:cs typeface="Times New Roman"/>
              </a:rPr>
              <a:t>0.90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40134" y="2079316"/>
            <a:ext cx="88265" cy="49149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450" dirty="0">
                <a:latin typeface="Times New Roman"/>
                <a:cs typeface="Times New Roman"/>
              </a:rPr>
              <a:t>Pooled</a:t>
            </a:r>
            <a:r>
              <a:rPr sz="450" spc="-15" dirty="0">
                <a:latin typeface="Times New Roman"/>
                <a:cs typeface="Times New Roman"/>
              </a:rPr>
              <a:t> </a:t>
            </a:r>
            <a:r>
              <a:rPr sz="450" dirty="0">
                <a:latin typeface="Times New Roman"/>
                <a:cs typeface="Times New Roman"/>
              </a:rPr>
              <a:t>test</a:t>
            </a:r>
            <a:r>
              <a:rPr sz="450" spc="-15" dirty="0">
                <a:latin typeface="Times New Roman"/>
                <a:cs typeface="Times New Roman"/>
              </a:rPr>
              <a:t> </a:t>
            </a:r>
            <a:r>
              <a:rPr sz="450" spc="-10" dirty="0">
                <a:latin typeface="Times New Roman"/>
                <a:cs typeface="Times New Roman"/>
              </a:rPr>
              <a:t>accuracy</a:t>
            </a:r>
            <a:endParaRPr sz="45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4866" y="1809978"/>
            <a:ext cx="1451123" cy="104982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132304" y="1066025"/>
            <a:ext cx="1344930" cy="8451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5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24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trainable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parameters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9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FedAvg,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6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rounds</a:t>
            </a:r>
            <a:endParaRPr sz="700">
              <a:latin typeface="Arial"/>
              <a:cs typeface="Arial"/>
            </a:endParaRPr>
          </a:p>
          <a:p>
            <a:pPr marL="175260" marR="57150" indent="-137795">
              <a:lnSpc>
                <a:spcPts val="800"/>
              </a:lnSpc>
              <a:spcBef>
                <a:spcPts val="3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59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L-BFGS-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+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parameter-shift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gradients</a:t>
            </a:r>
            <a:endParaRPr sz="700">
              <a:latin typeface="Arial"/>
              <a:cs typeface="Arial"/>
            </a:endParaRPr>
          </a:p>
          <a:p>
            <a:pPr marL="389890">
              <a:lnSpc>
                <a:spcPct val="100000"/>
              </a:lnSpc>
              <a:spcBef>
                <a:spcPts val="655"/>
              </a:spcBef>
            </a:pPr>
            <a:r>
              <a:rPr sz="450" b="1" dirty="0">
                <a:latin typeface="Times New Roman"/>
                <a:cs typeface="Times New Roman"/>
              </a:rPr>
              <a:t>QFL</a:t>
            </a:r>
            <a:r>
              <a:rPr sz="450" b="1" spc="5" dirty="0">
                <a:latin typeface="Times New Roman"/>
                <a:cs typeface="Times New Roman"/>
              </a:rPr>
              <a:t> </a:t>
            </a:r>
            <a:r>
              <a:rPr sz="450" b="1" dirty="0">
                <a:latin typeface="Times New Roman"/>
                <a:cs typeface="Times New Roman"/>
              </a:rPr>
              <a:t>(FedAvg)</a:t>
            </a:r>
            <a:r>
              <a:rPr sz="450" b="1" spc="40" dirty="0">
                <a:latin typeface="Times New Roman"/>
                <a:cs typeface="Times New Roman"/>
              </a:rPr>
              <a:t> </a:t>
            </a:r>
            <a:r>
              <a:rPr sz="450" b="1" dirty="0">
                <a:latin typeface="Times New Roman"/>
                <a:cs typeface="Times New Roman"/>
              </a:rPr>
              <a:t>training</a:t>
            </a:r>
            <a:r>
              <a:rPr sz="450" b="1" spc="45" dirty="0">
                <a:latin typeface="Times New Roman"/>
                <a:cs typeface="Times New Roman"/>
              </a:rPr>
              <a:t> </a:t>
            </a:r>
            <a:r>
              <a:rPr sz="450" b="1" spc="-10" dirty="0">
                <a:latin typeface="Times New Roman"/>
                <a:cs typeface="Times New Roman"/>
              </a:rPr>
              <a:t>convergence</a:t>
            </a:r>
            <a:endParaRPr sz="450">
              <a:latin typeface="Times New Roman"/>
              <a:cs typeface="Times New Roman"/>
            </a:endParaRPr>
          </a:p>
          <a:p>
            <a:pPr marL="310515">
              <a:lnSpc>
                <a:spcPct val="100000"/>
              </a:lnSpc>
              <a:spcBef>
                <a:spcPts val="445"/>
              </a:spcBef>
            </a:pPr>
            <a:r>
              <a:rPr sz="350" dirty="0">
                <a:latin typeface="Times New Roman"/>
                <a:cs typeface="Times New Roman"/>
              </a:rPr>
              <a:t>seed</a:t>
            </a:r>
            <a:r>
              <a:rPr sz="350" spc="65" dirty="0">
                <a:latin typeface="Times New Roman"/>
                <a:cs typeface="Times New Roman"/>
              </a:rPr>
              <a:t> </a:t>
            </a:r>
            <a:r>
              <a:rPr sz="350" spc="-50" dirty="0">
                <a:latin typeface="Times New Roman"/>
                <a:cs typeface="Times New Roman"/>
              </a:rPr>
              <a:t>0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30263" y="1885699"/>
            <a:ext cx="147320" cy="16637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350" dirty="0">
                <a:latin typeface="Times New Roman"/>
                <a:cs typeface="Times New Roman"/>
              </a:rPr>
              <a:t>seed</a:t>
            </a:r>
            <a:r>
              <a:rPr sz="350" spc="65" dirty="0">
                <a:latin typeface="Times New Roman"/>
                <a:cs typeface="Times New Roman"/>
              </a:rPr>
              <a:t> </a:t>
            </a:r>
            <a:r>
              <a:rPr sz="350" spc="-50" dirty="0">
                <a:latin typeface="Times New Roman"/>
                <a:cs typeface="Times New Roman"/>
              </a:rPr>
              <a:t>1</a:t>
            </a:r>
            <a:endParaRPr sz="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dirty="0">
                <a:latin typeface="Times New Roman"/>
                <a:cs typeface="Times New Roman"/>
              </a:rPr>
              <a:t>seed</a:t>
            </a:r>
            <a:r>
              <a:rPr sz="350" spc="65" dirty="0">
                <a:latin typeface="Times New Roman"/>
                <a:cs typeface="Times New Roman"/>
              </a:rPr>
              <a:t> </a:t>
            </a:r>
            <a:r>
              <a:rPr sz="350" spc="-50" dirty="0">
                <a:latin typeface="Times New Roman"/>
                <a:cs typeface="Times New Roman"/>
              </a:rPr>
              <a:t>2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4071" y="3067033"/>
            <a:ext cx="25920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Sections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5.1–5.2,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Tables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1–2,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 (2026);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Qiskit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contributors 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5"/>
              </a:rPr>
              <a:t>(2024)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41924" y="3056035"/>
            <a:ext cx="20510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12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525252"/>
                </a:solidFill>
                <a:latin typeface="Arial"/>
                <a:cs typeface="Arial"/>
              </a:rPr>
              <a:t>/</a:t>
            </a:r>
            <a:r>
              <a:rPr sz="500" spc="-6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525252"/>
                </a:solidFill>
                <a:latin typeface="Arial"/>
                <a:cs typeface="Arial"/>
              </a:rPr>
              <a:t>22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Main</a:t>
            </a:r>
            <a:r>
              <a:rPr spc="-35" dirty="0"/>
              <a:t> </a:t>
            </a:r>
            <a:r>
              <a:rPr dirty="0"/>
              <a:t>Results:</a:t>
            </a:r>
            <a:r>
              <a:rPr spc="25" dirty="0"/>
              <a:t> </a:t>
            </a:r>
            <a:r>
              <a:rPr spc="-10" dirty="0"/>
              <a:t>Utility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167070" y="815831"/>
            <a:ext cx="6985" cy="1220470"/>
            <a:chOff x="2167070" y="815831"/>
            <a:chExt cx="6985" cy="1220470"/>
          </a:xfrm>
        </p:grpSpPr>
        <p:sp>
          <p:nvSpPr>
            <p:cNvPr id="5" name="object 5"/>
            <p:cNvSpPr/>
            <p:nvPr/>
          </p:nvSpPr>
          <p:spPr>
            <a:xfrm>
              <a:off x="2170563" y="818054"/>
              <a:ext cx="0" cy="607695"/>
            </a:xfrm>
            <a:custGeom>
              <a:avLst/>
              <a:gdLst/>
              <a:ahLst/>
              <a:cxnLst/>
              <a:rect l="l" t="t" r="r" b="b"/>
              <a:pathLst>
                <a:path h="607694">
                  <a:moveTo>
                    <a:pt x="0" y="0"/>
                  </a:moveTo>
                  <a:lnTo>
                    <a:pt x="0" y="607391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0563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0563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 rot="19560000">
            <a:off x="1707396" y="2191245"/>
            <a:ext cx="489696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dirty="0">
                <a:latin typeface="Times New Roman"/>
                <a:cs typeface="Times New Roman"/>
              </a:rPr>
              <a:t>Random</a:t>
            </a:r>
            <a:r>
              <a:rPr sz="550" spc="5" dirty="0">
                <a:latin typeface="Times New Roman"/>
                <a:cs typeface="Times New Roman"/>
              </a:rPr>
              <a:t> </a:t>
            </a:r>
            <a:r>
              <a:rPr sz="825" spc="-15" baseline="5050" dirty="0">
                <a:latin typeface="Times New Roman"/>
                <a:cs typeface="Times New Roman"/>
              </a:rPr>
              <a:t>Pruning</a:t>
            </a:r>
            <a:endParaRPr sz="825" baseline="50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02624" y="815831"/>
            <a:ext cx="6985" cy="1220470"/>
            <a:chOff x="2502624" y="815831"/>
            <a:chExt cx="6985" cy="1220470"/>
          </a:xfrm>
        </p:grpSpPr>
        <p:sp>
          <p:nvSpPr>
            <p:cNvPr id="10" name="object 10"/>
            <p:cNvSpPr/>
            <p:nvPr/>
          </p:nvSpPr>
          <p:spPr>
            <a:xfrm>
              <a:off x="2506117" y="818054"/>
              <a:ext cx="0" cy="616585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0"/>
                  </a:moveTo>
                  <a:lnTo>
                    <a:pt x="0" y="616421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6117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06117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9560000">
            <a:off x="1965663" y="2216222"/>
            <a:ext cx="574017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spc="-10" dirty="0">
                <a:latin typeface="Times New Roman"/>
                <a:cs typeface="Times New Roman"/>
              </a:rPr>
              <a:t>Fisher-</a:t>
            </a:r>
            <a:r>
              <a:rPr sz="550" dirty="0">
                <a:latin typeface="Times New Roman"/>
                <a:cs typeface="Times New Roman"/>
              </a:rPr>
              <a:t>only</a:t>
            </a:r>
            <a:r>
              <a:rPr sz="550" spc="60" dirty="0">
                <a:latin typeface="Times New Roman"/>
                <a:cs typeface="Times New Roman"/>
              </a:rPr>
              <a:t> </a:t>
            </a:r>
            <a:r>
              <a:rPr sz="825" spc="-15" baseline="5050" dirty="0">
                <a:latin typeface="Times New Roman"/>
                <a:cs typeface="Times New Roman"/>
              </a:rPr>
              <a:t>Pruning</a:t>
            </a:r>
            <a:endParaRPr sz="825" baseline="5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38178" y="815831"/>
            <a:ext cx="6985" cy="1220470"/>
            <a:chOff x="2838178" y="815831"/>
            <a:chExt cx="6985" cy="1220470"/>
          </a:xfrm>
        </p:grpSpPr>
        <p:sp>
          <p:nvSpPr>
            <p:cNvPr id="15" name="object 15"/>
            <p:cNvSpPr/>
            <p:nvPr/>
          </p:nvSpPr>
          <p:spPr>
            <a:xfrm>
              <a:off x="2841671" y="818054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h="700405">
                  <a:moveTo>
                    <a:pt x="0" y="0"/>
                  </a:moveTo>
                  <a:lnTo>
                    <a:pt x="0" y="699951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1671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41671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 rot="19560000">
            <a:off x="2104408" y="2279336"/>
            <a:ext cx="790605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dirty="0">
                <a:latin typeface="Times New Roman"/>
                <a:cs typeface="Times New Roman"/>
              </a:rPr>
              <a:t>Entanglement-only</a:t>
            </a:r>
            <a:r>
              <a:rPr sz="550" spc="30" dirty="0">
                <a:latin typeface="Times New Roman"/>
                <a:cs typeface="Times New Roman"/>
              </a:rPr>
              <a:t> </a:t>
            </a:r>
            <a:r>
              <a:rPr sz="825" spc="-15" baseline="10101" dirty="0">
                <a:latin typeface="Times New Roman"/>
                <a:cs typeface="Times New Roman"/>
              </a:rPr>
              <a:t>Pruning</a:t>
            </a:r>
            <a:endParaRPr sz="825" baseline="10101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73732" y="815831"/>
            <a:ext cx="6985" cy="1220470"/>
            <a:chOff x="3173732" y="815831"/>
            <a:chExt cx="6985" cy="1220470"/>
          </a:xfrm>
        </p:grpSpPr>
        <p:sp>
          <p:nvSpPr>
            <p:cNvPr id="20" name="object 20"/>
            <p:cNvSpPr/>
            <p:nvPr/>
          </p:nvSpPr>
          <p:spPr>
            <a:xfrm>
              <a:off x="3177225" y="818054"/>
              <a:ext cx="0" cy="131445"/>
            </a:xfrm>
            <a:custGeom>
              <a:avLst/>
              <a:gdLst/>
              <a:ahLst/>
              <a:cxnLst/>
              <a:rect l="l" t="t" r="r" b="b"/>
              <a:pathLst>
                <a:path h="131444">
                  <a:moveTo>
                    <a:pt x="0" y="0"/>
                  </a:moveTo>
                  <a:lnTo>
                    <a:pt x="0" y="131046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77225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77225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 rot="19560000">
            <a:off x="2740885" y="2182722"/>
            <a:ext cx="459561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dirty="0">
                <a:latin typeface="Times New Roman"/>
                <a:cs typeface="Times New Roman"/>
              </a:rPr>
              <a:t>Fine-</a:t>
            </a:r>
            <a:r>
              <a:rPr sz="550" spc="-10" dirty="0">
                <a:latin typeface="Times New Roman"/>
                <a:cs typeface="Times New Roman"/>
              </a:rPr>
              <a:t>T</a:t>
            </a:r>
            <a:r>
              <a:rPr sz="825" spc="-15" baseline="5050" dirty="0">
                <a:latin typeface="Times New Roman"/>
                <a:cs typeface="Times New Roman"/>
              </a:rPr>
              <a:t>une</a:t>
            </a:r>
            <a:r>
              <a:rPr sz="825" baseline="5050" dirty="0">
                <a:latin typeface="Times New Roman"/>
                <a:cs typeface="Times New Roman"/>
              </a:rPr>
              <a:t> </a:t>
            </a:r>
            <a:r>
              <a:rPr sz="825" spc="-30" baseline="5050" dirty="0">
                <a:latin typeface="Times New Roman"/>
                <a:cs typeface="Times New Roman"/>
              </a:rPr>
              <a:t>Only</a:t>
            </a:r>
            <a:endParaRPr sz="825" baseline="50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09286" y="815831"/>
            <a:ext cx="6985" cy="1220470"/>
            <a:chOff x="3509286" y="815831"/>
            <a:chExt cx="6985" cy="1220470"/>
          </a:xfrm>
        </p:grpSpPr>
        <p:sp>
          <p:nvSpPr>
            <p:cNvPr id="25" name="object 25"/>
            <p:cNvSpPr/>
            <p:nvPr/>
          </p:nvSpPr>
          <p:spPr>
            <a:xfrm>
              <a:off x="3512779" y="818054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h="217169">
                  <a:moveTo>
                    <a:pt x="0" y="0"/>
                  </a:moveTo>
                  <a:lnTo>
                    <a:pt x="0" y="216833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12779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12779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 rot="19560000">
            <a:off x="2962610" y="2219321"/>
            <a:ext cx="584731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dirty="0">
                <a:latin typeface="Times New Roman"/>
                <a:cs typeface="Times New Roman"/>
              </a:rPr>
              <a:t>Full</a:t>
            </a:r>
            <a:r>
              <a:rPr sz="550" spc="5" dirty="0">
                <a:latin typeface="Times New Roman"/>
                <a:cs typeface="Times New Roman"/>
              </a:rPr>
              <a:t> </a:t>
            </a:r>
            <a:r>
              <a:rPr sz="550" dirty="0">
                <a:latin typeface="Times New Roman"/>
                <a:cs typeface="Times New Roman"/>
              </a:rPr>
              <a:t>Retrain</a:t>
            </a:r>
            <a:r>
              <a:rPr sz="550" spc="5" dirty="0">
                <a:latin typeface="Times New Roman"/>
                <a:cs typeface="Times New Roman"/>
              </a:rPr>
              <a:t> </a:t>
            </a:r>
            <a:r>
              <a:rPr sz="825" spc="-15" baseline="5050" dirty="0">
                <a:latin typeface="Times New Roman"/>
                <a:cs typeface="Times New Roman"/>
              </a:rPr>
              <a:t>(oracle)</a:t>
            </a:r>
            <a:endParaRPr sz="825" baseline="50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844840" y="815831"/>
            <a:ext cx="6985" cy="1220470"/>
            <a:chOff x="3844840" y="815831"/>
            <a:chExt cx="6985" cy="1220470"/>
          </a:xfrm>
        </p:grpSpPr>
        <p:sp>
          <p:nvSpPr>
            <p:cNvPr id="30" name="object 30"/>
            <p:cNvSpPr/>
            <p:nvPr/>
          </p:nvSpPr>
          <p:spPr>
            <a:xfrm>
              <a:off x="3848333" y="818054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h="165100">
                  <a:moveTo>
                    <a:pt x="0" y="0"/>
                  </a:moveTo>
                  <a:lnTo>
                    <a:pt x="0" y="164909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48333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48333" y="2003380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0"/>
                  </a:moveTo>
                  <a:lnTo>
                    <a:pt x="0" y="29206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 rot="19560000">
            <a:off x="3542878" y="2140362"/>
            <a:ext cx="316698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0"/>
              </a:lnSpc>
            </a:pPr>
            <a:r>
              <a:rPr sz="550" spc="-10" dirty="0">
                <a:latin typeface="Times New Roman"/>
                <a:cs typeface="Times New Roman"/>
              </a:rPr>
              <a:t>QFL-</a:t>
            </a:r>
            <a:r>
              <a:rPr sz="550" spc="-25" dirty="0">
                <a:latin typeface="Times New Roman"/>
                <a:cs typeface="Times New Roman"/>
              </a:rPr>
              <a:t>EWP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09824" y="818054"/>
            <a:ext cx="2170430" cy="1189355"/>
            <a:chOff x="1909824" y="818054"/>
            <a:chExt cx="2170430" cy="1189355"/>
          </a:xfrm>
        </p:grpSpPr>
        <p:sp>
          <p:nvSpPr>
            <p:cNvPr id="35" name="object 35"/>
            <p:cNvSpPr/>
            <p:nvPr/>
          </p:nvSpPr>
          <p:spPr>
            <a:xfrm>
              <a:off x="1939031" y="2003380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0" y="0"/>
                  </a:moveTo>
                  <a:lnTo>
                    <a:pt x="2140834" y="0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9824" y="2003380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09824" y="2003380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39031" y="1759564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701307" y="0"/>
                  </a:moveTo>
                  <a:lnTo>
                    <a:pt x="768418" y="0"/>
                  </a:lnTo>
                </a:path>
                <a:path w="2141220">
                  <a:moveTo>
                    <a:pt x="1036861" y="0"/>
                  </a:moveTo>
                  <a:lnTo>
                    <a:pt x="1103972" y="0"/>
                  </a:lnTo>
                </a:path>
                <a:path w="2141220">
                  <a:moveTo>
                    <a:pt x="0" y="0"/>
                  </a:moveTo>
                  <a:lnTo>
                    <a:pt x="97310" y="0"/>
                  </a:lnTo>
                </a:path>
                <a:path w="2141220">
                  <a:moveTo>
                    <a:pt x="365753" y="0"/>
                  </a:moveTo>
                  <a:lnTo>
                    <a:pt x="432864" y="0"/>
                  </a:lnTo>
                </a:path>
                <a:path w="2141220">
                  <a:moveTo>
                    <a:pt x="1372415" y="0"/>
                  </a:moveTo>
                  <a:lnTo>
                    <a:pt x="1439526" y="0"/>
                  </a:lnTo>
                </a:path>
                <a:path w="2141220">
                  <a:moveTo>
                    <a:pt x="1707969" y="0"/>
                  </a:moveTo>
                  <a:lnTo>
                    <a:pt x="1775080" y="0"/>
                  </a:lnTo>
                </a:path>
                <a:path w="2141220">
                  <a:moveTo>
                    <a:pt x="2043524" y="0"/>
                  </a:moveTo>
                  <a:lnTo>
                    <a:pt x="2140834" y="0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09824" y="1759564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09824" y="1759564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39031" y="1515747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365753" y="0"/>
                  </a:moveTo>
                  <a:lnTo>
                    <a:pt x="432864" y="0"/>
                  </a:lnTo>
                </a:path>
                <a:path w="2141220">
                  <a:moveTo>
                    <a:pt x="1372415" y="0"/>
                  </a:moveTo>
                  <a:lnTo>
                    <a:pt x="1439526" y="0"/>
                  </a:lnTo>
                </a:path>
                <a:path w="2141220">
                  <a:moveTo>
                    <a:pt x="1707969" y="0"/>
                  </a:moveTo>
                  <a:lnTo>
                    <a:pt x="1775080" y="0"/>
                  </a:lnTo>
                </a:path>
                <a:path w="2141220">
                  <a:moveTo>
                    <a:pt x="701307" y="0"/>
                  </a:moveTo>
                  <a:lnTo>
                    <a:pt x="1103972" y="0"/>
                  </a:lnTo>
                </a:path>
                <a:path w="2141220">
                  <a:moveTo>
                    <a:pt x="0" y="0"/>
                  </a:moveTo>
                  <a:lnTo>
                    <a:pt x="97310" y="0"/>
                  </a:lnTo>
                </a:path>
                <a:path w="2141220">
                  <a:moveTo>
                    <a:pt x="2043524" y="0"/>
                  </a:moveTo>
                  <a:lnTo>
                    <a:pt x="2140834" y="0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09824" y="1515747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09824" y="1515747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39031" y="1271931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0" y="0"/>
                  </a:moveTo>
                  <a:lnTo>
                    <a:pt x="1103972" y="0"/>
                  </a:lnTo>
                </a:path>
                <a:path w="2141220">
                  <a:moveTo>
                    <a:pt x="1372415" y="0"/>
                  </a:moveTo>
                  <a:lnTo>
                    <a:pt x="1439526" y="0"/>
                  </a:lnTo>
                </a:path>
                <a:path w="2141220">
                  <a:moveTo>
                    <a:pt x="1707969" y="0"/>
                  </a:moveTo>
                  <a:lnTo>
                    <a:pt x="1775080" y="0"/>
                  </a:lnTo>
                </a:path>
                <a:path w="2141220">
                  <a:moveTo>
                    <a:pt x="2043524" y="0"/>
                  </a:moveTo>
                  <a:lnTo>
                    <a:pt x="2140834" y="0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824" y="1271931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824" y="1271931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39031" y="1028114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1372415" y="0"/>
                  </a:moveTo>
                  <a:lnTo>
                    <a:pt x="1775080" y="0"/>
                  </a:lnTo>
                </a:path>
                <a:path w="2141220">
                  <a:moveTo>
                    <a:pt x="0" y="0"/>
                  </a:moveTo>
                  <a:lnTo>
                    <a:pt x="1103972" y="0"/>
                  </a:lnTo>
                </a:path>
                <a:path w="2141220">
                  <a:moveTo>
                    <a:pt x="2043524" y="0"/>
                  </a:moveTo>
                  <a:lnTo>
                    <a:pt x="2140834" y="0"/>
                  </a:lnTo>
                </a:path>
              </a:pathLst>
            </a:custGeom>
            <a:ln w="4172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09824" y="1028114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09824" y="1028114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>
                  <a:moveTo>
                    <a:pt x="29206" y="0"/>
                  </a:moveTo>
                  <a:lnTo>
                    <a:pt x="0" y="0"/>
                  </a:lnTo>
                </a:path>
              </a:pathLst>
            </a:custGeom>
            <a:ln w="66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36341" y="1425445"/>
              <a:ext cx="268605" cy="578485"/>
            </a:xfrm>
            <a:custGeom>
              <a:avLst/>
              <a:gdLst/>
              <a:ahLst/>
              <a:cxnLst/>
              <a:rect l="l" t="t" r="r" b="b"/>
              <a:pathLst>
                <a:path w="268605" h="578485">
                  <a:moveTo>
                    <a:pt x="268443" y="0"/>
                  </a:moveTo>
                  <a:lnTo>
                    <a:pt x="0" y="0"/>
                  </a:lnTo>
                  <a:lnTo>
                    <a:pt x="0" y="577935"/>
                  </a:lnTo>
                  <a:lnTo>
                    <a:pt x="268443" y="577935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36341" y="1425445"/>
              <a:ext cx="268605" cy="578485"/>
            </a:xfrm>
            <a:custGeom>
              <a:avLst/>
              <a:gdLst/>
              <a:ahLst/>
              <a:cxnLst/>
              <a:rect l="l" t="t" r="r" b="b"/>
              <a:pathLst>
                <a:path w="268605" h="578485">
                  <a:moveTo>
                    <a:pt x="0" y="577935"/>
                  </a:moveTo>
                  <a:lnTo>
                    <a:pt x="268443" y="577935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577935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71895" y="1434475"/>
              <a:ext cx="268605" cy="568960"/>
            </a:xfrm>
            <a:custGeom>
              <a:avLst/>
              <a:gdLst/>
              <a:ahLst/>
              <a:cxnLst/>
              <a:rect l="l" t="t" r="r" b="b"/>
              <a:pathLst>
                <a:path w="268605" h="568960">
                  <a:moveTo>
                    <a:pt x="268443" y="0"/>
                  </a:moveTo>
                  <a:lnTo>
                    <a:pt x="0" y="0"/>
                  </a:lnTo>
                  <a:lnTo>
                    <a:pt x="0" y="568905"/>
                  </a:lnTo>
                  <a:lnTo>
                    <a:pt x="268443" y="568905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71895" y="1434475"/>
              <a:ext cx="268605" cy="568960"/>
            </a:xfrm>
            <a:custGeom>
              <a:avLst/>
              <a:gdLst/>
              <a:ahLst/>
              <a:cxnLst/>
              <a:rect l="l" t="t" r="r" b="b"/>
              <a:pathLst>
                <a:path w="268605" h="568960">
                  <a:moveTo>
                    <a:pt x="0" y="568905"/>
                  </a:moveTo>
                  <a:lnTo>
                    <a:pt x="268443" y="568905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568905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07449" y="1518005"/>
              <a:ext cx="268605" cy="485775"/>
            </a:xfrm>
            <a:custGeom>
              <a:avLst/>
              <a:gdLst/>
              <a:ahLst/>
              <a:cxnLst/>
              <a:rect l="l" t="t" r="r" b="b"/>
              <a:pathLst>
                <a:path w="268605" h="485775">
                  <a:moveTo>
                    <a:pt x="268443" y="0"/>
                  </a:moveTo>
                  <a:lnTo>
                    <a:pt x="0" y="0"/>
                  </a:lnTo>
                  <a:lnTo>
                    <a:pt x="0" y="485375"/>
                  </a:lnTo>
                  <a:lnTo>
                    <a:pt x="268443" y="485375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DD83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07449" y="1518005"/>
              <a:ext cx="268605" cy="485775"/>
            </a:xfrm>
            <a:custGeom>
              <a:avLst/>
              <a:gdLst/>
              <a:ahLst/>
              <a:cxnLst/>
              <a:rect l="l" t="t" r="r" b="b"/>
              <a:pathLst>
                <a:path w="268605" h="485775">
                  <a:moveTo>
                    <a:pt x="0" y="485375"/>
                  </a:moveTo>
                  <a:lnTo>
                    <a:pt x="268443" y="485375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485375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43003" y="949100"/>
              <a:ext cx="268605" cy="1054735"/>
            </a:xfrm>
            <a:custGeom>
              <a:avLst/>
              <a:gdLst/>
              <a:ahLst/>
              <a:cxnLst/>
              <a:rect l="l" t="t" r="r" b="b"/>
              <a:pathLst>
                <a:path w="268604" h="1054735">
                  <a:moveTo>
                    <a:pt x="268443" y="0"/>
                  </a:moveTo>
                  <a:lnTo>
                    <a:pt x="0" y="0"/>
                  </a:lnTo>
                  <a:lnTo>
                    <a:pt x="0" y="1054280"/>
                  </a:lnTo>
                  <a:lnTo>
                    <a:pt x="268443" y="1054280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54A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43003" y="949100"/>
              <a:ext cx="268605" cy="1054735"/>
            </a:xfrm>
            <a:custGeom>
              <a:avLst/>
              <a:gdLst/>
              <a:ahLst/>
              <a:cxnLst/>
              <a:rect l="l" t="t" r="r" b="b"/>
              <a:pathLst>
                <a:path w="268604" h="1054735">
                  <a:moveTo>
                    <a:pt x="0" y="1054280"/>
                  </a:moveTo>
                  <a:lnTo>
                    <a:pt x="268443" y="1054280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1054280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78557" y="1034887"/>
              <a:ext cx="268605" cy="969010"/>
            </a:xfrm>
            <a:custGeom>
              <a:avLst/>
              <a:gdLst/>
              <a:ahLst/>
              <a:cxnLst/>
              <a:rect l="l" t="t" r="r" b="b"/>
              <a:pathLst>
                <a:path w="268604" h="969010">
                  <a:moveTo>
                    <a:pt x="268443" y="0"/>
                  </a:moveTo>
                  <a:lnTo>
                    <a:pt x="0" y="0"/>
                  </a:lnTo>
                  <a:lnTo>
                    <a:pt x="0" y="968493"/>
                  </a:lnTo>
                  <a:lnTo>
                    <a:pt x="268443" y="968493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807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8557" y="1034887"/>
              <a:ext cx="268605" cy="969010"/>
            </a:xfrm>
            <a:custGeom>
              <a:avLst/>
              <a:gdLst/>
              <a:ahLst/>
              <a:cxnLst/>
              <a:rect l="l" t="t" r="r" b="b"/>
              <a:pathLst>
                <a:path w="268604" h="969010">
                  <a:moveTo>
                    <a:pt x="0" y="968493"/>
                  </a:moveTo>
                  <a:lnTo>
                    <a:pt x="268443" y="968493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968493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14111" y="982963"/>
              <a:ext cx="268605" cy="1020444"/>
            </a:xfrm>
            <a:custGeom>
              <a:avLst/>
              <a:gdLst/>
              <a:ahLst/>
              <a:cxnLst/>
              <a:rect l="l" t="t" r="r" b="b"/>
              <a:pathLst>
                <a:path w="268604" h="1020444">
                  <a:moveTo>
                    <a:pt x="268443" y="0"/>
                  </a:moveTo>
                  <a:lnTo>
                    <a:pt x="0" y="0"/>
                  </a:lnTo>
                  <a:lnTo>
                    <a:pt x="0" y="1020416"/>
                  </a:lnTo>
                  <a:lnTo>
                    <a:pt x="268443" y="1020416"/>
                  </a:lnTo>
                  <a:lnTo>
                    <a:pt x="268443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14111" y="982963"/>
              <a:ext cx="268605" cy="1020444"/>
            </a:xfrm>
            <a:custGeom>
              <a:avLst/>
              <a:gdLst/>
              <a:ahLst/>
              <a:cxnLst/>
              <a:rect l="l" t="t" r="r" b="b"/>
              <a:pathLst>
                <a:path w="268604" h="1020444">
                  <a:moveTo>
                    <a:pt x="0" y="1020416"/>
                  </a:moveTo>
                  <a:lnTo>
                    <a:pt x="268443" y="1020416"/>
                  </a:lnTo>
                  <a:lnTo>
                    <a:pt x="268443" y="0"/>
                  </a:lnTo>
                  <a:lnTo>
                    <a:pt x="0" y="0"/>
                  </a:lnTo>
                  <a:lnTo>
                    <a:pt x="0" y="1020416"/>
                  </a:lnTo>
                  <a:close/>
                </a:path>
              </a:pathLst>
            </a:custGeom>
            <a:ln w="50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70563" y="874498"/>
              <a:ext cx="1678305" cy="671830"/>
            </a:xfrm>
            <a:custGeom>
              <a:avLst/>
              <a:gdLst/>
              <a:ahLst/>
              <a:cxnLst/>
              <a:rect l="l" t="t" r="r" b="b"/>
              <a:pathLst>
                <a:path w="1678304" h="671830">
                  <a:moveTo>
                    <a:pt x="0" y="599941"/>
                  </a:moveTo>
                  <a:lnTo>
                    <a:pt x="0" y="501952"/>
                  </a:lnTo>
                </a:path>
                <a:path w="1678304" h="671830">
                  <a:moveTo>
                    <a:pt x="335554" y="611109"/>
                  </a:moveTo>
                  <a:lnTo>
                    <a:pt x="335554" y="508844"/>
                  </a:lnTo>
                </a:path>
                <a:path w="1678304" h="671830">
                  <a:moveTo>
                    <a:pt x="671108" y="671703"/>
                  </a:moveTo>
                  <a:lnTo>
                    <a:pt x="671108" y="615310"/>
                  </a:lnTo>
                </a:path>
                <a:path w="1678304" h="671830">
                  <a:moveTo>
                    <a:pt x="1006662" y="149204"/>
                  </a:moveTo>
                  <a:lnTo>
                    <a:pt x="1006662" y="0"/>
                  </a:lnTo>
                </a:path>
                <a:path w="1678304" h="671830">
                  <a:moveTo>
                    <a:pt x="1342216" y="198097"/>
                  </a:moveTo>
                  <a:lnTo>
                    <a:pt x="1342216" y="122680"/>
                  </a:lnTo>
                </a:path>
                <a:path w="1678304" h="671830">
                  <a:moveTo>
                    <a:pt x="1677770" y="143220"/>
                  </a:moveTo>
                  <a:lnTo>
                    <a:pt x="1677770" y="73710"/>
                  </a:lnTo>
                </a:path>
              </a:pathLst>
            </a:custGeom>
            <a:ln w="12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137184" y="1474440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137184" y="1474440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472738" y="14856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472738" y="14856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08292" y="154620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08292" y="154620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43846" y="102370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143846" y="102370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479400" y="1072596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479400" y="1072596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14954" y="101771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814954" y="101771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37184" y="1376450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37184" y="1376450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472738" y="138334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472738" y="1383342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808292" y="14898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08292" y="14898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143846" y="87449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143846" y="87449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79400" y="99717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79400" y="99717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814954" y="9482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14954" y="948208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66758" y="0"/>
                  </a:moveTo>
                  <a:lnTo>
                    <a:pt x="0" y="0"/>
                  </a:lnTo>
                </a:path>
              </a:pathLst>
            </a:custGeom>
            <a:ln w="8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939031" y="1034887"/>
              <a:ext cx="2141220" cy="0"/>
            </a:xfrm>
            <a:custGeom>
              <a:avLst/>
              <a:gdLst/>
              <a:ahLst/>
              <a:cxnLst/>
              <a:rect l="l" t="t" r="r" b="b"/>
              <a:pathLst>
                <a:path w="2141220">
                  <a:moveTo>
                    <a:pt x="0" y="0"/>
                  </a:moveTo>
                  <a:lnTo>
                    <a:pt x="2140834" y="0"/>
                  </a:lnTo>
                </a:path>
              </a:pathLst>
            </a:custGeom>
            <a:ln w="834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939031" y="818054"/>
              <a:ext cx="2141220" cy="1185545"/>
            </a:xfrm>
            <a:custGeom>
              <a:avLst/>
              <a:gdLst/>
              <a:ahLst/>
              <a:cxnLst/>
              <a:rect l="l" t="t" r="r" b="b"/>
              <a:pathLst>
                <a:path w="2141220" h="1185545">
                  <a:moveTo>
                    <a:pt x="0" y="1185326"/>
                  </a:moveTo>
                  <a:lnTo>
                    <a:pt x="0" y="0"/>
                  </a:lnTo>
                </a:path>
                <a:path w="2141220" h="1185545">
                  <a:moveTo>
                    <a:pt x="0" y="1185326"/>
                  </a:moveTo>
                  <a:lnTo>
                    <a:pt x="2140834" y="1185326"/>
                  </a:lnTo>
                </a:path>
              </a:pathLst>
            </a:custGeom>
            <a:ln w="7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999113" y="901501"/>
              <a:ext cx="133985" cy="0"/>
            </a:xfrm>
            <a:custGeom>
              <a:avLst/>
              <a:gdLst/>
              <a:ahLst/>
              <a:cxnLst/>
              <a:rect l="l" t="t" r="r" b="b"/>
              <a:pathLst>
                <a:path w="133985">
                  <a:moveTo>
                    <a:pt x="0" y="0"/>
                  </a:moveTo>
                  <a:lnTo>
                    <a:pt x="66758" y="0"/>
                  </a:lnTo>
                  <a:lnTo>
                    <a:pt x="133516" y="0"/>
                  </a:lnTo>
                </a:path>
              </a:pathLst>
            </a:custGeom>
            <a:ln w="834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776646" y="667665"/>
            <a:ext cx="1802764" cy="13893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140"/>
              </a:spcBef>
            </a:pPr>
            <a:r>
              <a:rPr sz="650" b="1" spc="10" dirty="0">
                <a:latin typeface="Times New Roman"/>
                <a:cs typeface="Times New Roman"/>
              </a:rPr>
              <a:t>Utility</a:t>
            </a:r>
            <a:r>
              <a:rPr sz="650" b="1" spc="70" dirty="0">
                <a:latin typeface="Times New Roman"/>
                <a:cs typeface="Times New Roman"/>
              </a:rPr>
              <a:t> </a:t>
            </a:r>
            <a:r>
              <a:rPr sz="650" b="1" spc="10" dirty="0">
                <a:latin typeface="Times New Roman"/>
                <a:cs typeface="Times New Roman"/>
              </a:rPr>
              <a:t>(accuracy)</a:t>
            </a:r>
            <a:r>
              <a:rPr sz="650" b="1" spc="75" dirty="0">
                <a:latin typeface="Times New Roman"/>
                <a:cs typeface="Times New Roman"/>
              </a:rPr>
              <a:t> </a:t>
            </a:r>
            <a:r>
              <a:rPr sz="650" b="1" spc="-10" dirty="0">
                <a:latin typeface="Times New Roman"/>
                <a:cs typeface="Times New Roman"/>
              </a:rPr>
              <a:t>comparison</a:t>
            </a:r>
            <a:endParaRPr sz="650">
              <a:latin typeface="Times New Roman"/>
              <a:cs typeface="Times New Roman"/>
            </a:endParaRPr>
          </a:p>
          <a:p>
            <a:pPr marL="408940">
              <a:lnSpc>
                <a:spcPct val="100000"/>
              </a:lnSpc>
              <a:spcBef>
                <a:spcPts val="605"/>
              </a:spcBef>
            </a:pPr>
            <a:r>
              <a:rPr sz="500" dirty="0">
                <a:latin typeface="Times New Roman"/>
                <a:cs typeface="Times New Roman"/>
              </a:rPr>
              <a:t>Oracle</a:t>
            </a:r>
            <a:r>
              <a:rPr sz="500" spc="55" dirty="0">
                <a:latin typeface="Times New Roman"/>
                <a:cs typeface="Times New Roman"/>
              </a:rPr>
              <a:t> </a:t>
            </a:r>
            <a:r>
              <a:rPr sz="500" spc="-10" dirty="0">
                <a:latin typeface="Times New Roman"/>
                <a:cs typeface="Times New Roman"/>
              </a:rPr>
              <a:t>level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550" spc="-25" dirty="0">
                <a:latin typeface="Times New Roman"/>
                <a:cs typeface="Times New Roman"/>
              </a:rPr>
              <a:t>0.8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550" spc="-25" dirty="0">
                <a:latin typeface="Times New Roman"/>
                <a:cs typeface="Times New Roman"/>
              </a:rPr>
              <a:t>0.6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550" spc="-25" dirty="0">
                <a:latin typeface="Times New Roman"/>
                <a:cs typeface="Times New Roman"/>
              </a:rPr>
              <a:t>0.4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550" spc="-25" dirty="0">
                <a:latin typeface="Times New Roman"/>
                <a:cs typeface="Times New Roman"/>
              </a:rPr>
              <a:t>0.2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550" spc="-25" dirty="0">
                <a:latin typeface="Times New Roman"/>
                <a:cs typeface="Times New Roman"/>
              </a:rPr>
              <a:t>0.0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13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2072639" y="3069257"/>
            <a:ext cx="16148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3–4, Figure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4a,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650912" y="833602"/>
            <a:ext cx="118110" cy="1154430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 dirty="0">
                <a:latin typeface="Times New Roman"/>
                <a:cs typeface="Times New Roman"/>
              </a:rPr>
              <a:t>Accuracy</a:t>
            </a:r>
            <a:r>
              <a:rPr sz="650" spc="4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(retained-client</a:t>
            </a:r>
            <a:r>
              <a:rPr sz="650" spc="4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test</a:t>
            </a:r>
            <a:r>
              <a:rPr sz="650" spc="40" dirty="0">
                <a:latin typeface="Times New Roman"/>
                <a:cs typeface="Times New Roman"/>
              </a:rPr>
              <a:t> </a:t>
            </a:r>
            <a:r>
              <a:rPr sz="650" spc="-20" dirty="0">
                <a:latin typeface="Times New Roman"/>
                <a:cs typeface="Times New Roman"/>
              </a:rPr>
              <a:t>set)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0707" y="2679308"/>
            <a:ext cx="4699000" cy="233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19"/>
              </a:lnSpc>
              <a:spcBef>
                <a:spcPts val="95"/>
              </a:spcBef>
            </a:pP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EWP:</a:t>
            </a:r>
            <a:r>
              <a:rPr sz="700" b="1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0.837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55" dirty="0">
                <a:solidFill>
                  <a:srgbClr val="151515"/>
                </a:solidFill>
                <a:latin typeface="Meiryo UI"/>
                <a:cs typeface="Meiryo UI"/>
              </a:rPr>
              <a:t>±</a:t>
            </a:r>
            <a:r>
              <a:rPr sz="700" i="1" spc="-6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0.029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accuracy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90" dirty="0">
                <a:solidFill>
                  <a:srgbClr val="151515"/>
                </a:solidFill>
                <a:latin typeface="Meiryo UI"/>
                <a:cs typeface="Meiryo UI"/>
              </a:rPr>
              <a:t>⇒</a:t>
            </a:r>
            <a:r>
              <a:rPr sz="700" i="1" spc="-5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statistically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indistinguishable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from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full-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retrain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oracle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(0.794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55" dirty="0">
                <a:solidFill>
                  <a:srgbClr val="151515"/>
                </a:solidFill>
                <a:latin typeface="Meiryo UI"/>
                <a:cs typeface="Meiryo UI"/>
              </a:rPr>
              <a:t>±</a:t>
            </a:r>
            <a:r>
              <a:rPr sz="700" i="1" spc="-55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0.031,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paired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515"/>
                </a:solidFill>
                <a:latin typeface="Arial"/>
                <a:cs typeface="Arial"/>
              </a:rPr>
              <a:t>t</a:t>
            </a:r>
            <a:r>
              <a:rPr sz="700" i="1" spc="-1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-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test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819"/>
              </a:lnSpc>
            </a:pP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p</a:t>
            </a:r>
            <a:r>
              <a:rPr sz="700" i="1" spc="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Lucida Sans Unicode"/>
                <a:cs typeface="Lucida Sans Unicode"/>
              </a:rPr>
              <a:t>=</a:t>
            </a:r>
            <a:r>
              <a:rPr sz="700" spc="10" dirty="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28),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while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random /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Fisher-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only /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entanglement-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only pruning</a:t>
            </a:r>
            <a:r>
              <a:rPr sz="7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lose </a:t>
            </a:r>
            <a:r>
              <a:rPr sz="700" i="1" dirty="0">
                <a:solidFill>
                  <a:srgbClr val="D91E27"/>
                </a:solidFill>
                <a:latin typeface="Meiryo UI"/>
                <a:cs typeface="Meiryo UI"/>
              </a:rPr>
              <a:t>&gt;</a:t>
            </a:r>
            <a:r>
              <a:rPr sz="700" b="1" dirty="0">
                <a:solidFill>
                  <a:srgbClr val="D91E27"/>
                </a:solidFill>
                <a:latin typeface="Arial"/>
                <a:cs typeface="Arial"/>
              </a:rPr>
              <a:t>35</a:t>
            </a:r>
            <a:r>
              <a:rPr sz="700" b="1" spc="5" dirty="0">
                <a:solidFill>
                  <a:srgbClr val="D91E27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D91E27"/>
                </a:solidFill>
                <a:latin typeface="Arial"/>
                <a:cs typeface="Arial"/>
              </a:rPr>
              <a:t>points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Privacy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Forgetting</a:t>
            </a:r>
            <a:r>
              <a:rPr spc="-3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38222" y="974956"/>
            <a:ext cx="2083435" cy="1166495"/>
            <a:chOff x="638222" y="974956"/>
            <a:chExt cx="2083435" cy="1166495"/>
          </a:xfrm>
        </p:grpSpPr>
        <p:sp>
          <p:nvSpPr>
            <p:cNvPr id="5" name="object 5"/>
            <p:cNvSpPr/>
            <p:nvPr/>
          </p:nvSpPr>
          <p:spPr>
            <a:xfrm>
              <a:off x="888529" y="974956"/>
              <a:ext cx="0" cy="374650"/>
            </a:xfrm>
            <a:custGeom>
              <a:avLst/>
              <a:gdLst/>
              <a:ahLst/>
              <a:cxnLst/>
              <a:rect l="l" t="t" r="r" b="b"/>
              <a:pathLst>
                <a:path h="374650">
                  <a:moveTo>
                    <a:pt x="0" y="0"/>
                  </a:moveTo>
                  <a:lnTo>
                    <a:pt x="0" y="374636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8529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8529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0657" y="974956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332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0657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10657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2785" y="974956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h="257175">
                  <a:moveTo>
                    <a:pt x="0" y="0"/>
                  </a:moveTo>
                  <a:lnTo>
                    <a:pt x="0" y="257095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2785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2785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54914" y="974956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0"/>
                  </a:moveTo>
                  <a:lnTo>
                    <a:pt x="0" y="288588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54914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54914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77042" y="974956"/>
              <a:ext cx="0" cy="319405"/>
            </a:xfrm>
            <a:custGeom>
              <a:avLst/>
              <a:gdLst/>
              <a:ahLst/>
              <a:cxnLst/>
              <a:rect l="l" t="t" r="r" b="b"/>
              <a:pathLst>
                <a:path h="319405">
                  <a:moveTo>
                    <a:pt x="0" y="0"/>
                  </a:moveTo>
                  <a:lnTo>
                    <a:pt x="0" y="319252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77042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7042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99170" y="974956"/>
              <a:ext cx="0" cy="440055"/>
            </a:xfrm>
            <a:custGeom>
              <a:avLst/>
              <a:gdLst/>
              <a:ahLst/>
              <a:cxnLst/>
              <a:rect l="l" t="t" r="r" b="b"/>
              <a:pathLst>
                <a:path h="440055">
                  <a:moveTo>
                    <a:pt x="0" y="0"/>
                  </a:moveTo>
                  <a:lnTo>
                    <a:pt x="0" y="440029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99170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99170" y="2112856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38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6261" y="2112856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0" y="0"/>
                  </a:moveTo>
                  <a:lnTo>
                    <a:pt x="2055177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8222" y="2112856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8222" y="2112856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6261" y="1907141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0" y="0"/>
                  </a:moveTo>
                  <a:lnTo>
                    <a:pt x="93417" y="0"/>
                  </a:lnTo>
                </a:path>
                <a:path w="2055495">
                  <a:moveTo>
                    <a:pt x="351119" y="0"/>
                  </a:moveTo>
                  <a:lnTo>
                    <a:pt x="415545" y="0"/>
                  </a:lnTo>
                </a:path>
                <a:path w="2055495">
                  <a:moveTo>
                    <a:pt x="673247" y="0"/>
                  </a:moveTo>
                  <a:lnTo>
                    <a:pt x="737673" y="0"/>
                  </a:lnTo>
                </a:path>
                <a:path w="2055495">
                  <a:moveTo>
                    <a:pt x="995376" y="0"/>
                  </a:moveTo>
                  <a:lnTo>
                    <a:pt x="1059801" y="0"/>
                  </a:lnTo>
                </a:path>
                <a:path w="2055495">
                  <a:moveTo>
                    <a:pt x="1317504" y="0"/>
                  </a:moveTo>
                  <a:lnTo>
                    <a:pt x="1381929" y="0"/>
                  </a:lnTo>
                </a:path>
                <a:path w="2055495">
                  <a:moveTo>
                    <a:pt x="1639632" y="0"/>
                  </a:moveTo>
                  <a:lnTo>
                    <a:pt x="1704058" y="0"/>
                  </a:lnTo>
                </a:path>
                <a:path w="2055495">
                  <a:moveTo>
                    <a:pt x="1961760" y="0"/>
                  </a:moveTo>
                  <a:lnTo>
                    <a:pt x="2055177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222" y="1907141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8222" y="1907141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6261" y="1701425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995376" y="0"/>
                  </a:moveTo>
                  <a:lnTo>
                    <a:pt x="1059801" y="0"/>
                  </a:lnTo>
                </a:path>
                <a:path w="2055495">
                  <a:moveTo>
                    <a:pt x="0" y="0"/>
                  </a:moveTo>
                  <a:lnTo>
                    <a:pt x="93417" y="0"/>
                  </a:lnTo>
                </a:path>
                <a:path w="2055495">
                  <a:moveTo>
                    <a:pt x="1317504" y="0"/>
                  </a:moveTo>
                  <a:lnTo>
                    <a:pt x="1381929" y="0"/>
                  </a:lnTo>
                </a:path>
                <a:path w="2055495">
                  <a:moveTo>
                    <a:pt x="351119" y="0"/>
                  </a:moveTo>
                  <a:lnTo>
                    <a:pt x="415545" y="0"/>
                  </a:lnTo>
                </a:path>
                <a:path w="2055495">
                  <a:moveTo>
                    <a:pt x="1639632" y="0"/>
                  </a:moveTo>
                  <a:lnTo>
                    <a:pt x="1704058" y="0"/>
                  </a:lnTo>
                </a:path>
                <a:path w="2055495">
                  <a:moveTo>
                    <a:pt x="673247" y="0"/>
                  </a:moveTo>
                  <a:lnTo>
                    <a:pt x="737673" y="0"/>
                  </a:lnTo>
                </a:path>
                <a:path w="2055495">
                  <a:moveTo>
                    <a:pt x="1961760" y="0"/>
                  </a:moveTo>
                  <a:lnTo>
                    <a:pt x="2055177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8222" y="1701425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8222" y="1701425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6261" y="1495710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0" y="0"/>
                  </a:moveTo>
                  <a:lnTo>
                    <a:pt x="93417" y="0"/>
                  </a:lnTo>
                </a:path>
                <a:path w="2055495">
                  <a:moveTo>
                    <a:pt x="351119" y="0"/>
                  </a:moveTo>
                  <a:lnTo>
                    <a:pt x="415545" y="0"/>
                  </a:lnTo>
                </a:path>
                <a:path w="2055495">
                  <a:moveTo>
                    <a:pt x="673247" y="0"/>
                  </a:moveTo>
                  <a:lnTo>
                    <a:pt x="737673" y="0"/>
                  </a:lnTo>
                </a:path>
                <a:path w="2055495">
                  <a:moveTo>
                    <a:pt x="995376" y="0"/>
                  </a:moveTo>
                  <a:lnTo>
                    <a:pt x="1059801" y="0"/>
                  </a:lnTo>
                </a:path>
                <a:path w="2055495">
                  <a:moveTo>
                    <a:pt x="1317504" y="0"/>
                  </a:moveTo>
                  <a:lnTo>
                    <a:pt x="1381929" y="0"/>
                  </a:lnTo>
                </a:path>
                <a:path w="2055495">
                  <a:moveTo>
                    <a:pt x="1639632" y="0"/>
                  </a:moveTo>
                  <a:lnTo>
                    <a:pt x="1704058" y="0"/>
                  </a:lnTo>
                </a:path>
                <a:path w="2055495">
                  <a:moveTo>
                    <a:pt x="1961760" y="0"/>
                  </a:moveTo>
                  <a:lnTo>
                    <a:pt x="2055177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222" y="149571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222" y="149571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6261" y="1289994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0" y="0"/>
                  </a:moveTo>
                  <a:lnTo>
                    <a:pt x="415545" y="0"/>
                  </a:lnTo>
                </a:path>
                <a:path w="2055495">
                  <a:moveTo>
                    <a:pt x="995376" y="0"/>
                  </a:moveTo>
                  <a:lnTo>
                    <a:pt x="1059801" y="0"/>
                  </a:lnTo>
                </a:path>
                <a:path w="2055495">
                  <a:moveTo>
                    <a:pt x="1317504" y="0"/>
                  </a:moveTo>
                  <a:lnTo>
                    <a:pt x="2055177" y="0"/>
                  </a:lnTo>
                </a:path>
                <a:path w="2055495">
                  <a:moveTo>
                    <a:pt x="673247" y="0"/>
                  </a:moveTo>
                  <a:lnTo>
                    <a:pt x="737673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8222" y="128999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8222" y="128999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6261" y="1084279"/>
              <a:ext cx="2055495" cy="0"/>
            </a:xfrm>
            <a:custGeom>
              <a:avLst/>
              <a:gdLst/>
              <a:ahLst/>
              <a:cxnLst/>
              <a:rect l="l" t="t" r="r" b="b"/>
              <a:pathLst>
                <a:path w="2055495">
                  <a:moveTo>
                    <a:pt x="0" y="0"/>
                  </a:moveTo>
                  <a:lnTo>
                    <a:pt x="2055177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8222" y="108427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222" y="108427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38" y="0"/>
                  </a:moveTo>
                  <a:lnTo>
                    <a:pt x="0" y="0"/>
                  </a:lnTo>
                </a:path>
              </a:pathLst>
            </a:custGeom>
            <a:ln w="64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9678" y="1349593"/>
              <a:ext cx="257810" cy="763270"/>
            </a:xfrm>
            <a:custGeom>
              <a:avLst/>
              <a:gdLst/>
              <a:ahLst/>
              <a:cxnLst/>
              <a:rect l="l" t="t" r="r" b="b"/>
              <a:pathLst>
                <a:path w="257809" h="763269">
                  <a:moveTo>
                    <a:pt x="257702" y="0"/>
                  </a:moveTo>
                  <a:lnTo>
                    <a:pt x="0" y="0"/>
                  </a:lnTo>
                  <a:lnTo>
                    <a:pt x="0" y="763263"/>
                  </a:lnTo>
                  <a:lnTo>
                    <a:pt x="257702" y="763263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9678" y="1349593"/>
              <a:ext cx="257810" cy="763270"/>
            </a:xfrm>
            <a:custGeom>
              <a:avLst/>
              <a:gdLst/>
              <a:ahLst/>
              <a:cxnLst/>
              <a:rect l="l" t="t" r="r" b="b"/>
              <a:pathLst>
                <a:path w="257809" h="763269">
                  <a:moveTo>
                    <a:pt x="0" y="763263"/>
                  </a:moveTo>
                  <a:lnTo>
                    <a:pt x="257702" y="763263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763263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81806" y="1190288"/>
              <a:ext cx="257810" cy="922655"/>
            </a:xfrm>
            <a:custGeom>
              <a:avLst/>
              <a:gdLst/>
              <a:ahLst/>
              <a:cxnLst/>
              <a:rect l="l" t="t" r="r" b="b"/>
              <a:pathLst>
                <a:path w="257809" h="922655">
                  <a:moveTo>
                    <a:pt x="257702" y="0"/>
                  </a:moveTo>
                  <a:lnTo>
                    <a:pt x="0" y="0"/>
                  </a:lnTo>
                  <a:lnTo>
                    <a:pt x="0" y="922568"/>
                  </a:lnTo>
                  <a:lnTo>
                    <a:pt x="257702" y="922568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1806" y="1190288"/>
              <a:ext cx="257810" cy="922655"/>
            </a:xfrm>
            <a:custGeom>
              <a:avLst/>
              <a:gdLst/>
              <a:ahLst/>
              <a:cxnLst/>
              <a:rect l="l" t="t" r="r" b="b"/>
              <a:pathLst>
                <a:path w="257809" h="922655">
                  <a:moveTo>
                    <a:pt x="0" y="922568"/>
                  </a:moveTo>
                  <a:lnTo>
                    <a:pt x="257702" y="922568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922568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03934" y="1232052"/>
              <a:ext cx="257810" cy="881380"/>
            </a:xfrm>
            <a:custGeom>
              <a:avLst/>
              <a:gdLst/>
              <a:ahLst/>
              <a:cxnLst/>
              <a:rect l="l" t="t" r="r" b="b"/>
              <a:pathLst>
                <a:path w="257810" h="881380">
                  <a:moveTo>
                    <a:pt x="257702" y="0"/>
                  </a:moveTo>
                  <a:lnTo>
                    <a:pt x="0" y="0"/>
                  </a:lnTo>
                  <a:lnTo>
                    <a:pt x="0" y="880804"/>
                  </a:lnTo>
                  <a:lnTo>
                    <a:pt x="257702" y="880804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DD83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03934" y="1232052"/>
              <a:ext cx="257810" cy="881380"/>
            </a:xfrm>
            <a:custGeom>
              <a:avLst/>
              <a:gdLst/>
              <a:ahLst/>
              <a:cxnLst/>
              <a:rect l="l" t="t" r="r" b="b"/>
              <a:pathLst>
                <a:path w="257810" h="881380">
                  <a:moveTo>
                    <a:pt x="0" y="880804"/>
                  </a:moveTo>
                  <a:lnTo>
                    <a:pt x="257702" y="880804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880804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26062" y="1263544"/>
              <a:ext cx="257810" cy="849630"/>
            </a:xfrm>
            <a:custGeom>
              <a:avLst/>
              <a:gdLst/>
              <a:ahLst/>
              <a:cxnLst/>
              <a:rect l="l" t="t" r="r" b="b"/>
              <a:pathLst>
                <a:path w="257810" h="849630">
                  <a:moveTo>
                    <a:pt x="257702" y="0"/>
                  </a:moveTo>
                  <a:lnTo>
                    <a:pt x="0" y="0"/>
                  </a:lnTo>
                  <a:lnTo>
                    <a:pt x="0" y="849312"/>
                  </a:lnTo>
                  <a:lnTo>
                    <a:pt x="257702" y="849312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54A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26062" y="1263544"/>
              <a:ext cx="257810" cy="849630"/>
            </a:xfrm>
            <a:custGeom>
              <a:avLst/>
              <a:gdLst/>
              <a:ahLst/>
              <a:cxnLst/>
              <a:rect l="l" t="t" r="r" b="b"/>
              <a:pathLst>
                <a:path w="257810" h="849630">
                  <a:moveTo>
                    <a:pt x="0" y="849312"/>
                  </a:moveTo>
                  <a:lnTo>
                    <a:pt x="257702" y="849312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849312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48191" y="1294208"/>
              <a:ext cx="257810" cy="819150"/>
            </a:xfrm>
            <a:custGeom>
              <a:avLst/>
              <a:gdLst/>
              <a:ahLst/>
              <a:cxnLst/>
              <a:rect l="l" t="t" r="r" b="b"/>
              <a:pathLst>
                <a:path w="257810" h="819150">
                  <a:moveTo>
                    <a:pt x="257702" y="0"/>
                  </a:moveTo>
                  <a:lnTo>
                    <a:pt x="0" y="0"/>
                  </a:lnTo>
                  <a:lnTo>
                    <a:pt x="0" y="818647"/>
                  </a:lnTo>
                  <a:lnTo>
                    <a:pt x="257702" y="818647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807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48191" y="1294208"/>
              <a:ext cx="257810" cy="819150"/>
            </a:xfrm>
            <a:custGeom>
              <a:avLst/>
              <a:gdLst/>
              <a:ahLst/>
              <a:cxnLst/>
              <a:rect l="l" t="t" r="r" b="b"/>
              <a:pathLst>
                <a:path w="257810" h="819150">
                  <a:moveTo>
                    <a:pt x="0" y="818647"/>
                  </a:moveTo>
                  <a:lnTo>
                    <a:pt x="257702" y="818647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818647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70319" y="1414985"/>
              <a:ext cx="257810" cy="697865"/>
            </a:xfrm>
            <a:custGeom>
              <a:avLst/>
              <a:gdLst/>
              <a:ahLst/>
              <a:cxnLst/>
              <a:rect l="l" t="t" r="r" b="b"/>
              <a:pathLst>
                <a:path w="257810" h="697864">
                  <a:moveTo>
                    <a:pt x="257702" y="0"/>
                  </a:moveTo>
                  <a:lnTo>
                    <a:pt x="0" y="0"/>
                  </a:lnTo>
                  <a:lnTo>
                    <a:pt x="0" y="697871"/>
                  </a:lnTo>
                  <a:lnTo>
                    <a:pt x="257702" y="697871"/>
                  </a:lnTo>
                  <a:lnTo>
                    <a:pt x="257702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70319" y="1414985"/>
              <a:ext cx="257810" cy="697865"/>
            </a:xfrm>
            <a:custGeom>
              <a:avLst/>
              <a:gdLst/>
              <a:ahLst/>
              <a:cxnLst/>
              <a:rect l="l" t="t" r="r" b="b"/>
              <a:pathLst>
                <a:path w="257810" h="697864">
                  <a:moveTo>
                    <a:pt x="0" y="697871"/>
                  </a:moveTo>
                  <a:lnTo>
                    <a:pt x="257702" y="697871"/>
                  </a:lnTo>
                  <a:lnTo>
                    <a:pt x="257702" y="0"/>
                  </a:lnTo>
                  <a:lnTo>
                    <a:pt x="0" y="0"/>
                  </a:lnTo>
                  <a:lnTo>
                    <a:pt x="0" y="697871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88529" y="1029141"/>
              <a:ext cx="1610995" cy="520065"/>
            </a:xfrm>
            <a:custGeom>
              <a:avLst/>
              <a:gdLst/>
              <a:ahLst/>
              <a:cxnLst/>
              <a:rect l="l" t="t" r="r" b="b"/>
              <a:pathLst>
                <a:path w="1610995" h="520065">
                  <a:moveTo>
                    <a:pt x="0" y="496024"/>
                  </a:moveTo>
                  <a:lnTo>
                    <a:pt x="0" y="144877"/>
                  </a:lnTo>
                </a:path>
                <a:path w="1610995" h="520065">
                  <a:moveTo>
                    <a:pt x="322128" y="322292"/>
                  </a:moveTo>
                  <a:lnTo>
                    <a:pt x="322128" y="0"/>
                  </a:lnTo>
                </a:path>
                <a:path w="1610995" h="520065">
                  <a:moveTo>
                    <a:pt x="644256" y="283668"/>
                  </a:moveTo>
                  <a:lnTo>
                    <a:pt x="644256" y="122151"/>
                  </a:lnTo>
                </a:path>
                <a:path w="1610995" h="520065">
                  <a:moveTo>
                    <a:pt x="966384" y="347612"/>
                  </a:moveTo>
                  <a:lnTo>
                    <a:pt x="966384" y="121192"/>
                  </a:lnTo>
                </a:path>
                <a:path w="1610995" h="520065">
                  <a:moveTo>
                    <a:pt x="1288512" y="304993"/>
                  </a:moveTo>
                  <a:lnTo>
                    <a:pt x="1288512" y="225140"/>
                  </a:lnTo>
                </a:path>
                <a:path w="1610995" h="520065">
                  <a:moveTo>
                    <a:pt x="1610640" y="519565"/>
                  </a:moveTo>
                  <a:lnTo>
                    <a:pt x="1610640" y="252121"/>
                  </a:lnTo>
                </a:path>
              </a:pathLst>
            </a:custGeom>
            <a:ln w="120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56485" y="152516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56485" y="152516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78614" y="135143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178614" y="135143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00742" y="131281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500742" y="131281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22870" y="137675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22870" y="137675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44998" y="133413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144998" y="133413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467126" y="1548707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467126" y="1548707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56485" y="1174019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56485" y="1174019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78614" y="1029141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178614" y="1029141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500742" y="115129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00742" y="115129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22870" y="115033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22870" y="115033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44998" y="1254282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44998" y="1254282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467126" y="128126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467126" y="128126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87" y="0"/>
                  </a:moveTo>
                  <a:lnTo>
                    <a:pt x="0" y="0"/>
                  </a:lnTo>
                </a:path>
              </a:pathLst>
            </a:custGeom>
            <a:ln w="8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6261" y="974956"/>
              <a:ext cx="2055495" cy="1137920"/>
            </a:xfrm>
            <a:custGeom>
              <a:avLst/>
              <a:gdLst/>
              <a:ahLst/>
              <a:cxnLst/>
              <a:rect l="l" t="t" r="r" b="b"/>
              <a:pathLst>
                <a:path w="2055495" h="1137920">
                  <a:moveTo>
                    <a:pt x="0" y="1137900"/>
                  </a:moveTo>
                  <a:lnTo>
                    <a:pt x="0" y="0"/>
                  </a:lnTo>
                </a:path>
                <a:path w="2055495" h="1137920">
                  <a:moveTo>
                    <a:pt x="0" y="1137900"/>
                  </a:moveTo>
                  <a:lnTo>
                    <a:pt x="2055177" y="1137900"/>
                  </a:lnTo>
                </a:path>
              </a:pathLst>
            </a:custGeom>
            <a:ln w="7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 rot="19560000">
            <a:off x="443870" y="2293522"/>
            <a:ext cx="469851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Random</a:t>
            </a:r>
            <a:r>
              <a:rPr sz="500" spc="95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 rot="19560000">
            <a:off x="691808" y="2317500"/>
            <a:ext cx="551019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Fisher-only</a:t>
            </a:r>
            <a:r>
              <a:rPr sz="500" spc="13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 rot="19560000">
            <a:off x="825009" y="2378089"/>
            <a:ext cx="759388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Entanglement-only</a:t>
            </a:r>
            <a:r>
              <a:rPr sz="500" spc="26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 rot="19560000">
            <a:off x="1436011" y="2285340"/>
            <a:ext cx="441602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Fine-T</a:t>
            </a:r>
            <a:r>
              <a:rPr sz="750" baseline="5555" dirty="0">
                <a:latin typeface="Times New Roman"/>
                <a:cs typeface="Times New Roman"/>
              </a:rPr>
              <a:t>une</a:t>
            </a:r>
            <a:r>
              <a:rPr sz="750" spc="172" baseline="5555" dirty="0">
                <a:latin typeface="Times New Roman"/>
                <a:cs typeface="Times New Roman"/>
              </a:rPr>
              <a:t> </a:t>
            </a:r>
            <a:r>
              <a:rPr sz="750" spc="-30" baseline="5555" dirty="0">
                <a:latin typeface="Times New Roman"/>
                <a:cs typeface="Times New Roman"/>
              </a:rPr>
              <a:t>Only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 rot="19560000">
            <a:off x="1648869" y="2320474"/>
            <a:ext cx="561732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Full</a:t>
            </a:r>
            <a:r>
              <a:rPr sz="500" spc="70" dirty="0">
                <a:latin typeface="Times New Roman"/>
                <a:cs typeface="Times New Roman"/>
              </a:rPr>
              <a:t> </a:t>
            </a:r>
            <a:r>
              <a:rPr sz="500" dirty="0">
                <a:latin typeface="Times New Roman"/>
                <a:cs typeface="Times New Roman"/>
              </a:rPr>
              <a:t>Retrain</a:t>
            </a:r>
            <a:r>
              <a:rPr sz="500" spc="7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(oracle)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 rot="19560000">
            <a:off x="2205906" y="2244675"/>
            <a:ext cx="304371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QFL-</a:t>
            </a:r>
            <a:r>
              <a:rPr sz="500" spc="-25" dirty="0">
                <a:latin typeface="Times New Roman"/>
                <a:cs typeface="Times New Roman"/>
              </a:rPr>
              <a:t>EWP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9865" y="2055495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09865" y="1849780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09865" y="1644064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09865" y="1438349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0.6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09865" y="1232633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0.8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09865" y="1026918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1.0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89162" y="943137"/>
            <a:ext cx="114300" cy="120205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latin typeface="Times New Roman"/>
                <a:cs typeface="Times New Roman"/>
              </a:rPr>
              <a:t>Forgetting</a:t>
            </a:r>
            <a:r>
              <a:rPr sz="600" spc="5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score</a:t>
            </a:r>
            <a:r>
              <a:rPr sz="600" spc="5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(1</a:t>
            </a:r>
            <a:r>
              <a:rPr sz="600" spc="5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-</a:t>
            </a:r>
            <a:r>
              <a:rPr sz="600" spc="5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|MI</a:t>
            </a:r>
            <a:r>
              <a:rPr sz="600" spc="55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advantage|)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271029" y="830076"/>
            <a:ext cx="845819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dirty="0">
                <a:latin typeface="Times New Roman"/>
                <a:cs typeface="Times New Roman"/>
              </a:rPr>
              <a:t>Forgetting</a:t>
            </a:r>
            <a:r>
              <a:rPr sz="650" b="1" spc="55" dirty="0">
                <a:latin typeface="Times New Roman"/>
                <a:cs typeface="Times New Roman"/>
              </a:rPr>
              <a:t> </a:t>
            </a:r>
            <a:r>
              <a:rPr sz="650" b="1" spc="-10" dirty="0">
                <a:latin typeface="Times New Roman"/>
                <a:cs typeface="Times New Roman"/>
              </a:rPr>
              <a:t>comparison</a:t>
            </a:r>
            <a:endParaRPr sz="650">
              <a:latin typeface="Times New Roman"/>
              <a:cs typeface="Times New Roman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3259693" y="974958"/>
            <a:ext cx="2082800" cy="1166495"/>
            <a:chOff x="3259693" y="974958"/>
            <a:chExt cx="2082800" cy="1166495"/>
          </a:xfrm>
        </p:grpSpPr>
        <p:sp>
          <p:nvSpPr>
            <p:cNvPr id="94" name="object 94"/>
            <p:cNvSpPr/>
            <p:nvPr/>
          </p:nvSpPr>
          <p:spPr>
            <a:xfrm>
              <a:off x="3509948" y="974958"/>
              <a:ext cx="0" cy="184150"/>
            </a:xfrm>
            <a:custGeom>
              <a:avLst/>
              <a:gdLst/>
              <a:ahLst/>
              <a:cxnLst/>
              <a:rect l="l" t="t" r="r" b="b"/>
              <a:pathLst>
                <a:path h="184150">
                  <a:moveTo>
                    <a:pt x="0" y="0"/>
                  </a:moveTo>
                  <a:lnTo>
                    <a:pt x="0" y="183684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50994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50994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831998" y="974958"/>
              <a:ext cx="0" cy="301625"/>
            </a:xfrm>
            <a:custGeom>
              <a:avLst/>
              <a:gdLst/>
              <a:ahLst/>
              <a:cxnLst/>
              <a:rect l="l" t="t" r="r" b="b"/>
              <a:pathLst>
                <a:path h="301625">
                  <a:moveTo>
                    <a:pt x="0" y="0"/>
                  </a:moveTo>
                  <a:lnTo>
                    <a:pt x="0" y="301179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83199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83199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154048" y="974958"/>
              <a:ext cx="0" cy="357505"/>
            </a:xfrm>
            <a:custGeom>
              <a:avLst/>
              <a:gdLst/>
              <a:ahLst/>
              <a:cxnLst/>
              <a:rect l="l" t="t" r="r" b="b"/>
              <a:pathLst>
                <a:path h="357505">
                  <a:moveTo>
                    <a:pt x="0" y="0"/>
                  </a:moveTo>
                  <a:lnTo>
                    <a:pt x="0" y="357096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15404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154048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476099" y="97495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0434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7609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7609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98149" y="974958"/>
              <a:ext cx="0" cy="534670"/>
            </a:xfrm>
            <a:custGeom>
              <a:avLst/>
              <a:gdLst/>
              <a:ahLst/>
              <a:cxnLst/>
              <a:rect l="l" t="t" r="r" b="b"/>
              <a:pathLst>
                <a:path h="534669">
                  <a:moveTo>
                    <a:pt x="0" y="0"/>
                  </a:moveTo>
                  <a:lnTo>
                    <a:pt x="0" y="534198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9814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79814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120199" y="974958"/>
              <a:ext cx="0" cy="623570"/>
            </a:xfrm>
            <a:custGeom>
              <a:avLst/>
              <a:gdLst/>
              <a:ahLst/>
              <a:cxnLst/>
              <a:rect l="l" t="t" r="r" b="b"/>
              <a:pathLst>
                <a:path h="623569">
                  <a:moveTo>
                    <a:pt x="0" y="0"/>
                  </a:moveTo>
                  <a:lnTo>
                    <a:pt x="0" y="623277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12019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120199" y="211294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04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287734" y="2112948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0" y="0"/>
                  </a:moveTo>
                  <a:lnTo>
                    <a:pt x="2054679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59693" y="211294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259693" y="211294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287734" y="1961223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0" y="0"/>
                  </a:moveTo>
                  <a:lnTo>
                    <a:pt x="93394" y="0"/>
                  </a:lnTo>
                </a:path>
                <a:path w="2054860">
                  <a:moveTo>
                    <a:pt x="351034" y="0"/>
                  </a:moveTo>
                  <a:lnTo>
                    <a:pt x="415444" y="0"/>
                  </a:lnTo>
                </a:path>
                <a:path w="2054860">
                  <a:moveTo>
                    <a:pt x="673084" y="0"/>
                  </a:moveTo>
                  <a:lnTo>
                    <a:pt x="737494" y="0"/>
                  </a:lnTo>
                </a:path>
                <a:path w="2054860">
                  <a:moveTo>
                    <a:pt x="995134" y="0"/>
                  </a:moveTo>
                  <a:lnTo>
                    <a:pt x="1059544" y="0"/>
                  </a:lnTo>
                </a:path>
                <a:path w="2054860">
                  <a:moveTo>
                    <a:pt x="1317185" y="0"/>
                  </a:moveTo>
                  <a:lnTo>
                    <a:pt x="1381595" y="0"/>
                  </a:lnTo>
                </a:path>
                <a:path w="2054860">
                  <a:moveTo>
                    <a:pt x="1639235" y="0"/>
                  </a:moveTo>
                  <a:lnTo>
                    <a:pt x="1703645" y="0"/>
                  </a:lnTo>
                </a:path>
                <a:path w="2054860">
                  <a:moveTo>
                    <a:pt x="1961285" y="0"/>
                  </a:moveTo>
                  <a:lnTo>
                    <a:pt x="2054679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59693" y="196122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259693" y="196122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287734" y="1809498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351034" y="0"/>
                  </a:moveTo>
                  <a:lnTo>
                    <a:pt x="415444" y="0"/>
                  </a:lnTo>
                </a:path>
                <a:path w="2054860">
                  <a:moveTo>
                    <a:pt x="0" y="0"/>
                  </a:moveTo>
                  <a:lnTo>
                    <a:pt x="93394" y="0"/>
                  </a:lnTo>
                </a:path>
                <a:path w="2054860">
                  <a:moveTo>
                    <a:pt x="673084" y="0"/>
                  </a:moveTo>
                  <a:lnTo>
                    <a:pt x="737494" y="0"/>
                  </a:lnTo>
                </a:path>
                <a:path w="2054860">
                  <a:moveTo>
                    <a:pt x="995134" y="0"/>
                  </a:moveTo>
                  <a:lnTo>
                    <a:pt x="1059544" y="0"/>
                  </a:lnTo>
                </a:path>
                <a:path w="2054860">
                  <a:moveTo>
                    <a:pt x="1317185" y="0"/>
                  </a:moveTo>
                  <a:lnTo>
                    <a:pt x="1381595" y="0"/>
                  </a:lnTo>
                </a:path>
                <a:path w="2054860">
                  <a:moveTo>
                    <a:pt x="1639235" y="0"/>
                  </a:moveTo>
                  <a:lnTo>
                    <a:pt x="1703645" y="0"/>
                  </a:lnTo>
                </a:path>
                <a:path w="2054860">
                  <a:moveTo>
                    <a:pt x="1961285" y="0"/>
                  </a:moveTo>
                  <a:lnTo>
                    <a:pt x="2054679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59693" y="180949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59693" y="180949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287734" y="1657773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1317185" y="0"/>
                  </a:moveTo>
                  <a:lnTo>
                    <a:pt x="1381595" y="0"/>
                  </a:lnTo>
                </a:path>
                <a:path w="2054860">
                  <a:moveTo>
                    <a:pt x="0" y="0"/>
                  </a:moveTo>
                  <a:lnTo>
                    <a:pt x="93394" y="0"/>
                  </a:lnTo>
                </a:path>
                <a:path w="2054860">
                  <a:moveTo>
                    <a:pt x="995134" y="0"/>
                  </a:moveTo>
                  <a:lnTo>
                    <a:pt x="1059544" y="0"/>
                  </a:lnTo>
                </a:path>
                <a:path w="2054860">
                  <a:moveTo>
                    <a:pt x="1639235" y="0"/>
                  </a:moveTo>
                  <a:lnTo>
                    <a:pt x="1703645" y="0"/>
                  </a:lnTo>
                </a:path>
                <a:path w="2054860">
                  <a:moveTo>
                    <a:pt x="351034" y="0"/>
                  </a:moveTo>
                  <a:lnTo>
                    <a:pt x="415444" y="0"/>
                  </a:lnTo>
                </a:path>
                <a:path w="2054860">
                  <a:moveTo>
                    <a:pt x="673084" y="0"/>
                  </a:moveTo>
                  <a:lnTo>
                    <a:pt x="737494" y="0"/>
                  </a:lnTo>
                </a:path>
                <a:path w="2054860">
                  <a:moveTo>
                    <a:pt x="1961285" y="0"/>
                  </a:moveTo>
                  <a:lnTo>
                    <a:pt x="2054679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259693" y="165777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59693" y="165777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87734" y="1506048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1317185" y="0"/>
                  </a:moveTo>
                  <a:lnTo>
                    <a:pt x="2054679" y="0"/>
                  </a:lnTo>
                </a:path>
                <a:path w="2054860">
                  <a:moveTo>
                    <a:pt x="0" y="0"/>
                  </a:moveTo>
                  <a:lnTo>
                    <a:pt x="93394" y="0"/>
                  </a:lnTo>
                </a:path>
                <a:path w="2054860">
                  <a:moveTo>
                    <a:pt x="351034" y="0"/>
                  </a:moveTo>
                  <a:lnTo>
                    <a:pt x="415444" y="0"/>
                  </a:lnTo>
                </a:path>
                <a:path w="2054860">
                  <a:moveTo>
                    <a:pt x="673084" y="0"/>
                  </a:moveTo>
                  <a:lnTo>
                    <a:pt x="737494" y="0"/>
                  </a:lnTo>
                </a:path>
                <a:path w="2054860">
                  <a:moveTo>
                    <a:pt x="995134" y="0"/>
                  </a:moveTo>
                  <a:lnTo>
                    <a:pt x="1059544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259693" y="150604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259693" y="150604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87734" y="1354323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0" y="0"/>
                  </a:moveTo>
                  <a:lnTo>
                    <a:pt x="93394" y="0"/>
                  </a:lnTo>
                </a:path>
                <a:path w="2054860">
                  <a:moveTo>
                    <a:pt x="351034" y="0"/>
                  </a:moveTo>
                  <a:lnTo>
                    <a:pt x="415444" y="0"/>
                  </a:lnTo>
                </a:path>
                <a:path w="2054860">
                  <a:moveTo>
                    <a:pt x="995134" y="0"/>
                  </a:moveTo>
                  <a:lnTo>
                    <a:pt x="2054679" y="0"/>
                  </a:lnTo>
                </a:path>
                <a:path w="2054860">
                  <a:moveTo>
                    <a:pt x="673084" y="0"/>
                  </a:moveTo>
                  <a:lnTo>
                    <a:pt x="737494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59693" y="135432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59693" y="135432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87734" y="1202598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351034" y="0"/>
                  </a:moveTo>
                  <a:lnTo>
                    <a:pt x="2054679" y="0"/>
                  </a:lnTo>
                </a:path>
                <a:path w="2054860">
                  <a:moveTo>
                    <a:pt x="0" y="0"/>
                  </a:moveTo>
                  <a:lnTo>
                    <a:pt x="93394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59693" y="120259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59693" y="120259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287734" y="1050873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0" y="0"/>
                  </a:moveTo>
                  <a:lnTo>
                    <a:pt x="2054679" y="0"/>
                  </a:lnTo>
                </a:path>
              </a:pathLst>
            </a:custGeom>
            <a:ln w="400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259693" y="105087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59693" y="105087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28040" y="0"/>
                  </a:moveTo>
                  <a:lnTo>
                    <a:pt x="0" y="0"/>
                  </a:lnTo>
                </a:path>
              </a:pathLst>
            </a:custGeom>
            <a:ln w="64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381128" y="1158642"/>
              <a:ext cx="257810" cy="954405"/>
            </a:xfrm>
            <a:custGeom>
              <a:avLst/>
              <a:gdLst/>
              <a:ahLst/>
              <a:cxnLst/>
              <a:rect l="l" t="t" r="r" b="b"/>
              <a:pathLst>
                <a:path w="257810" h="954405">
                  <a:moveTo>
                    <a:pt x="257640" y="0"/>
                  </a:moveTo>
                  <a:lnTo>
                    <a:pt x="0" y="0"/>
                  </a:lnTo>
                  <a:lnTo>
                    <a:pt x="0" y="954306"/>
                  </a:lnTo>
                  <a:lnTo>
                    <a:pt x="257640" y="954306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381128" y="1158642"/>
              <a:ext cx="257810" cy="954405"/>
            </a:xfrm>
            <a:custGeom>
              <a:avLst/>
              <a:gdLst/>
              <a:ahLst/>
              <a:cxnLst/>
              <a:rect l="l" t="t" r="r" b="b"/>
              <a:pathLst>
                <a:path w="257810" h="954405">
                  <a:moveTo>
                    <a:pt x="0" y="954306"/>
                  </a:moveTo>
                  <a:lnTo>
                    <a:pt x="257640" y="954306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954306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03178" y="1276137"/>
              <a:ext cx="257810" cy="836930"/>
            </a:xfrm>
            <a:custGeom>
              <a:avLst/>
              <a:gdLst/>
              <a:ahLst/>
              <a:cxnLst/>
              <a:rect l="l" t="t" r="r" b="b"/>
              <a:pathLst>
                <a:path w="257810" h="836930">
                  <a:moveTo>
                    <a:pt x="257640" y="0"/>
                  </a:moveTo>
                  <a:lnTo>
                    <a:pt x="0" y="0"/>
                  </a:lnTo>
                  <a:lnTo>
                    <a:pt x="0" y="836811"/>
                  </a:lnTo>
                  <a:lnTo>
                    <a:pt x="257640" y="836811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703178" y="1276137"/>
              <a:ext cx="257810" cy="836930"/>
            </a:xfrm>
            <a:custGeom>
              <a:avLst/>
              <a:gdLst/>
              <a:ahLst/>
              <a:cxnLst/>
              <a:rect l="l" t="t" r="r" b="b"/>
              <a:pathLst>
                <a:path w="257810" h="836930">
                  <a:moveTo>
                    <a:pt x="0" y="836811"/>
                  </a:moveTo>
                  <a:lnTo>
                    <a:pt x="257640" y="836811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836811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025228" y="1332054"/>
              <a:ext cx="257810" cy="781050"/>
            </a:xfrm>
            <a:custGeom>
              <a:avLst/>
              <a:gdLst/>
              <a:ahLst/>
              <a:cxnLst/>
              <a:rect l="l" t="t" r="r" b="b"/>
              <a:pathLst>
                <a:path w="257810" h="781050">
                  <a:moveTo>
                    <a:pt x="257640" y="0"/>
                  </a:moveTo>
                  <a:lnTo>
                    <a:pt x="0" y="0"/>
                  </a:lnTo>
                  <a:lnTo>
                    <a:pt x="0" y="780894"/>
                  </a:lnTo>
                  <a:lnTo>
                    <a:pt x="257640" y="780894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DD83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025228" y="1332054"/>
              <a:ext cx="257810" cy="781050"/>
            </a:xfrm>
            <a:custGeom>
              <a:avLst/>
              <a:gdLst/>
              <a:ahLst/>
              <a:cxnLst/>
              <a:rect l="l" t="t" r="r" b="b"/>
              <a:pathLst>
                <a:path w="257810" h="781050">
                  <a:moveTo>
                    <a:pt x="0" y="780894"/>
                  </a:moveTo>
                  <a:lnTo>
                    <a:pt x="257640" y="780894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780894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347279" y="1355392"/>
              <a:ext cx="257810" cy="757555"/>
            </a:xfrm>
            <a:custGeom>
              <a:avLst/>
              <a:gdLst/>
              <a:ahLst/>
              <a:cxnLst/>
              <a:rect l="l" t="t" r="r" b="b"/>
              <a:pathLst>
                <a:path w="257810" h="757555">
                  <a:moveTo>
                    <a:pt x="257640" y="0"/>
                  </a:moveTo>
                  <a:lnTo>
                    <a:pt x="0" y="0"/>
                  </a:lnTo>
                  <a:lnTo>
                    <a:pt x="0" y="757556"/>
                  </a:lnTo>
                  <a:lnTo>
                    <a:pt x="257640" y="757556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54A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347279" y="1355392"/>
              <a:ext cx="257810" cy="757555"/>
            </a:xfrm>
            <a:custGeom>
              <a:avLst/>
              <a:gdLst/>
              <a:ahLst/>
              <a:cxnLst/>
              <a:rect l="l" t="t" r="r" b="b"/>
              <a:pathLst>
                <a:path w="257810" h="757555">
                  <a:moveTo>
                    <a:pt x="0" y="757556"/>
                  </a:moveTo>
                  <a:lnTo>
                    <a:pt x="257640" y="757556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757556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669329" y="1509156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5">
                  <a:moveTo>
                    <a:pt x="257640" y="0"/>
                  </a:moveTo>
                  <a:lnTo>
                    <a:pt x="0" y="0"/>
                  </a:lnTo>
                  <a:lnTo>
                    <a:pt x="0" y="603791"/>
                  </a:lnTo>
                  <a:lnTo>
                    <a:pt x="257640" y="603791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807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669329" y="1509156"/>
              <a:ext cx="257810" cy="603885"/>
            </a:xfrm>
            <a:custGeom>
              <a:avLst/>
              <a:gdLst/>
              <a:ahLst/>
              <a:cxnLst/>
              <a:rect l="l" t="t" r="r" b="b"/>
              <a:pathLst>
                <a:path w="257810" h="603885">
                  <a:moveTo>
                    <a:pt x="0" y="603791"/>
                  </a:moveTo>
                  <a:lnTo>
                    <a:pt x="257640" y="603791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603791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991379" y="1598235"/>
              <a:ext cx="257810" cy="514984"/>
            </a:xfrm>
            <a:custGeom>
              <a:avLst/>
              <a:gdLst/>
              <a:ahLst/>
              <a:cxnLst/>
              <a:rect l="l" t="t" r="r" b="b"/>
              <a:pathLst>
                <a:path w="257810" h="514985">
                  <a:moveTo>
                    <a:pt x="257640" y="0"/>
                  </a:moveTo>
                  <a:lnTo>
                    <a:pt x="0" y="0"/>
                  </a:lnTo>
                  <a:lnTo>
                    <a:pt x="0" y="514713"/>
                  </a:lnTo>
                  <a:lnTo>
                    <a:pt x="257640" y="514713"/>
                  </a:lnTo>
                  <a:lnTo>
                    <a:pt x="2576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991379" y="1598235"/>
              <a:ext cx="257810" cy="514984"/>
            </a:xfrm>
            <a:custGeom>
              <a:avLst/>
              <a:gdLst/>
              <a:ahLst/>
              <a:cxnLst/>
              <a:rect l="l" t="t" r="r" b="b"/>
              <a:pathLst>
                <a:path w="257810" h="514985">
                  <a:moveTo>
                    <a:pt x="0" y="514713"/>
                  </a:moveTo>
                  <a:lnTo>
                    <a:pt x="257640" y="514713"/>
                  </a:lnTo>
                  <a:lnTo>
                    <a:pt x="257640" y="0"/>
                  </a:lnTo>
                  <a:lnTo>
                    <a:pt x="0" y="0"/>
                  </a:lnTo>
                  <a:lnTo>
                    <a:pt x="0" y="514713"/>
                  </a:lnTo>
                  <a:close/>
                </a:path>
              </a:pathLst>
            </a:custGeom>
            <a:ln w="48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509948" y="1029148"/>
              <a:ext cx="1610360" cy="668020"/>
            </a:xfrm>
            <a:custGeom>
              <a:avLst/>
              <a:gdLst/>
              <a:ahLst/>
              <a:cxnLst/>
              <a:rect l="l" t="t" r="r" b="b"/>
              <a:pathLst>
                <a:path w="1610360" h="668019">
                  <a:moveTo>
                    <a:pt x="0" y="258988"/>
                  </a:moveTo>
                  <a:lnTo>
                    <a:pt x="0" y="0"/>
                  </a:lnTo>
                </a:path>
                <a:path w="1610360" h="668019">
                  <a:moveTo>
                    <a:pt x="322050" y="365842"/>
                  </a:moveTo>
                  <a:lnTo>
                    <a:pt x="322050" y="128135"/>
                  </a:lnTo>
                </a:path>
                <a:path w="1610360" h="668019">
                  <a:moveTo>
                    <a:pt x="644100" y="446509"/>
                  </a:moveTo>
                  <a:lnTo>
                    <a:pt x="644100" y="159302"/>
                  </a:lnTo>
                </a:path>
                <a:path w="1610360" h="668019">
                  <a:moveTo>
                    <a:pt x="966150" y="508430"/>
                  </a:moveTo>
                  <a:lnTo>
                    <a:pt x="966150" y="144057"/>
                  </a:lnTo>
                </a:path>
                <a:path w="1610360" h="668019">
                  <a:moveTo>
                    <a:pt x="1288200" y="509456"/>
                  </a:moveTo>
                  <a:lnTo>
                    <a:pt x="1288200" y="450560"/>
                  </a:lnTo>
                </a:path>
                <a:path w="1610360" h="668019">
                  <a:moveTo>
                    <a:pt x="1610250" y="667713"/>
                  </a:moveTo>
                  <a:lnTo>
                    <a:pt x="1610250" y="470460"/>
                  </a:lnTo>
                </a:path>
              </a:pathLst>
            </a:custGeom>
            <a:ln w="12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477902" y="128813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477902" y="128813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799952" y="139499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799952" y="139499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122002" y="1475657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122002" y="1475657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444052" y="153757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44052" y="153757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766102" y="153860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766102" y="153860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5088153" y="1696861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5088153" y="1696861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477902" y="102914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477902" y="102914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799952" y="115728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799952" y="1157283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122002" y="118845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122002" y="118845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444052" y="117320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444052" y="117320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766102" y="147970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766102" y="147970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088153" y="149960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088153" y="149960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64092" y="0"/>
                  </a:moveTo>
                  <a:lnTo>
                    <a:pt x="0" y="0"/>
                  </a:lnTo>
                </a:path>
              </a:pathLst>
            </a:custGeom>
            <a:ln w="8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287734" y="1354323"/>
              <a:ext cx="2054860" cy="0"/>
            </a:xfrm>
            <a:custGeom>
              <a:avLst/>
              <a:gdLst/>
              <a:ahLst/>
              <a:cxnLst/>
              <a:rect l="l" t="t" r="r" b="b"/>
              <a:pathLst>
                <a:path w="2054860">
                  <a:moveTo>
                    <a:pt x="0" y="0"/>
                  </a:moveTo>
                  <a:lnTo>
                    <a:pt x="2054679" y="0"/>
                  </a:lnTo>
                </a:path>
              </a:pathLst>
            </a:custGeom>
            <a:ln w="801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287734" y="974958"/>
              <a:ext cx="2054860" cy="1138555"/>
            </a:xfrm>
            <a:custGeom>
              <a:avLst/>
              <a:gdLst/>
              <a:ahLst/>
              <a:cxnLst/>
              <a:rect l="l" t="t" r="r" b="b"/>
              <a:pathLst>
                <a:path w="2054860" h="1138555">
                  <a:moveTo>
                    <a:pt x="0" y="1137990"/>
                  </a:moveTo>
                  <a:lnTo>
                    <a:pt x="0" y="0"/>
                  </a:lnTo>
                </a:path>
                <a:path w="2054860" h="1138555">
                  <a:moveTo>
                    <a:pt x="0" y="1137990"/>
                  </a:moveTo>
                  <a:lnTo>
                    <a:pt x="2054679" y="1137990"/>
                  </a:lnTo>
                </a:path>
              </a:pathLst>
            </a:custGeom>
            <a:ln w="7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729856" y="105507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>
                  <a:moveTo>
                    <a:pt x="0" y="0"/>
                  </a:moveTo>
                  <a:lnTo>
                    <a:pt x="64092" y="0"/>
                  </a:lnTo>
                  <a:lnTo>
                    <a:pt x="128184" y="0"/>
                  </a:lnTo>
                </a:path>
              </a:pathLst>
            </a:custGeom>
            <a:ln w="801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 rot="19560000">
            <a:off x="3065254" y="2293628"/>
            <a:ext cx="469851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Random</a:t>
            </a:r>
            <a:r>
              <a:rPr sz="500" spc="95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14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92" name="object 192"/>
          <p:cNvSpPr txBox="1"/>
          <p:nvPr/>
        </p:nvSpPr>
        <p:spPr>
          <a:xfrm>
            <a:off x="1412849" y="3069257"/>
            <a:ext cx="29343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5,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6.2,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Figures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4b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&amp;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5,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(2026);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Shokri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et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al.,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IEEE</a:t>
            </a:r>
            <a:r>
              <a:rPr sz="500" i="1" spc="-5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</a:t>
            </a:r>
            <a:r>
              <a:rPr sz="500" i="1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S&amp;P</a:t>
            </a:r>
            <a:r>
              <a:rPr sz="500" i="1" spc="-10" dirty="0">
                <a:solidFill>
                  <a:srgbClr val="0E61FE"/>
                </a:solidFill>
                <a:latin typeface="Arial"/>
                <a:cs typeface="Arial"/>
                <a:hlinkClick r:id="rId3"/>
              </a:rPr>
              <a:t> (2017)</a:t>
            </a:r>
            <a:endParaRPr sz="5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 rot="19560000">
            <a:off x="3313108" y="2317608"/>
            <a:ext cx="551019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Fisher-only</a:t>
            </a:r>
            <a:r>
              <a:rPr sz="500" spc="13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 txBox="1"/>
          <p:nvPr/>
        </p:nvSpPr>
        <p:spPr>
          <a:xfrm rot="19560000">
            <a:off x="3446216" y="2378202"/>
            <a:ext cx="759388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Entanglement-only</a:t>
            </a:r>
            <a:r>
              <a:rPr sz="500" spc="26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Pruning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 rot="19560000">
            <a:off x="4057163" y="2285446"/>
            <a:ext cx="441602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Fine-T</a:t>
            </a:r>
            <a:r>
              <a:rPr sz="750" baseline="5555" dirty="0">
                <a:latin typeface="Times New Roman"/>
                <a:cs typeface="Times New Roman"/>
              </a:rPr>
              <a:t>une</a:t>
            </a:r>
            <a:r>
              <a:rPr sz="750" spc="172" baseline="5555" dirty="0">
                <a:latin typeface="Times New Roman"/>
                <a:cs typeface="Times New Roman"/>
              </a:rPr>
              <a:t> </a:t>
            </a:r>
            <a:r>
              <a:rPr sz="750" spc="-30" baseline="5555" dirty="0">
                <a:latin typeface="Times New Roman"/>
                <a:cs typeface="Times New Roman"/>
              </a:rPr>
              <a:t>Only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180" name="object 180"/>
          <p:cNvSpPr txBox="1"/>
          <p:nvPr/>
        </p:nvSpPr>
        <p:spPr>
          <a:xfrm rot="19560000">
            <a:off x="4269934" y="2320583"/>
            <a:ext cx="561732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Full</a:t>
            </a:r>
            <a:r>
              <a:rPr sz="500" spc="75" dirty="0">
                <a:latin typeface="Times New Roman"/>
                <a:cs typeface="Times New Roman"/>
              </a:rPr>
              <a:t> </a:t>
            </a:r>
            <a:r>
              <a:rPr sz="500" dirty="0">
                <a:latin typeface="Times New Roman"/>
                <a:cs typeface="Times New Roman"/>
              </a:rPr>
              <a:t>Retrain</a:t>
            </a:r>
            <a:r>
              <a:rPr sz="500" spc="80" dirty="0">
                <a:latin typeface="Times New Roman"/>
                <a:cs typeface="Times New Roman"/>
              </a:rPr>
              <a:t> </a:t>
            </a:r>
            <a:r>
              <a:rPr sz="750" spc="-15" baseline="5555" dirty="0">
                <a:latin typeface="Times New Roman"/>
                <a:cs typeface="Times New Roman"/>
              </a:rPr>
              <a:t>(oracle)</a:t>
            </a:r>
            <a:endParaRPr sz="750" baseline="5555">
              <a:latin typeface="Times New Roman"/>
              <a:cs typeface="Times New Roman"/>
            </a:endParaRPr>
          </a:p>
        </p:txBody>
      </p:sp>
      <p:sp>
        <p:nvSpPr>
          <p:cNvPr id="181" name="object 181"/>
          <p:cNvSpPr txBox="1"/>
          <p:nvPr/>
        </p:nvSpPr>
        <p:spPr>
          <a:xfrm rot="19560000">
            <a:off x="4826913" y="2244777"/>
            <a:ext cx="304371" cy="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"/>
              </a:lnSpc>
            </a:pPr>
            <a:r>
              <a:rPr sz="500" dirty="0">
                <a:latin typeface="Times New Roman"/>
                <a:cs typeface="Times New Roman"/>
              </a:rPr>
              <a:t>QFL-</a:t>
            </a:r>
            <a:r>
              <a:rPr sz="500" spc="-25" dirty="0">
                <a:latin typeface="Times New Roman"/>
                <a:cs typeface="Times New Roman"/>
              </a:rPr>
              <a:t>EWP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3131327" y="2055584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3131327" y="1448684"/>
            <a:ext cx="113030" cy="564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0.4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50" spc="-25" dirty="0">
                <a:latin typeface="Times New Roman"/>
                <a:cs typeface="Times New Roman"/>
              </a:rPr>
              <a:t>0.3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50" spc="-25" dirty="0">
                <a:latin typeface="Times New Roman"/>
                <a:cs typeface="Times New Roman"/>
              </a:rPr>
              <a:t>0.2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550" spc="-25" dirty="0">
                <a:latin typeface="Times New Roman"/>
                <a:cs typeface="Times New Roman"/>
              </a:rPr>
              <a:t>0.1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3131327" y="1296959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3131327" y="1145234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0.6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3131327" y="993509"/>
            <a:ext cx="113030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5" dirty="0">
                <a:latin typeface="Times New Roman"/>
                <a:cs typeface="Times New Roman"/>
              </a:rPr>
              <a:t>0.7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010864" y="968321"/>
            <a:ext cx="114300" cy="1151890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latin typeface="Times New Roman"/>
                <a:cs typeface="Times New Roman"/>
              </a:rPr>
              <a:t>Membership-inference</a:t>
            </a:r>
            <a:r>
              <a:rPr sz="600" spc="204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attack</a:t>
            </a:r>
            <a:r>
              <a:rPr sz="600" spc="125" dirty="0">
                <a:latin typeface="Times New Roman"/>
                <a:cs typeface="Times New Roman"/>
              </a:rPr>
              <a:t> </a:t>
            </a:r>
            <a:r>
              <a:rPr sz="600" spc="-25" dirty="0">
                <a:latin typeface="Times New Roman"/>
                <a:cs typeface="Times New Roman"/>
              </a:rPr>
              <a:t>AUC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3649183" y="830067"/>
            <a:ext cx="133223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dirty="0">
                <a:latin typeface="Times New Roman"/>
                <a:cs typeface="Times New Roman"/>
              </a:rPr>
              <a:t>Privacy</a:t>
            </a:r>
            <a:r>
              <a:rPr sz="650" b="1" spc="25" dirty="0">
                <a:latin typeface="Times New Roman"/>
                <a:cs typeface="Times New Roman"/>
              </a:rPr>
              <a:t> </a:t>
            </a:r>
            <a:r>
              <a:rPr sz="650" b="1" dirty="0">
                <a:latin typeface="Times New Roman"/>
                <a:cs typeface="Times New Roman"/>
              </a:rPr>
              <a:t>comparison</a:t>
            </a:r>
            <a:r>
              <a:rPr sz="650" b="1" spc="25" dirty="0">
                <a:latin typeface="Times New Roman"/>
                <a:cs typeface="Times New Roman"/>
              </a:rPr>
              <a:t> </a:t>
            </a:r>
            <a:r>
              <a:rPr sz="650" b="1" dirty="0">
                <a:latin typeface="Times New Roman"/>
                <a:cs typeface="Times New Roman"/>
              </a:rPr>
              <a:t>(lower</a:t>
            </a:r>
            <a:r>
              <a:rPr sz="650" b="1" spc="15" dirty="0">
                <a:latin typeface="Times New Roman"/>
                <a:cs typeface="Times New Roman"/>
              </a:rPr>
              <a:t> </a:t>
            </a:r>
            <a:r>
              <a:rPr sz="650" b="1" dirty="0">
                <a:latin typeface="Times New Roman"/>
                <a:cs typeface="Times New Roman"/>
              </a:rPr>
              <a:t>is</a:t>
            </a:r>
            <a:r>
              <a:rPr sz="650" b="1" spc="30" dirty="0">
                <a:latin typeface="Times New Roman"/>
                <a:cs typeface="Times New Roman"/>
              </a:rPr>
              <a:t> </a:t>
            </a:r>
            <a:r>
              <a:rPr sz="650" b="1" spc="-10" dirty="0">
                <a:latin typeface="Times New Roman"/>
                <a:cs typeface="Times New Roman"/>
              </a:rPr>
              <a:t>better)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4896615" y="1000713"/>
            <a:ext cx="40132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latin typeface="Times New Roman"/>
                <a:cs typeface="Times New Roman"/>
              </a:rPr>
              <a:t>Chance </a:t>
            </a:r>
            <a:r>
              <a:rPr sz="500" spc="-10" dirty="0">
                <a:latin typeface="Times New Roman"/>
                <a:cs typeface="Times New Roman"/>
              </a:rPr>
              <a:t>(ideal)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435521" y="2727810"/>
            <a:ext cx="488950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120140" marR="5080" indent="-1108075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EWP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attains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lowest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membership-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inference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attack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AUC</a:t>
            </a:r>
            <a:r>
              <a:rPr sz="700" b="1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(0.339)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best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forgetting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score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(0.678),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showing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genuine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removal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 of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client-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specific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information,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 not merely accuracy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recovery.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Runtime:</a:t>
            </a:r>
            <a:r>
              <a:rPr spc="5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0" dirty="0"/>
              <a:t>16</a:t>
            </a:r>
            <a:r>
              <a:rPr b="0" i="1" spc="-20" dirty="0">
                <a:latin typeface="Verdana"/>
                <a:cs typeface="Verdana"/>
              </a:rPr>
              <a:t>×</a:t>
            </a:r>
            <a:r>
              <a:rPr b="0" i="1" spc="-75" dirty="0">
                <a:latin typeface="Verdana"/>
                <a:cs typeface="Verdana"/>
              </a:rPr>
              <a:t> </a:t>
            </a:r>
            <a:r>
              <a:rPr spc="-10" dirty="0"/>
              <a:t>Speed-</a:t>
            </a:r>
            <a:r>
              <a:rPr spc="-25" dirty="0"/>
              <a:t>Up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25359" y="930298"/>
            <a:ext cx="2340610" cy="1336675"/>
            <a:chOff x="725359" y="930298"/>
            <a:chExt cx="2340610" cy="1336675"/>
          </a:xfrm>
        </p:grpSpPr>
        <p:sp>
          <p:nvSpPr>
            <p:cNvPr id="5" name="object 5"/>
            <p:cNvSpPr/>
            <p:nvPr/>
          </p:nvSpPr>
          <p:spPr>
            <a:xfrm>
              <a:off x="1007154" y="930298"/>
              <a:ext cx="0" cy="1103630"/>
            </a:xfrm>
            <a:custGeom>
              <a:avLst/>
              <a:gdLst/>
              <a:ahLst/>
              <a:cxnLst/>
              <a:rect l="l" t="t" r="r" b="b"/>
              <a:pathLst>
                <a:path h="1103630">
                  <a:moveTo>
                    <a:pt x="0" y="0"/>
                  </a:moveTo>
                  <a:lnTo>
                    <a:pt x="0" y="1103189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7154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7154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8979" y="930298"/>
              <a:ext cx="0" cy="1206500"/>
            </a:xfrm>
            <a:custGeom>
              <a:avLst/>
              <a:gdLst/>
              <a:ahLst/>
              <a:cxnLst/>
              <a:rect l="l" t="t" r="r" b="b"/>
              <a:pathLst>
                <a:path h="1206500">
                  <a:moveTo>
                    <a:pt x="0" y="0"/>
                  </a:moveTo>
                  <a:lnTo>
                    <a:pt x="0" y="1206299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8979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68979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30805" y="930298"/>
              <a:ext cx="0" cy="1206500"/>
            </a:xfrm>
            <a:custGeom>
              <a:avLst/>
              <a:gdLst/>
              <a:ahLst/>
              <a:cxnLst/>
              <a:rect l="l" t="t" r="r" b="b"/>
              <a:pathLst>
                <a:path h="1206500">
                  <a:moveTo>
                    <a:pt x="0" y="0"/>
                  </a:moveTo>
                  <a:lnTo>
                    <a:pt x="0" y="1206006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30805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30805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2631" y="930298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h="186690">
                  <a:moveTo>
                    <a:pt x="0" y="0"/>
                  </a:moveTo>
                  <a:lnTo>
                    <a:pt x="0" y="186172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2631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92631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54457" y="930298"/>
              <a:ext cx="0" cy="60960"/>
            </a:xfrm>
            <a:custGeom>
              <a:avLst/>
              <a:gdLst/>
              <a:ahLst/>
              <a:cxnLst/>
              <a:rect l="l" t="t" r="r" b="b"/>
              <a:pathLst>
                <a:path h="60959">
                  <a:moveTo>
                    <a:pt x="0" y="0"/>
                  </a:moveTo>
                  <a:lnTo>
                    <a:pt x="0" y="60735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54457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54457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16282" y="930298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4">
                  <a:moveTo>
                    <a:pt x="0" y="0"/>
                  </a:moveTo>
                  <a:lnTo>
                    <a:pt x="0" y="28962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16282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16282" y="223446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h="32385">
                  <a:moveTo>
                    <a:pt x="0" y="0"/>
                  </a:moveTo>
                  <a:lnTo>
                    <a:pt x="0" y="32135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7494" y="208595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394390" y="0"/>
                  </a:moveTo>
                  <a:lnTo>
                    <a:pt x="1190406" y="0"/>
                  </a:lnTo>
                </a:path>
                <a:path w="2308860">
                  <a:moveTo>
                    <a:pt x="0" y="0"/>
                  </a:moveTo>
                  <a:lnTo>
                    <a:pt x="104929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1841693" y="0"/>
                  </a:moveTo>
                  <a:lnTo>
                    <a:pt x="1914058" y="0"/>
                  </a:lnTo>
                </a:path>
                <a:path w="2308860">
                  <a:moveTo>
                    <a:pt x="2203518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5359" y="208595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359" y="208595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7494" y="189759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1841693" y="0"/>
                  </a:moveTo>
                  <a:lnTo>
                    <a:pt x="1914058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0" y="0"/>
                  </a:moveTo>
                  <a:lnTo>
                    <a:pt x="1190406" y="0"/>
                  </a:lnTo>
                </a:path>
                <a:path w="2308860">
                  <a:moveTo>
                    <a:pt x="2203518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5359" y="189759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5359" y="189759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7494" y="1709244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1190406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1841693" y="0"/>
                  </a:moveTo>
                  <a:lnTo>
                    <a:pt x="1914058" y="0"/>
                  </a:lnTo>
                </a:path>
                <a:path w="2308860">
                  <a:moveTo>
                    <a:pt x="2203518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5359" y="170924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5359" y="170924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7494" y="152089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1841693" y="0"/>
                  </a:moveTo>
                  <a:lnTo>
                    <a:pt x="1914058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0" y="0"/>
                  </a:moveTo>
                  <a:lnTo>
                    <a:pt x="1190406" y="0"/>
                  </a:lnTo>
                </a:path>
                <a:path w="2308860">
                  <a:moveTo>
                    <a:pt x="2203518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5359" y="152089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5359" y="152089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7494" y="1332538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1841693" y="0"/>
                  </a:moveTo>
                  <a:lnTo>
                    <a:pt x="1914058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0" y="0"/>
                  </a:moveTo>
                  <a:lnTo>
                    <a:pt x="1190406" y="0"/>
                  </a:lnTo>
                </a:path>
                <a:path w="2308860">
                  <a:moveTo>
                    <a:pt x="2203518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5359" y="133253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5359" y="133253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7494" y="1144185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1841693" y="0"/>
                  </a:moveTo>
                  <a:lnTo>
                    <a:pt x="2308448" y="0"/>
                  </a:lnTo>
                </a:path>
                <a:path w="2308860">
                  <a:moveTo>
                    <a:pt x="1479867" y="0"/>
                  </a:moveTo>
                  <a:lnTo>
                    <a:pt x="1552232" y="0"/>
                  </a:lnTo>
                </a:path>
                <a:path w="2308860">
                  <a:moveTo>
                    <a:pt x="0" y="0"/>
                  </a:moveTo>
                  <a:lnTo>
                    <a:pt x="1190406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5359" y="114418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5359" y="114418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7494" y="955831"/>
              <a:ext cx="2308860" cy="0"/>
            </a:xfrm>
            <a:custGeom>
              <a:avLst/>
              <a:gdLst/>
              <a:ahLst/>
              <a:cxnLst/>
              <a:rect l="l" t="t" r="r" b="b"/>
              <a:pathLst>
                <a:path w="2308860">
                  <a:moveTo>
                    <a:pt x="0" y="0"/>
                  </a:moveTo>
                  <a:lnTo>
                    <a:pt x="2308448" y="0"/>
                  </a:lnTo>
                </a:path>
              </a:pathLst>
            </a:custGeom>
            <a:ln w="4590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359" y="95583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5359" y="955831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32135" y="0"/>
                  </a:moveTo>
                  <a:lnTo>
                    <a:pt x="0" y="0"/>
                  </a:lnTo>
                </a:path>
              </a:pathLst>
            </a:custGeom>
            <a:ln w="73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9131" y="22176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9131" y="22176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9131" y="218443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9131" y="218443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9131" y="21609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9131" y="21609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9131" y="21426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9131" y="21426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9131" y="212773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9131" y="212773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9131" y="211512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39131" y="211512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9131" y="21042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9131" y="210420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39131" y="209457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9131" y="209457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9131" y="20292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9131" y="20292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9131" y="199608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9131" y="199608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9131" y="19725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9131" y="19725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9131" y="19542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9131" y="19542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9131" y="193938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39131" y="193938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9131" y="192677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39131" y="192677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9131" y="19158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9131" y="191585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9131" y="190621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39131" y="190621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9131" y="18408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39131" y="18408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39131" y="180773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39131" y="180773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39131" y="17841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39131" y="17841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39131" y="17659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39131" y="17659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39131" y="175103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39131" y="175103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39131" y="173842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39131" y="173842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39131" y="17274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39131" y="172749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39131" y="17178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39131" y="171786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39131" y="16525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39131" y="16525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39131" y="161937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39131" y="161937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9131" y="15958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39131" y="15958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9131" y="15775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9131" y="15775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39131" y="156267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39131" y="156267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39131" y="155006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39131" y="155006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39131" y="15391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39131" y="153914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39131" y="152951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39131" y="152951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39131" y="14641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39131" y="14641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39131" y="143102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39131" y="143102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39131" y="14074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39131" y="14074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39131" y="13892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39131" y="13892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39131" y="137432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39131" y="137432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39131" y="136171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9131" y="1361714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39131" y="13507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39131" y="135079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39131" y="134115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39131" y="134115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39131" y="12758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39131" y="12758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39131" y="124267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39131" y="124267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39131" y="12191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39131" y="12191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39131" y="12008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39131" y="12008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39131" y="118597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39131" y="118597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39131" y="117336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39131" y="117336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39131" y="11624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39131" y="116243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9131" y="115280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39131" y="115280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39131" y="10874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39131" y="10874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39131" y="105431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39131" y="105431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39131" y="10307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39131" y="10307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39131" y="101253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39131" y="101253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39131" y="99761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39131" y="99761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39131" y="98500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39131" y="98500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39131" y="9740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39131" y="97408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39131" y="96445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39131" y="964450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18362" y="0"/>
                  </a:moveTo>
                  <a:lnTo>
                    <a:pt x="0" y="0"/>
                  </a:lnTo>
                </a:path>
              </a:pathLst>
            </a:custGeom>
            <a:ln w="5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62423" y="2033488"/>
              <a:ext cx="289560" cy="201295"/>
            </a:xfrm>
            <a:custGeom>
              <a:avLst/>
              <a:gdLst/>
              <a:ahLst/>
              <a:cxnLst/>
              <a:rect l="l" t="t" r="r" b="b"/>
              <a:pathLst>
                <a:path w="289559" h="201294">
                  <a:moveTo>
                    <a:pt x="289460" y="0"/>
                  </a:moveTo>
                  <a:lnTo>
                    <a:pt x="0" y="0"/>
                  </a:lnTo>
                  <a:lnTo>
                    <a:pt x="0" y="200981"/>
                  </a:lnTo>
                  <a:lnTo>
                    <a:pt x="289460" y="200981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62423" y="2033488"/>
              <a:ext cx="289560" cy="201295"/>
            </a:xfrm>
            <a:custGeom>
              <a:avLst/>
              <a:gdLst/>
              <a:ahLst/>
              <a:cxnLst/>
              <a:rect l="l" t="t" r="r" b="b"/>
              <a:pathLst>
                <a:path w="289559" h="201294">
                  <a:moveTo>
                    <a:pt x="289460" y="200981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200981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224249" y="2136598"/>
              <a:ext cx="289560" cy="98425"/>
            </a:xfrm>
            <a:custGeom>
              <a:avLst/>
              <a:gdLst/>
              <a:ahLst/>
              <a:cxnLst/>
              <a:rect l="l" t="t" r="r" b="b"/>
              <a:pathLst>
                <a:path w="289559" h="98425">
                  <a:moveTo>
                    <a:pt x="289460" y="0"/>
                  </a:moveTo>
                  <a:lnTo>
                    <a:pt x="0" y="0"/>
                  </a:lnTo>
                  <a:lnTo>
                    <a:pt x="0" y="97871"/>
                  </a:lnTo>
                  <a:lnTo>
                    <a:pt x="289460" y="97871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224249" y="2136598"/>
              <a:ext cx="289560" cy="98425"/>
            </a:xfrm>
            <a:custGeom>
              <a:avLst/>
              <a:gdLst/>
              <a:ahLst/>
              <a:cxnLst/>
              <a:rect l="l" t="t" r="r" b="b"/>
              <a:pathLst>
                <a:path w="289559" h="98425">
                  <a:moveTo>
                    <a:pt x="289460" y="97871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97871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586075" y="2136304"/>
              <a:ext cx="289560" cy="98425"/>
            </a:xfrm>
            <a:custGeom>
              <a:avLst/>
              <a:gdLst/>
              <a:ahLst/>
              <a:cxnLst/>
              <a:rect l="l" t="t" r="r" b="b"/>
              <a:pathLst>
                <a:path w="289560" h="98425">
                  <a:moveTo>
                    <a:pt x="289460" y="0"/>
                  </a:moveTo>
                  <a:lnTo>
                    <a:pt x="0" y="0"/>
                  </a:lnTo>
                  <a:lnTo>
                    <a:pt x="0" y="98165"/>
                  </a:lnTo>
                  <a:lnTo>
                    <a:pt x="289460" y="98165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DD83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586075" y="2136304"/>
              <a:ext cx="289560" cy="98425"/>
            </a:xfrm>
            <a:custGeom>
              <a:avLst/>
              <a:gdLst/>
              <a:ahLst/>
              <a:cxnLst/>
              <a:rect l="l" t="t" r="r" b="b"/>
              <a:pathLst>
                <a:path w="289560" h="98425">
                  <a:moveTo>
                    <a:pt x="289460" y="98165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98165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947900" y="1116471"/>
              <a:ext cx="289560" cy="1118235"/>
            </a:xfrm>
            <a:custGeom>
              <a:avLst/>
              <a:gdLst/>
              <a:ahLst/>
              <a:cxnLst/>
              <a:rect l="l" t="t" r="r" b="b"/>
              <a:pathLst>
                <a:path w="289560" h="1118235">
                  <a:moveTo>
                    <a:pt x="289460" y="0"/>
                  </a:moveTo>
                  <a:lnTo>
                    <a:pt x="0" y="0"/>
                  </a:lnTo>
                  <a:lnTo>
                    <a:pt x="0" y="1117998"/>
                  </a:lnTo>
                  <a:lnTo>
                    <a:pt x="289460" y="1117998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54A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947900" y="1116471"/>
              <a:ext cx="289560" cy="1118235"/>
            </a:xfrm>
            <a:custGeom>
              <a:avLst/>
              <a:gdLst/>
              <a:ahLst/>
              <a:cxnLst/>
              <a:rect l="l" t="t" r="r" b="b"/>
              <a:pathLst>
                <a:path w="289560" h="1118235">
                  <a:moveTo>
                    <a:pt x="289460" y="1117998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1117998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309726" y="991034"/>
              <a:ext cx="289560" cy="1243965"/>
            </a:xfrm>
            <a:custGeom>
              <a:avLst/>
              <a:gdLst/>
              <a:ahLst/>
              <a:cxnLst/>
              <a:rect l="l" t="t" r="r" b="b"/>
              <a:pathLst>
                <a:path w="289560" h="1243964">
                  <a:moveTo>
                    <a:pt x="289460" y="0"/>
                  </a:moveTo>
                  <a:lnTo>
                    <a:pt x="0" y="0"/>
                  </a:lnTo>
                  <a:lnTo>
                    <a:pt x="0" y="1243435"/>
                  </a:lnTo>
                  <a:lnTo>
                    <a:pt x="289460" y="1243435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8071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309726" y="991034"/>
              <a:ext cx="289560" cy="1243965"/>
            </a:xfrm>
            <a:custGeom>
              <a:avLst/>
              <a:gdLst/>
              <a:ahLst/>
              <a:cxnLst/>
              <a:rect l="l" t="t" r="r" b="b"/>
              <a:pathLst>
                <a:path w="289560" h="1243964">
                  <a:moveTo>
                    <a:pt x="289460" y="1243435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1243435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671552" y="1219919"/>
              <a:ext cx="289560" cy="1014730"/>
            </a:xfrm>
            <a:custGeom>
              <a:avLst/>
              <a:gdLst/>
              <a:ahLst/>
              <a:cxnLst/>
              <a:rect l="l" t="t" r="r" b="b"/>
              <a:pathLst>
                <a:path w="289560" h="1014730">
                  <a:moveTo>
                    <a:pt x="289460" y="0"/>
                  </a:moveTo>
                  <a:lnTo>
                    <a:pt x="0" y="0"/>
                  </a:lnTo>
                  <a:lnTo>
                    <a:pt x="0" y="1014550"/>
                  </a:lnTo>
                  <a:lnTo>
                    <a:pt x="289460" y="1014550"/>
                  </a:lnTo>
                  <a:lnTo>
                    <a:pt x="28946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671552" y="1219919"/>
              <a:ext cx="289560" cy="1014730"/>
            </a:xfrm>
            <a:custGeom>
              <a:avLst/>
              <a:gdLst/>
              <a:ahLst/>
              <a:cxnLst/>
              <a:rect l="l" t="t" r="r" b="b"/>
              <a:pathLst>
                <a:path w="289560" h="1014730">
                  <a:moveTo>
                    <a:pt x="289460" y="1014550"/>
                  </a:moveTo>
                  <a:lnTo>
                    <a:pt x="289460" y="0"/>
                  </a:lnTo>
                  <a:lnTo>
                    <a:pt x="0" y="0"/>
                  </a:lnTo>
                  <a:lnTo>
                    <a:pt x="0" y="1014550"/>
                  </a:lnTo>
                </a:path>
              </a:pathLst>
            </a:custGeom>
            <a:ln w="91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007154" y="989578"/>
              <a:ext cx="1809750" cy="1186180"/>
            </a:xfrm>
            <a:custGeom>
              <a:avLst/>
              <a:gdLst/>
              <a:ahLst/>
              <a:cxnLst/>
              <a:rect l="l" t="t" r="r" b="b"/>
              <a:pathLst>
                <a:path w="1809750" h="1186180">
                  <a:moveTo>
                    <a:pt x="0" y="1051405"/>
                  </a:moveTo>
                  <a:lnTo>
                    <a:pt x="0" y="1037042"/>
                  </a:lnTo>
                </a:path>
                <a:path w="1809750" h="1186180">
                  <a:moveTo>
                    <a:pt x="361825" y="1163772"/>
                  </a:moveTo>
                  <a:lnTo>
                    <a:pt x="361825" y="1133120"/>
                  </a:lnTo>
                </a:path>
                <a:path w="1809750" h="1186180">
                  <a:moveTo>
                    <a:pt x="723651" y="1185610"/>
                  </a:moveTo>
                  <a:lnTo>
                    <a:pt x="723651" y="1120477"/>
                  </a:lnTo>
                </a:path>
                <a:path w="1809750" h="1186180">
                  <a:moveTo>
                    <a:pt x="1085477" y="127947"/>
                  </a:moveTo>
                  <a:lnTo>
                    <a:pt x="1085477" y="125850"/>
                  </a:lnTo>
                </a:path>
                <a:path w="1809750" h="1186180">
                  <a:moveTo>
                    <a:pt x="1447303" y="2936"/>
                  </a:moveTo>
                  <a:lnTo>
                    <a:pt x="1447303" y="0"/>
                  </a:lnTo>
                </a:path>
                <a:path w="1809750" h="1186180">
                  <a:moveTo>
                    <a:pt x="1809128" y="232623"/>
                  </a:moveTo>
                  <a:lnTo>
                    <a:pt x="1809128" y="228118"/>
                  </a:lnTo>
                </a:path>
              </a:pathLst>
            </a:custGeom>
            <a:ln w="1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970428" y="2040984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970428" y="2040984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332253" y="2153351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332253" y="2153351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694079" y="217518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694079" y="217518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055905" y="1117525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055905" y="1117525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417731" y="992515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417731" y="992515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779556" y="1222202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779556" y="1222202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970428" y="2026621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970428" y="2026621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332253" y="212269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332253" y="212269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694079" y="2110056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694079" y="2110056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055905" y="111542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055905" y="1115429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2417731" y="989578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2417731" y="989578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2779556" y="1217697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2779556" y="1217697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60">
                  <a:moveTo>
                    <a:pt x="73451" y="0"/>
                  </a:moveTo>
                  <a:lnTo>
                    <a:pt x="0" y="0"/>
                  </a:lnTo>
                </a:path>
              </a:pathLst>
            </a:custGeom>
            <a:ln w="91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57494" y="930298"/>
              <a:ext cx="2308860" cy="1304290"/>
            </a:xfrm>
            <a:custGeom>
              <a:avLst/>
              <a:gdLst/>
              <a:ahLst/>
              <a:cxnLst/>
              <a:rect l="l" t="t" r="r" b="b"/>
              <a:pathLst>
                <a:path w="2308860" h="1304289">
                  <a:moveTo>
                    <a:pt x="0" y="1304171"/>
                  </a:moveTo>
                  <a:lnTo>
                    <a:pt x="0" y="0"/>
                  </a:lnTo>
                </a:path>
                <a:path w="2308860" h="1304289">
                  <a:moveTo>
                    <a:pt x="0" y="1304171"/>
                  </a:moveTo>
                  <a:lnTo>
                    <a:pt x="2308448" y="1304171"/>
                  </a:lnTo>
                </a:path>
              </a:pathLst>
            </a:custGeom>
            <a:ln w="82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 rot="19500000">
            <a:off x="496999" y="2439230"/>
            <a:ext cx="537203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Random</a:t>
            </a:r>
            <a:r>
              <a:rPr sz="600" spc="40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Pruning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1" name="object 2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15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212" name="object 212"/>
          <p:cNvSpPr txBox="1"/>
          <p:nvPr/>
        </p:nvSpPr>
        <p:spPr>
          <a:xfrm>
            <a:off x="2083168" y="3070006"/>
            <a:ext cx="15938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6, Section 6.3,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 rot="19500000">
            <a:off x="773555" y="2466373"/>
            <a:ext cx="630332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Fisher-only</a:t>
            </a:r>
            <a:r>
              <a:rPr sz="600" spc="40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Pruning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6" name="object 196"/>
          <p:cNvSpPr txBox="1"/>
          <p:nvPr/>
        </p:nvSpPr>
        <p:spPr>
          <a:xfrm rot="19500000">
            <a:off x="918236" y="2534948"/>
            <a:ext cx="868389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Entanglement-only</a:t>
            </a:r>
            <a:r>
              <a:rPr sz="600" spc="135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Pruning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7" name="object 197"/>
          <p:cNvSpPr txBox="1"/>
          <p:nvPr/>
        </p:nvSpPr>
        <p:spPr>
          <a:xfrm rot="19500000">
            <a:off x="1612080" y="2429974"/>
            <a:ext cx="504556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Fine-Tune</a:t>
            </a:r>
            <a:r>
              <a:rPr sz="600" spc="20" dirty="0">
                <a:latin typeface="Times New Roman"/>
                <a:cs typeface="Times New Roman"/>
              </a:rPr>
              <a:t> </a:t>
            </a:r>
            <a:r>
              <a:rPr sz="600" spc="-20" dirty="0">
                <a:latin typeface="Times New Roman"/>
                <a:cs typeface="Times New Roman"/>
              </a:rPr>
              <a:t>Only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 txBox="1"/>
          <p:nvPr/>
        </p:nvSpPr>
        <p:spPr>
          <a:xfrm rot="19500000">
            <a:off x="1848314" y="2469738"/>
            <a:ext cx="642306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Full</a:t>
            </a:r>
            <a:r>
              <a:rPr sz="600" spc="3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Retrain</a:t>
            </a:r>
            <a:r>
              <a:rPr sz="600" spc="35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(oracle)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9" name="object 199"/>
          <p:cNvSpPr txBox="1"/>
          <p:nvPr/>
        </p:nvSpPr>
        <p:spPr>
          <a:xfrm rot="19500000">
            <a:off x="2480140" y="2383945"/>
            <a:ext cx="347350" cy="7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5"/>
              </a:lnSpc>
            </a:pPr>
            <a:r>
              <a:rPr sz="600" dirty="0">
                <a:latin typeface="Times New Roman"/>
                <a:cs typeface="Times New Roman"/>
              </a:rPr>
              <a:t>QFL-</a:t>
            </a:r>
            <a:r>
              <a:rPr sz="600" spc="-25" dirty="0">
                <a:latin typeface="Times New Roman"/>
                <a:cs typeface="Times New Roman"/>
              </a:rPr>
              <a:t>EWP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508220" y="1990474"/>
            <a:ext cx="21717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00" spc="-30" baseline="-18518" dirty="0">
                <a:latin typeface="Times New Roman"/>
                <a:cs typeface="Times New Roman"/>
              </a:rPr>
              <a:t>10</a:t>
            </a:r>
            <a:r>
              <a:rPr sz="450" spc="-20" dirty="0">
                <a:latin typeface="Times New Roman"/>
                <a:cs typeface="Times New Roman"/>
              </a:rPr>
              <a:t>−4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508220" y="1802322"/>
            <a:ext cx="21717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00" spc="-30" baseline="-18518" dirty="0">
                <a:latin typeface="Times New Roman"/>
                <a:cs typeface="Times New Roman"/>
              </a:rPr>
              <a:t>10</a:t>
            </a:r>
            <a:r>
              <a:rPr sz="450" spc="-20" dirty="0">
                <a:latin typeface="Times New Roman"/>
                <a:cs typeface="Times New Roman"/>
              </a:rPr>
              <a:t>−3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508220" y="1613969"/>
            <a:ext cx="21717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00" spc="-30" baseline="-18518" dirty="0">
                <a:latin typeface="Times New Roman"/>
                <a:cs typeface="Times New Roman"/>
              </a:rPr>
              <a:t>10</a:t>
            </a:r>
            <a:r>
              <a:rPr sz="450" spc="-20" dirty="0">
                <a:latin typeface="Times New Roman"/>
                <a:cs typeface="Times New Roman"/>
              </a:rPr>
              <a:t>−2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08220" y="1425515"/>
            <a:ext cx="21717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00" spc="-30" baseline="-18518" dirty="0">
                <a:latin typeface="Times New Roman"/>
                <a:cs typeface="Times New Roman"/>
              </a:rPr>
              <a:t>10</a:t>
            </a:r>
            <a:r>
              <a:rPr sz="450" spc="-20" dirty="0">
                <a:latin typeface="Times New Roman"/>
                <a:cs typeface="Times New Roman"/>
              </a:rPr>
              <a:t>−1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535764" y="1263974"/>
            <a:ext cx="18542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00" spc="-25" dirty="0">
                <a:latin typeface="Times New Roman"/>
                <a:cs typeface="Times New Roman"/>
              </a:rPr>
              <a:t>10</a:t>
            </a:r>
            <a:r>
              <a:rPr sz="675" spc="-37" baseline="24691" dirty="0">
                <a:latin typeface="Times New Roman"/>
                <a:cs typeface="Times New Roman"/>
              </a:rPr>
              <a:t>0</a:t>
            </a:r>
            <a:endParaRPr sz="675" baseline="24691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535764" y="1075320"/>
            <a:ext cx="18542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00" spc="-25" dirty="0">
                <a:latin typeface="Times New Roman"/>
                <a:cs typeface="Times New Roman"/>
              </a:rPr>
              <a:t>10</a:t>
            </a:r>
            <a:r>
              <a:rPr sz="675" spc="-37" baseline="24691" dirty="0">
                <a:latin typeface="Times New Roman"/>
                <a:cs typeface="Times New Roman"/>
              </a:rPr>
              <a:t>1</a:t>
            </a:r>
            <a:endParaRPr sz="675" baseline="24691">
              <a:latin typeface="Times New Roman"/>
              <a:cs typeface="Times New Roman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35764" y="887067"/>
            <a:ext cx="18542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00" spc="-25" dirty="0">
                <a:latin typeface="Times New Roman"/>
                <a:cs typeface="Times New Roman"/>
              </a:rPr>
              <a:t>10</a:t>
            </a:r>
            <a:r>
              <a:rPr sz="675" spc="-37" baseline="24691" dirty="0">
                <a:latin typeface="Times New Roman"/>
                <a:cs typeface="Times New Roman"/>
              </a:rPr>
              <a:t>2</a:t>
            </a:r>
            <a:endParaRPr sz="675" baseline="24691">
              <a:latin typeface="Times New Roman"/>
              <a:cs typeface="Times New Roman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395279" y="1025307"/>
            <a:ext cx="127635" cy="111442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00" dirty="0">
                <a:latin typeface="Times New Roman"/>
                <a:cs typeface="Times New Roman"/>
              </a:rPr>
              <a:t>Unlearning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time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(s,</a:t>
            </a:r>
            <a:r>
              <a:rPr sz="700" spc="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log</a:t>
            </a:r>
            <a:r>
              <a:rPr sz="700" spc="3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scale)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001530" y="766104"/>
            <a:ext cx="181991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dirty="0">
                <a:latin typeface="Times New Roman"/>
                <a:cs typeface="Times New Roman"/>
              </a:rPr>
              <a:t>Runtime</a:t>
            </a:r>
            <a:r>
              <a:rPr sz="750" b="1" spc="10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comparison</a:t>
            </a:r>
            <a:r>
              <a:rPr sz="750" b="1" spc="1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(unlearning</a:t>
            </a:r>
            <a:r>
              <a:rPr sz="750" b="1" spc="1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step</a:t>
            </a:r>
            <a:r>
              <a:rPr sz="750" b="1" spc="15" dirty="0">
                <a:latin typeface="Times New Roman"/>
                <a:cs typeface="Times New Roman"/>
              </a:rPr>
              <a:t> </a:t>
            </a:r>
            <a:r>
              <a:rPr sz="750" b="1" spc="-10" dirty="0">
                <a:latin typeface="Times New Roman"/>
                <a:cs typeface="Times New Roman"/>
              </a:rPr>
              <a:t>only)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579799" y="785209"/>
            <a:ext cx="1624330" cy="861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450" b="1" spc="-10" dirty="0">
                <a:solidFill>
                  <a:srgbClr val="C9A126"/>
                </a:solidFill>
                <a:latin typeface="Arial"/>
                <a:cs typeface="Arial"/>
              </a:rPr>
              <a:t>16.4</a:t>
            </a:r>
            <a:r>
              <a:rPr sz="2450" i="1" spc="-10" dirty="0">
                <a:solidFill>
                  <a:srgbClr val="C9A126"/>
                </a:solidFill>
                <a:latin typeface="Verdana"/>
                <a:cs typeface="Verdana"/>
              </a:rPr>
              <a:t>×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3703230" y="1543728"/>
            <a:ext cx="1377950" cy="499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faster</a:t>
            </a:r>
            <a:r>
              <a:rPr sz="10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than</a:t>
            </a:r>
            <a:r>
              <a:rPr sz="10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51515"/>
                </a:solidFill>
                <a:latin typeface="Arial"/>
                <a:cs typeface="Arial"/>
              </a:rPr>
              <a:t>retraining</a:t>
            </a:r>
            <a:endParaRPr sz="1000">
              <a:latin typeface="Arial"/>
              <a:cs typeface="Arial"/>
            </a:endParaRPr>
          </a:p>
          <a:p>
            <a:pPr marL="340360" marR="40640" indent="-293370">
              <a:lnSpc>
                <a:spcPts val="800"/>
              </a:lnSpc>
              <a:spcBef>
                <a:spcPts val="95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3.96</a:t>
            </a:r>
            <a:r>
              <a:rPr sz="700" spc="-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(EWP)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vs.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65.03</a:t>
            </a:r>
            <a:r>
              <a:rPr sz="700" spc="-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(oracle)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per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forget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request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Putting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49146" y="1725085"/>
            <a:ext cx="837565" cy="3175"/>
          </a:xfrm>
          <a:custGeom>
            <a:avLst/>
            <a:gdLst/>
            <a:ahLst/>
            <a:cxnLst/>
            <a:rect l="l" t="t" r="r" b="b"/>
            <a:pathLst>
              <a:path w="837564" h="3175">
                <a:moveTo>
                  <a:pt x="837325" y="1"/>
                </a:moveTo>
                <a:lnTo>
                  <a:pt x="0" y="0"/>
                </a:lnTo>
                <a:lnTo>
                  <a:pt x="0" y="2642"/>
                </a:lnTo>
                <a:lnTo>
                  <a:pt x="837325" y="2641"/>
                </a:lnTo>
                <a:lnTo>
                  <a:pt x="837325" y="1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61669" y="1680139"/>
            <a:ext cx="197485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10" dirty="0">
                <a:latin typeface="Times New Roman"/>
                <a:cs typeface="Times New Roman"/>
              </a:rPr>
              <a:t>Accuracy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71876" y="930328"/>
            <a:ext cx="935990" cy="796290"/>
          </a:xfrm>
          <a:custGeom>
            <a:avLst/>
            <a:gdLst/>
            <a:ahLst/>
            <a:cxnLst/>
            <a:rect l="l" t="t" r="r" b="b"/>
            <a:pathLst>
              <a:path w="935989" h="796289">
                <a:moveTo>
                  <a:pt x="677269" y="796078"/>
                </a:moveTo>
                <a:lnTo>
                  <a:pt x="935931" y="0"/>
                </a:lnTo>
              </a:path>
              <a:path w="935989" h="796289">
                <a:moveTo>
                  <a:pt x="677269" y="796078"/>
                </a:moveTo>
                <a:lnTo>
                  <a:pt x="0" y="304013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95757" y="1119562"/>
            <a:ext cx="432434" cy="129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05"/>
              </a:lnSpc>
              <a:spcBef>
                <a:spcPts val="100"/>
              </a:spcBef>
            </a:pPr>
            <a:r>
              <a:rPr sz="350" spc="-10" dirty="0">
                <a:latin typeface="Times New Roman"/>
                <a:cs typeface="Times New Roman"/>
              </a:rPr>
              <a:t>Privacy</a:t>
            </a:r>
            <a:endParaRPr sz="350">
              <a:latin typeface="Times New Roman"/>
              <a:cs typeface="Times New Roman"/>
            </a:endParaRPr>
          </a:p>
          <a:p>
            <a:pPr algn="ctr">
              <a:lnSpc>
                <a:spcPts val="405"/>
              </a:lnSpc>
            </a:pPr>
            <a:r>
              <a:rPr sz="350" dirty="0">
                <a:latin typeface="Times New Roman"/>
                <a:cs typeface="Times New Roman"/>
              </a:rPr>
              <a:t>(1-attack</a:t>
            </a:r>
            <a:r>
              <a:rPr sz="350" spc="-10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AUC</a:t>
            </a:r>
            <a:r>
              <a:rPr sz="350" spc="20" dirty="0">
                <a:latin typeface="Times New Roman"/>
                <a:cs typeface="Times New Roman"/>
              </a:rPr>
              <a:t> </a:t>
            </a:r>
            <a:r>
              <a:rPr sz="350" spc="-10" dirty="0">
                <a:latin typeface="Times New Roman"/>
                <a:cs typeface="Times New Roman"/>
              </a:rPr>
              <a:t>excess)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71876" y="1726406"/>
            <a:ext cx="677545" cy="492125"/>
          </a:xfrm>
          <a:custGeom>
            <a:avLst/>
            <a:gdLst/>
            <a:ahLst/>
            <a:cxnLst/>
            <a:rect l="l" t="t" r="r" b="b"/>
            <a:pathLst>
              <a:path w="677544" h="492125">
                <a:moveTo>
                  <a:pt x="677269" y="0"/>
                </a:moveTo>
                <a:lnTo>
                  <a:pt x="0" y="492065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0639" y="2190962"/>
            <a:ext cx="242570" cy="12953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53340">
              <a:lnSpc>
                <a:spcPts val="390"/>
              </a:lnSpc>
              <a:spcBef>
                <a:spcPts val="140"/>
              </a:spcBef>
            </a:pPr>
            <a:r>
              <a:rPr sz="350" spc="-10" dirty="0">
                <a:latin typeface="Times New Roman"/>
                <a:cs typeface="Times New Roman"/>
              </a:rPr>
              <a:t>Speed</a:t>
            </a:r>
            <a:r>
              <a:rPr sz="350" spc="500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(1/log-</a:t>
            </a:r>
            <a:r>
              <a:rPr sz="350" spc="-10" dirty="0">
                <a:latin typeface="Times New Roman"/>
                <a:cs typeface="Times New Roman"/>
              </a:rPr>
              <a:t>time)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49146" y="1726406"/>
            <a:ext cx="259079" cy="796290"/>
          </a:xfrm>
          <a:custGeom>
            <a:avLst/>
            <a:gdLst/>
            <a:ahLst/>
            <a:cxnLst/>
            <a:rect l="l" t="t" r="r" b="b"/>
            <a:pathLst>
              <a:path w="259080" h="796289">
                <a:moveTo>
                  <a:pt x="0" y="0"/>
                </a:moveTo>
                <a:lnTo>
                  <a:pt x="258661" y="796078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83343" y="2497133"/>
            <a:ext cx="295275" cy="179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065" marR="5080" indent="-635" algn="ctr">
              <a:lnSpc>
                <a:spcPts val="390"/>
              </a:lnSpc>
              <a:spcBef>
                <a:spcPts val="140"/>
              </a:spcBef>
            </a:pPr>
            <a:r>
              <a:rPr sz="350" spc="-10" dirty="0">
                <a:latin typeface="Times New Roman"/>
                <a:cs typeface="Times New Roman"/>
              </a:rPr>
              <a:t>Param.</a:t>
            </a:r>
            <a:r>
              <a:rPr sz="350" spc="500" dirty="0">
                <a:latin typeface="Times New Roman"/>
                <a:cs typeface="Times New Roman"/>
              </a:rPr>
              <a:t> </a:t>
            </a:r>
            <a:r>
              <a:rPr sz="350" spc="-10" dirty="0">
                <a:latin typeface="Times New Roman"/>
                <a:cs typeface="Times New Roman"/>
              </a:rPr>
              <a:t>proximity</a:t>
            </a:r>
            <a:r>
              <a:rPr sz="350" spc="500" dirty="0">
                <a:latin typeface="Times New Roman"/>
                <a:cs typeface="Times New Roman"/>
              </a:rPr>
              <a:t> </a:t>
            </a:r>
            <a:r>
              <a:rPr sz="350" dirty="0">
                <a:latin typeface="Times New Roman"/>
                <a:cs typeface="Times New Roman"/>
              </a:rPr>
              <a:t>(1/retrain</a:t>
            </a:r>
            <a:r>
              <a:rPr sz="350" spc="25" dirty="0">
                <a:latin typeface="Times New Roman"/>
                <a:cs typeface="Times New Roman"/>
              </a:rPr>
              <a:t> </a:t>
            </a:r>
            <a:r>
              <a:rPr sz="350" spc="-10" dirty="0">
                <a:latin typeface="Times New Roman"/>
                <a:cs typeface="Times New Roman"/>
              </a:rPr>
              <a:t>dist.)</a:t>
            </a:r>
            <a:endParaRPr sz="3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09243" y="886504"/>
            <a:ext cx="1680210" cy="1680210"/>
            <a:chOff x="1809243" y="886504"/>
            <a:chExt cx="1680210" cy="1680210"/>
          </a:xfrm>
        </p:grpSpPr>
        <p:sp>
          <p:nvSpPr>
            <p:cNvPr id="13" name="object 13"/>
            <p:cNvSpPr/>
            <p:nvPr/>
          </p:nvSpPr>
          <p:spPr>
            <a:xfrm>
              <a:off x="1846779" y="924039"/>
              <a:ext cx="1605280" cy="1605280"/>
            </a:xfrm>
            <a:custGeom>
              <a:avLst/>
              <a:gdLst/>
              <a:ahLst/>
              <a:cxnLst/>
              <a:rect l="l" t="t" r="r" b="b"/>
              <a:pathLst>
                <a:path w="1605279" h="1605280">
                  <a:moveTo>
                    <a:pt x="962840" y="802367"/>
                  </a:moveTo>
                  <a:lnTo>
                    <a:pt x="955935" y="755802"/>
                  </a:lnTo>
                  <a:lnTo>
                    <a:pt x="935795" y="713212"/>
                  </a:lnTo>
                  <a:lnTo>
                    <a:pt x="904155" y="678307"/>
                  </a:lnTo>
                  <a:lnTo>
                    <a:pt x="863777" y="654108"/>
                  </a:lnTo>
                  <a:lnTo>
                    <a:pt x="818114" y="642668"/>
                  </a:lnTo>
                  <a:lnTo>
                    <a:pt x="802367" y="641893"/>
                  </a:lnTo>
                  <a:lnTo>
                    <a:pt x="786619" y="642668"/>
                  </a:lnTo>
                  <a:lnTo>
                    <a:pt x="740956" y="654108"/>
                  </a:lnTo>
                  <a:lnTo>
                    <a:pt x="700578" y="678307"/>
                  </a:lnTo>
                  <a:lnTo>
                    <a:pt x="668938" y="713212"/>
                  </a:lnTo>
                  <a:lnTo>
                    <a:pt x="648798" y="755802"/>
                  </a:lnTo>
                  <a:lnTo>
                    <a:pt x="641893" y="802367"/>
                  </a:lnTo>
                  <a:lnTo>
                    <a:pt x="642668" y="818114"/>
                  </a:lnTo>
                  <a:lnTo>
                    <a:pt x="654108" y="863777"/>
                  </a:lnTo>
                  <a:lnTo>
                    <a:pt x="678307" y="904155"/>
                  </a:lnTo>
                  <a:lnTo>
                    <a:pt x="713212" y="935795"/>
                  </a:lnTo>
                  <a:lnTo>
                    <a:pt x="755802" y="955935"/>
                  </a:lnTo>
                  <a:lnTo>
                    <a:pt x="802367" y="962840"/>
                  </a:lnTo>
                  <a:lnTo>
                    <a:pt x="818114" y="962065"/>
                  </a:lnTo>
                  <a:lnTo>
                    <a:pt x="863777" y="950625"/>
                  </a:lnTo>
                  <a:lnTo>
                    <a:pt x="904155" y="926426"/>
                  </a:lnTo>
                  <a:lnTo>
                    <a:pt x="935795" y="891521"/>
                  </a:lnTo>
                  <a:lnTo>
                    <a:pt x="955935" y="848932"/>
                  </a:lnTo>
                  <a:lnTo>
                    <a:pt x="962840" y="802367"/>
                  </a:lnTo>
                </a:path>
                <a:path w="1605279" h="1605280">
                  <a:moveTo>
                    <a:pt x="1123313" y="802367"/>
                  </a:moveTo>
                  <a:lnTo>
                    <a:pt x="1117146" y="739753"/>
                  </a:lnTo>
                  <a:lnTo>
                    <a:pt x="1098883" y="679546"/>
                  </a:lnTo>
                  <a:lnTo>
                    <a:pt x="1069224" y="624058"/>
                  </a:lnTo>
                  <a:lnTo>
                    <a:pt x="1029310" y="575423"/>
                  </a:lnTo>
                  <a:lnTo>
                    <a:pt x="980675" y="535509"/>
                  </a:lnTo>
                  <a:lnTo>
                    <a:pt x="925188" y="505850"/>
                  </a:lnTo>
                  <a:lnTo>
                    <a:pt x="864980" y="487587"/>
                  </a:lnTo>
                  <a:lnTo>
                    <a:pt x="802367" y="481420"/>
                  </a:lnTo>
                  <a:lnTo>
                    <a:pt x="770871" y="482969"/>
                  </a:lnTo>
                  <a:lnTo>
                    <a:pt x="709236" y="495229"/>
                  </a:lnTo>
                  <a:lnTo>
                    <a:pt x="651040" y="519334"/>
                  </a:lnTo>
                  <a:lnTo>
                    <a:pt x="598789" y="554248"/>
                  </a:lnTo>
                  <a:lnTo>
                    <a:pt x="554248" y="598789"/>
                  </a:lnTo>
                  <a:lnTo>
                    <a:pt x="519334" y="651040"/>
                  </a:lnTo>
                  <a:lnTo>
                    <a:pt x="495229" y="709236"/>
                  </a:lnTo>
                  <a:lnTo>
                    <a:pt x="482969" y="770871"/>
                  </a:lnTo>
                  <a:lnTo>
                    <a:pt x="481420" y="802367"/>
                  </a:lnTo>
                  <a:lnTo>
                    <a:pt x="482969" y="833862"/>
                  </a:lnTo>
                  <a:lnTo>
                    <a:pt x="495229" y="895497"/>
                  </a:lnTo>
                  <a:lnTo>
                    <a:pt x="519334" y="953693"/>
                  </a:lnTo>
                  <a:lnTo>
                    <a:pt x="554248" y="1005944"/>
                  </a:lnTo>
                  <a:lnTo>
                    <a:pt x="598789" y="1050486"/>
                  </a:lnTo>
                  <a:lnTo>
                    <a:pt x="651040" y="1085399"/>
                  </a:lnTo>
                  <a:lnTo>
                    <a:pt x="709236" y="1109504"/>
                  </a:lnTo>
                  <a:lnTo>
                    <a:pt x="770871" y="1121764"/>
                  </a:lnTo>
                  <a:lnTo>
                    <a:pt x="802367" y="1123313"/>
                  </a:lnTo>
                  <a:lnTo>
                    <a:pt x="833862" y="1121764"/>
                  </a:lnTo>
                  <a:lnTo>
                    <a:pt x="895497" y="1109504"/>
                  </a:lnTo>
                  <a:lnTo>
                    <a:pt x="953693" y="1085399"/>
                  </a:lnTo>
                  <a:lnTo>
                    <a:pt x="1005944" y="1050486"/>
                  </a:lnTo>
                  <a:lnTo>
                    <a:pt x="1050486" y="1005944"/>
                  </a:lnTo>
                  <a:lnTo>
                    <a:pt x="1085399" y="953693"/>
                  </a:lnTo>
                  <a:lnTo>
                    <a:pt x="1109504" y="895497"/>
                  </a:lnTo>
                  <a:lnTo>
                    <a:pt x="1121764" y="833862"/>
                  </a:lnTo>
                  <a:lnTo>
                    <a:pt x="1123313" y="802367"/>
                  </a:lnTo>
                </a:path>
                <a:path w="1605279" h="1605280">
                  <a:moveTo>
                    <a:pt x="1283787" y="802367"/>
                  </a:moveTo>
                  <a:lnTo>
                    <a:pt x="1281463" y="755123"/>
                  </a:lnTo>
                  <a:lnTo>
                    <a:pt x="1274536" y="708446"/>
                  </a:lnTo>
                  <a:lnTo>
                    <a:pt x="1263073" y="662671"/>
                  </a:lnTo>
                  <a:lnTo>
                    <a:pt x="1247141" y="618135"/>
                  </a:lnTo>
                  <a:lnTo>
                    <a:pt x="1226915" y="575377"/>
                  </a:lnTo>
                  <a:lnTo>
                    <a:pt x="1202653" y="534904"/>
                  </a:lnTo>
                  <a:lnTo>
                    <a:pt x="1174545" y="497000"/>
                  </a:lnTo>
                  <a:lnTo>
                    <a:pt x="1142782" y="461951"/>
                  </a:lnTo>
                  <a:lnTo>
                    <a:pt x="1107733" y="430188"/>
                  </a:lnTo>
                  <a:lnTo>
                    <a:pt x="1069829" y="402080"/>
                  </a:lnTo>
                  <a:lnTo>
                    <a:pt x="1029356" y="377818"/>
                  </a:lnTo>
                  <a:lnTo>
                    <a:pt x="986598" y="357592"/>
                  </a:lnTo>
                  <a:lnTo>
                    <a:pt x="942062" y="341660"/>
                  </a:lnTo>
                  <a:lnTo>
                    <a:pt x="896287" y="330197"/>
                  </a:lnTo>
                  <a:lnTo>
                    <a:pt x="849610" y="323270"/>
                  </a:lnTo>
                  <a:lnTo>
                    <a:pt x="802367" y="320946"/>
                  </a:lnTo>
                  <a:lnTo>
                    <a:pt x="755123" y="323270"/>
                  </a:lnTo>
                  <a:lnTo>
                    <a:pt x="708446" y="330197"/>
                  </a:lnTo>
                  <a:lnTo>
                    <a:pt x="662671" y="341660"/>
                  </a:lnTo>
                  <a:lnTo>
                    <a:pt x="618135" y="357592"/>
                  </a:lnTo>
                  <a:lnTo>
                    <a:pt x="575377" y="377818"/>
                  </a:lnTo>
                  <a:lnTo>
                    <a:pt x="534904" y="402080"/>
                  </a:lnTo>
                  <a:lnTo>
                    <a:pt x="497000" y="430188"/>
                  </a:lnTo>
                  <a:lnTo>
                    <a:pt x="461951" y="461951"/>
                  </a:lnTo>
                  <a:lnTo>
                    <a:pt x="430188" y="497000"/>
                  </a:lnTo>
                  <a:lnTo>
                    <a:pt x="402080" y="534904"/>
                  </a:lnTo>
                  <a:lnTo>
                    <a:pt x="377818" y="575377"/>
                  </a:lnTo>
                  <a:lnTo>
                    <a:pt x="357592" y="618135"/>
                  </a:lnTo>
                  <a:lnTo>
                    <a:pt x="341660" y="662671"/>
                  </a:lnTo>
                  <a:lnTo>
                    <a:pt x="330197" y="708446"/>
                  </a:lnTo>
                  <a:lnTo>
                    <a:pt x="323270" y="755123"/>
                  </a:lnTo>
                  <a:lnTo>
                    <a:pt x="320946" y="802367"/>
                  </a:lnTo>
                  <a:lnTo>
                    <a:pt x="323270" y="849610"/>
                  </a:lnTo>
                  <a:lnTo>
                    <a:pt x="330197" y="896287"/>
                  </a:lnTo>
                  <a:lnTo>
                    <a:pt x="341660" y="942062"/>
                  </a:lnTo>
                  <a:lnTo>
                    <a:pt x="357592" y="986598"/>
                  </a:lnTo>
                  <a:lnTo>
                    <a:pt x="377818" y="1029356"/>
                  </a:lnTo>
                  <a:lnTo>
                    <a:pt x="402080" y="1069829"/>
                  </a:lnTo>
                  <a:lnTo>
                    <a:pt x="430188" y="1107733"/>
                  </a:lnTo>
                  <a:lnTo>
                    <a:pt x="461951" y="1142782"/>
                  </a:lnTo>
                  <a:lnTo>
                    <a:pt x="497000" y="1174545"/>
                  </a:lnTo>
                  <a:lnTo>
                    <a:pt x="534904" y="1202653"/>
                  </a:lnTo>
                  <a:lnTo>
                    <a:pt x="575377" y="1226915"/>
                  </a:lnTo>
                  <a:lnTo>
                    <a:pt x="618135" y="1247141"/>
                  </a:lnTo>
                  <a:lnTo>
                    <a:pt x="662671" y="1263073"/>
                  </a:lnTo>
                  <a:lnTo>
                    <a:pt x="708446" y="1274536"/>
                  </a:lnTo>
                  <a:lnTo>
                    <a:pt x="755123" y="1281463"/>
                  </a:lnTo>
                  <a:lnTo>
                    <a:pt x="802367" y="1283787"/>
                  </a:lnTo>
                  <a:lnTo>
                    <a:pt x="849610" y="1281463"/>
                  </a:lnTo>
                  <a:lnTo>
                    <a:pt x="896287" y="1274536"/>
                  </a:lnTo>
                  <a:lnTo>
                    <a:pt x="942062" y="1263073"/>
                  </a:lnTo>
                  <a:lnTo>
                    <a:pt x="986598" y="1247141"/>
                  </a:lnTo>
                  <a:lnTo>
                    <a:pt x="1029356" y="1226915"/>
                  </a:lnTo>
                  <a:lnTo>
                    <a:pt x="1069829" y="1202653"/>
                  </a:lnTo>
                  <a:lnTo>
                    <a:pt x="1107733" y="1174545"/>
                  </a:lnTo>
                  <a:lnTo>
                    <a:pt x="1142782" y="1142782"/>
                  </a:lnTo>
                  <a:lnTo>
                    <a:pt x="1174545" y="1107733"/>
                  </a:lnTo>
                  <a:lnTo>
                    <a:pt x="1202653" y="1069829"/>
                  </a:lnTo>
                  <a:lnTo>
                    <a:pt x="1226915" y="1029356"/>
                  </a:lnTo>
                  <a:lnTo>
                    <a:pt x="1247141" y="986598"/>
                  </a:lnTo>
                  <a:lnTo>
                    <a:pt x="1263073" y="942062"/>
                  </a:lnTo>
                  <a:lnTo>
                    <a:pt x="1274536" y="896287"/>
                  </a:lnTo>
                  <a:lnTo>
                    <a:pt x="1281463" y="849610"/>
                  </a:lnTo>
                  <a:lnTo>
                    <a:pt x="1283787" y="802367"/>
                  </a:lnTo>
                </a:path>
                <a:path w="1605279" h="1605280">
                  <a:moveTo>
                    <a:pt x="1444260" y="802367"/>
                  </a:moveTo>
                  <a:lnTo>
                    <a:pt x="1442275" y="751927"/>
                  </a:lnTo>
                  <a:lnTo>
                    <a:pt x="1436351" y="701914"/>
                  </a:lnTo>
                  <a:lnTo>
                    <a:pt x="1426533" y="652557"/>
                  </a:lnTo>
                  <a:lnTo>
                    <a:pt x="1412867" y="604084"/>
                  </a:lnTo>
                  <a:lnTo>
                    <a:pt x="1395399" y="556724"/>
                  </a:lnTo>
                  <a:lnTo>
                    <a:pt x="1374263" y="510884"/>
                  </a:lnTo>
                  <a:lnTo>
                    <a:pt x="1349651" y="466946"/>
                  </a:lnTo>
                  <a:lnTo>
                    <a:pt x="1321692" y="425102"/>
                  </a:lnTo>
                  <a:lnTo>
                    <a:pt x="1290516" y="385548"/>
                  </a:lnTo>
                  <a:lnTo>
                    <a:pt x="1256254" y="348479"/>
                  </a:lnTo>
                  <a:lnTo>
                    <a:pt x="1219185" y="314217"/>
                  </a:lnTo>
                  <a:lnTo>
                    <a:pt x="1179631" y="283041"/>
                  </a:lnTo>
                  <a:lnTo>
                    <a:pt x="1137788" y="255082"/>
                  </a:lnTo>
                  <a:lnTo>
                    <a:pt x="1093849" y="230470"/>
                  </a:lnTo>
                  <a:lnTo>
                    <a:pt x="1048009" y="209334"/>
                  </a:lnTo>
                  <a:lnTo>
                    <a:pt x="1000649" y="191866"/>
                  </a:lnTo>
                  <a:lnTo>
                    <a:pt x="952176" y="178200"/>
                  </a:lnTo>
                  <a:lnTo>
                    <a:pt x="902819" y="168382"/>
                  </a:lnTo>
                  <a:lnTo>
                    <a:pt x="852806" y="162458"/>
                  </a:lnTo>
                  <a:lnTo>
                    <a:pt x="802367" y="160473"/>
                  </a:lnTo>
                  <a:lnTo>
                    <a:pt x="751927" y="162458"/>
                  </a:lnTo>
                  <a:lnTo>
                    <a:pt x="701914" y="168382"/>
                  </a:lnTo>
                  <a:lnTo>
                    <a:pt x="652557" y="178200"/>
                  </a:lnTo>
                  <a:lnTo>
                    <a:pt x="604084" y="191866"/>
                  </a:lnTo>
                  <a:lnTo>
                    <a:pt x="556724" y="209334"/>
                  </a:lnTo>
                  <a:lnTo>
                    <a:pt x="510884" y="230470"/>
                  </a:lnTo>
                  <a:lnTo>
                    <a:pt x="466946" y="255082"/>
                  </a:lnTo>
                  <a:lnTo>
                    <a:pt x="425102" y="283041"/>
                  </a:lnTo>
                  <a:lnTo>
                    <a:pt x="385548" y="314217"/>
                  </a:lnTo>
                  <a:lnTo>
                    <a:pt x="348479" y="348479"/>
                  </a:lnTo>
                  <a:lnTo>
                    <a:pt x="314217" y="385548"/>
                  </a:lnTo>
                  <a:lnTo>
                    <a:pt x="283041" y="425102"/>
                  </a:lnTo>
                  <a:lnTo>
                    <a:pt x="255082" y="466946"/>
                  </a:lnTo>
                  <a:lnTo>
                    <a:pt x="230470" y="510884"/>
                  </a:lnTo>
                  <a:lnTo>
                    <a:pt x="209334" y="556724"/>
                  </a:lnTo>
                  <a:lnTo>
                    <a:pt x="191866" y="604084"/>
                  </a:lnTo>
                  <a:lnTo>
                    <a:pt x="178200" y="652557"/>
                  </a:lnTo>
                  <a:lnTo>
                    <a:pt x="168382" y="701914"/>
                  </a:lnTo>
                  <a:lnTo>
                    <a:pt x="162458" y="751927"/>
                  </a:lnTo>
                  <a:lnTo>
                    <a:pt x="160473" y="802367"/>
                  </a:lnTo>
                  <a:lnTo>
                    <a:pt x="162458" y="852806"/>
                  </a:lnTo>
                  <a:lnTo>
                    <a:pt x="168382" y="902819"/>
                  </a:lnTo>
                  <a:lnTo>
                    <a:pt x="178200" y="952176"/>
                  </a:lnTo>
                  <a:lnTo>
                    <a:pt x="191866" y="1000649"/>
                  </a:lnTo>
                  <a:lnTo>
                    <a:pt x="209334" y="1048009"/>
                  </a:lnTo>
                  <a:lnTo>
                    <a:pt x="230470" y="1093849"/>
                  </a:lnTo>
                  <a:lnTo>
                    <a:pt x="255082" y="1137788"/>
                  </a:lnTo>
                  <a:lnTo>
                    <a:pt x="283041" y="1179631"/>
                  </a:lnTo>
                  <a:lnTo>
                    <a:pt x="314217" y="1219185"/>
                  </a:lnTo>
                  <a:lnTo>
                    <a:pt x="348479" y="1256254"/>
                  </a:lnTo>
                  <a:lnTo>
                    <a:pt x="385548" y="1290516"/>
                  </a:lnTo>
                  <a:lnTo>
                    <a:pt x="425102" y="1321692"/>
                  </a:lnTo>
                  <a:lnTo>
                    <a:pt x="466946" y="1349651"/>
                  </a:lnTo>
                  <a:lnTo>
                    <a:pt x="510884" y="1374263"/>
                  </a:lnTo>
                  <a:lnTo>
                    <a:pt x="556724" y="1395399"/>
                  </a:lnTo>
                  <a:lnTo>
                    <a:pt x="604084" y="1412867"/>
                  </a:lnTo>
                  <a:lnTo>
                    <a:pt x="652557" y="1426533"/>
                  </a:lnTo>
                  <a:lnTo>
                    <a:pt x="701914" y="1436351"/>
                  </a:lnTo>
                  <a:lnTo>
                    <a:pt x="751927" y="1442275"/>
                  </a:lnTo>
                  <a:lnTo>
                    <a:pt x="802367" y="1444260"/>
                  </a:lnTo>
                  <a:lnTo>
                    <a:pt x="852806" y="1442275"/>
                  </a:lnTo>
                  <a:lnTo>
                    <a:pt x="902819" y="1436351"/>
                  </a:lnTo>
                  <a:lnTo>
                    <a:pt x="952176" y="1426533"/>
                  </a:lnTo>
                  <a:lnTo>
                    <a:pt x="1000649" y="1412867"/>
                  </a:lnTo>
                  <a:lnTo>
                    <a:pt x="1048009" y="1395399"/>
                  </a:lnTo>
                  <a:lnTo>
                    <a:pt x="1093849" y="1374263"/>
                  </a:lnTo>
                  <a:lnTo>
                    <a:pt x="1137788" y="1349651"/>
                  </a:lnTo>
                  <a:lnTo>
                    <a:pt x="1179631" y="1321692"/>
                  </a:lnTo>
                  <a:lnTo>
                    <a:pt x="1219185" y="1290516"/>
                  </a:lnTo>
                  <a:lnTo>
                    <a:pt x="1256254" y="1256254"/>
                  </a:lnTo>
                  <a:lnTo>
                    <a:pt x="1290516" y="1219185"/>
                  </a:lnTo>
                  <a:lnTo>
                    <a:pt x="1321692" y="1179631"/>
                  </a:lnTo>
                  <a:lnTo>
                    <a:pt x="1349651" y="1137788"/>
                  </a:lnTo>
                  <a:lnTo>
                    <a:pt x="1374263" y="1093849"/>
                  </a:lnTo>
                  <a:lnTo>
                    <a:pt x="1395399" y="1048009"/>
                  </a:lnTo>
                  <a:lnTo>
                    <a:pt x="1412867" y="1000649"/>
                  </a:lnTo>
                  <a:lnTo>
                    <a:pt x="1426533" y="952176"/>
                  </a:lnTo>
                  <a:lnTo>
                    <a:pt x="1436351" y="902819"/>
                  </a:lnTo>
                  <a:lnTo>
                    <a:pt x="1442275" y="852806"/>
                  </a:lnTo>
                  <a:lnTo>
                    <a:pt x="1444260" y="802367"/>
                  </a:lnTo>
                </a:path>
                <a:path w="1605279" h="1605280">
                  <a:moveTo>
                    <a:pt x="1604734" y="802367"/>
                  </a:moveTo>
                  <a:lnTo>
                    <a:pt x="1603010" y="749797"/>
                  </a:lnTo>
                  <a:lnTo>
                    <a:pt x="1597859" y="697563"/>
                  </a:lnTo>
                  <a:lnTo>
                    <a:pt x="1589316" y="645833"/>
                  </a:lnTo>
                  <a:lnTo>
                    <a:pt x="1577412" y="594770"/>
                  </a:lnTo>
                  <a:lnTo>
                    <a:pt x="1562182" y="544542"/>
                  </a:lnTo>
                  <a:lnTo>
                    <a:pt x="1543657" y="495314"/>
                  </a:lnTo>
                  <a:lnTo>
                    <a:pt x="1521947" y="447405"/>
                  </a:lnTo>
                  <a:lnTo>
                    <a:pt x="1497200" y="401119"/>
                  </a:lnTo>
                  <a:lnTo>
                    <a:pt x="1469510" y="356595"/>
                  </a:lnTo>
                  <a:lnTo>
                    <a:pt x="1438972" y="313975"/>
                  </a:lnTo>
                  <a:lnTo>
                    <a:pt x="1405679" y="273399"/>
                  </a:lnTo>
                  <a:lnTo>
                    <a:pt x="1369726" y="235007"/>
                  </a:lnTo>
                  <a:lnTo>
                    <a:pt x="1331334" y="199054"/>
                  </a:lnTo>
                  <a:lnTo>
                    <a:pt x="1290758" y="165761"/>
                  </a:lnTo>
                  <a:lnTo>
                    <a:pt x="1248138" y="135223"/>
                  </a:lnTo>
                  <a:lnTo>
                    <a:pt x="1203614" y="107533"/>
                  </a:lnTo>
                  <a:lnTo>
                    <a:pt x="1157328" y="82787"/>
                  </a:lnTo>
                  <a:lnTo>
                    <a:pt x="1109419" y="61076"/>
                  </a:lnTo>
                  <a:lnTo>
                    <a:pt x="1060191" y="42551"/>
                  </a:lnTo>
                  <a:lnTo>
                    <a:pt x="1009963" y="27321"/>
                  </a:lnTo>
                  <a:lnTo>
                    <a:pt x="958901" y="15417"/>
                  </a:lnTo>
                  <a:lnTo>
                    <a:pt x="907170" y="6874"/>
                  </a:lnTo>
                  <a:lnTo>
                    <a:pt x="854936" y="1724"/>
                  </a:lnTo>
                  <a:lnTo>
                    <a:pt x="802367" y="0"/>
                  </a:lnTo>
                  <a:lnTo>
                    <a:pt x="749797" y="1724"/>
                  </a:lnTo>
                  <a:lnTo>
                    <a:pt x="697563" y="6874"/>
                  </a:lnTo>
                  <a:lnTo>
                    <a:pt x="645833" y="15417"/>
                  </a:lnTo>
                  <a:lnTo>
                    <a:pt x="594770" y="27321"/>
                  </a:lnTo>
                  <a:lnTo>
                    <a:pt x="544542" y="42551"/>
                  </a:lnTo>
                  <a:lnTo>
                    <a:pt x="495314" y="61076"/>
                  </a:lnTo>
                  <a:lnTo>
                    <a:pt x="447405" y="82787"/>
                  </a:lnTo>
                  <a:lnTo>
                    <a:pt x="401119" y="107533"/>
                  </a:lnTo>
                  <a:lnTo>
                    <a:pt x="356595" y="135223"/>
                  </a:lnTo>
                  <a:lnTo>
                    <a:pt x="313975" y="165761"/>
                  </a:lnTo>
                  <a:lnTo>
                    <a:pt x="273399" y="199054"/>
                  </a:lnTo>
                  <a:lnTo>
                    <a:pt x="235007" y="235007"/>
                  </a:lnTo>
                  <a:lnTo>
                    <a:pt x="199054" y="273399"/>
                  </a:lnTo>
                  <a:lnTo>
                    <a:pt x="165761" y="313975"/>
                  </a:lnTo>
                  <a:lnTo>
                    <a:pt x="135223" y="356595"/>
                  </a:lnTo>
                  <a:lnTo>
                    <a:pt x="107533" y="401119"/>
                  </a:lnTo>
                  <a:lnTo>
                    <a:pt x="82787" y="447405"/>
                  </a:lnTo>
                  <a:lnTo>
                    <a:pt x="61076" y="495314"/>
                  </a:lnTo>
                  <a:lnTo>
                    <a:pt x="42551" y="544542"/>
                  </a:lnTo>
                  <a:lnTo>
                    <a:pt x="27321" y="594770"/>
                  </a:lnTo>
                  <a:lnTo>
                    <a:pt x="15417" y="645833"/>
                  </a:lnTo>
                  <a:lnTo>
                    <a:pt x="6874" y="697563"/>
                  </a:lnTo>
                  <a:lnTo>
                    <a:pt x="1724" y="749797"/>
                  </a:lnTo>
                  <a:lnTo>
                    <a:pt x="0" y="802367"/>
                  </a:lnTo>
                  <a:lnTo>
                    <a:pt x="1724" y="854936"/>
                  </a:lnTo>
                  <a:lnTo>
                    <a:pt x="6874" y="907170"/>
                  </a:lnTo>
                  <a:lnTo>
                    <a:pt x="15417" y="958901"/>
                  </a:lnTo>
                  <a:lnTo>
                    <a:pt x="27321" y="1009963"/>
                  </a:lnTo>
                  <a:lnTo>
                    <a:pt x="42551" y="1060191"/>
                  </a:lnTo>
                  <a:lnTo>
                    <a:pt x="61076" y="1109419"/>
                  </a:lnTo>
                  <a:lnTo>
                    <a:pt x="82787" y="1157328"/>
                  </a:lnTo>
                  <a:lnTo>
                    <a:pt x="107533" y="1203614"/>
                  </a:lnTo>
                  <a:lnTo>
                    <a:pt x="135223" y="1248138"/>
                  </a:lnTo>
                  <a:lnTo>
                    <a:pt x="165761" y="1290758"/>
                  </a:lnTo>
                  <a:lnTo>
                    <a:pt x="199054" y="1331334"/>
                  </a:lnTo>
                  <a:lnTo>
                    <a:pt x="235007" y="1369726"/>
                  </a:lnTo>
                  <a:lnTo>
                    <a:pt x="273399" y="1405679"/>
                  </a:lnTo>
                  <a:lnTo>
                    <a:pt x="313975" y="1438972"/>
                  </a:lnTo>
                  <a:lnTo>
                    <a:pt x="356595" y="1469510"/>
                  </a:lnTo>
                  <a:lnTo>
                    <a:pt x="401119" y="1497200"/>
                  </a:lnTo>
                  <a:lnTo>
                    <a:pt x="447405" y="1521947"/>
                  </a:lnTo>
                  <a:lnTo>
                    <a:pt x="495314" y="1543657"/>
                  </a:lnTo>
                  <a:lnTo>
                    <a:pt x="544542" y="1562182"/>
                  </a:lnTo>
                  <a:lnTo>
                    <a:pt x="594770" y="1577412"/>
                  </a:lnTo>
                  <a:lnTo>
                    <a:pt x="645833" y="1589316"/>
                  </a:lnTo>
                  <a:lnTo>
                    <a:pt x="697563" y="1597859"/>
                  </a:lnTo>
                  <a:lnTo>
                    <a:pt x="749797" y="1603010"/>
                  </a:lnTo>
                  <a:lnTo>
                    <a:pt x="802367" y="1604734"/>
                  </a:lnTo>
                  <a:lnTo>
                    <a:pt x="854936" y="1603010"/>
                  </a:lnTo>
                  <a:lnTo>
                    <a:pt x="907170" y="1597859"/>
                  </a:lnTo>
                  <a:lnTo>
                    <a:pt x="958901" y="1589316"/>
                  </a:lnTo>
                  <a:lnTo>
                    <a:pt x="1009963" y="1577412"/>
                  </a:lnTo>
                  <a:lnTo>
                    <a:pt x="1060191" y="1562182"/>
                  </a:lnTo>
                  <a:lnTo>
                    <a:pt x="1109419" y="1543657"/>
                  </a:lnTo>
                  <a:lnTo>
                    <a:pt x="1157328" y="1521947"/>
                  </a:lnTo>
                  <a:lnTo>
                    <a:pt x="1203614" y="1497200"/>
                  </a:lnTo>
                  <a:lnTo>
                    <a:pt x="1248138" y="1469510"/>
                  </a:lnTo>
                  <a:lnTo>
                    <a:pt x="1290758" y="1438972"/>
                  </a:lnTo>
                  <a:lnTo>
                    <a:pt x="1331334" y="1405679"/>
                  </a:lnTo>
                  <a:lnTo>
                    <a:pt x="1369726" y="1369726"/>
                  </a:lnTo>
                  <a:lnTo>
                    <a:pt x="1405679" y="1331334"/>
                  </a:lnTo>
                  <a:lnTo>
                    <a:pt x="1438972" y="1290758"/>
                  </a:lnTo>
                  <a:lnTo>
                    <a:pt x="1469510" y="1248138"/>
                  </a:lnTo>
                  <a:lnTo>
                    <a:pt x="1497200" y="1203614"/>
                  </a:lnTo>
                  <a:lnTo>
                    <a:pt x="1521947" y="1157328"/>
                  </a:lnTo>
                  <a:lnTo>
                    <a:pt x="1543657" y="1109419"/>
                  </a:lnTo>
                  <a:lnTo>
                    <a:pt x="1562182" y="1060191"/>
                  </a:lnTo>
                  <a:lnTo>
                    <a:pt x="1577412" y="1009963"/>
                  </a:lnTo>
                  <a:lnTo>
                    <a:pt x="1589316" y="958901"/>
                  </a:lnTo>
                  <a:lnTo>
                    <a:pt x="1597859" y="907170"/>
                  </a:lnTo>
                  <a:lnTo>
                    <a:pt x="1603010" y="854936"/>
                  </a:lnTo>
                  <a:lnTo>
                    <a:pt x="1604734" y="802367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0299" y="1160145"/>
              <a:ext cx="1029335" cy="1038225"/>
            </a:xfrm>
            <a:custGeom>
              <a:avLst/>
              <a:gdLst/>
              <a:ahLst/>
              <a:cxnLst/>
              <a:rect l="l" t="t" r="r" b="b"/>
              <a:pathLst>
                <a:path w="1029335" h="1038225">
                  <a:moveTo>
                    <a:pt x="832836" y="0"/>
                  </a:moveTo>
                  <a:lnTo>
                    <a:pt x="167156" y="216292"/>
                  </a:lnTo>
                  <a:lnTo>
                    <a:pt x="0" y="1037676"/>
                  </a:lnTo>
                  <a:lnTo>
                    <a:pt x="680506" y="663700"/>
                  </a:lnTo>
                  <a:lnTo>
                    <a:pt x="1029228" y="566261"/>
                  </a:lnTo>
                  <a:lnTo>
                    <a:pt x="832836" y="0"/>
                  </a:lnTo>
                  <a:close/>
                </a:path>
              </a:pathLst>
            </a:custGeom>
            <a:solidFill>
              <a:srgbClr val="9D9D9D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00299" y="1160145"/>
              <a:ext cx="1029335" cy="1038225"/>
            </a:xfrm>
            <a:custGeom>
              <a:avLst/>
              <a:gdLst/>
              <a:ahLst/>
              <a:cxnLst/>
              <a:rect l="l" t="t" r="r" b="b"/>
              <a:pathLst>
                <a:path w="1029335" h="1038225">
                  <a:moveTo>
                    <a:pt x="1029228" y="566261"/>
                  </a:moveTo>
                  <a:lnTo>
                    <a:pt x="832836" y="0"/>
                  </a:lnTo>
                  <a:lnTo>
                    <a:pt x="167156" y="216292"/>
                  </a:lnTo>
                  <a:lnTo>
                    <a:pt x="0" y="1037676"/>
                  </a:lnTo>
                  <a:lnTo>
                    <a:pt x="680506" y="663700"/>
                  </a:lnTo>
                  <a:lnTo>
                    <a:pt x="1029228" y="566261"/>
                  </a:lnTo>
                </a:path>
              </a:pathLst>
            </a:custGeom>
            <a:ln w="5284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00299" y="1041957"/>
              <a:ext cx="1023619" cy="1156335"/>
            </a:xfrm>
            <a:custGeom>
              <a:avLst/>
              <a:gdLst/>
              <a:ahLst/>
              <a:cxnLst/>
              <a:rect l="l" t="t" r="r" b="b"/>
              <a:pathLst>
                <a:path w="1023619" h="1156335">
                  <a:moveTo>
                    <a:pt x="871237" y="0"/>
                  </a:moveTo>
                  <a:lnTo>
                    <a:pt x="66619" y="261436"/>
                  </a:lnTo>
                  <a:lnTo>
                    <a:pt x="0" y="1155863"/>
                  </a:lnTo>
                  <a:lnTo>
                    <a:pt x="689741" y="810310"/>
                  </a:lnTo>
                  <a:lnTo>
                    <a:pt x="1023284" y="684448"/>
                  </a:lnTo>
                  <a:lnTo>
                    <a:pt x="871237" y="0"/>
                  </a:lnTo>
                  <a:close/>
                </a:path>
              </a:pathLst>
            </a:custGeom>
            <a:solidFill>
              <a:srgbClr val="4C71AF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0299" y="1041957"/>
              <a:ext cx="1023619" cy="1156335"/>
            </a:xfrm>
            <a:custGeom>
              <a:avLst/>
              <a:gdLst/>
              <a:ahLst/>
              <a:cxnLst/>
              <a:rect l="l" t="t" r="r" b="b"/>
              <a:pathLst>
                <a:path w="1023619" h="1156335">
                  <a:moveTo>
                    <a:pt x="1023284" y="684448"/>
                  </a:moveTo>
                  <a:lnTo>
                    <a:pt x="871237" y="0"/>
                  </a:lnTo>
                  <a:lnTo>
                    <a:pt x="66619" y="261436"/>
                  </a:lnTo>
                  <a:lnTo>
                    <a:pt x="0" y="1155863"/>
                  </a:lnTo>
                  <a:lnTo>
                    <a:pt x="689741" y="810310"/>
                  </a:lnTo>
                  <a:lnTo>
                    <a:pt x="1023284" y="684448"/>
                  </a:lnTo>
                </a:path>
              </a:pathLst>
            </a:custGeom>
            <a:ln w="5284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0299" y="1072942"/>
              <a:ext cx="968375" cy="1125220"/>
            </a:xfrm>
            <a:custGeom>
              <a:avLst/>
              <a:gdLst/>
              <a:ahLst/>
              <a:cxnLst/>
              <a:rect l="l" t="t" r="r" b="b"/>
              <a:pathLst>
                <a:path w="968375" h="1125220">
                  <a:moveTo>
                    <a:pt x="861170" y="0"/>
                  </a:moveTo>
                  <a:lnTo>
                    <a:pt x="18773" y="195689"/>
                  </a:lnTo>
                  <a:lnTo>
                    <a:pt x="0" y="1124879"/>
                  </a:lnTo>
                  <a:lnTo>
                    <a:pt x="683111" y="758920"/>
                  </a:lnTo>
                  <a:lnTo>
                    <a:pt x="968307" y="653464"/>
                  </a:lnTo>
                  <a:lnTo>
                    <a:pt x="861170" y="0"/>
                  </a:lnTo>
                  <a:close/>
                </a:path>
              </a:pathLst>
            </a:custGeom>
            <a:solidFill>
              <a:srgbClr val="DD835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00299" y="1072942"/>
              <a:ext cx="968375" cy="1125220"/>
            </a:xfrm>
            <a:custGeom>
              <a:avLst/>
              <a:gdLst/>
              <a:ahLst/>
              <a:cxnLst/>
              <a:rect l="l" t="t" r="r" b="b"/>
              <a:pathLst>
                <a:path w="968375" h="1125220">
                  <a:moveTo>
                    <a:pt x="968307" y="653464"/>
                  </a:moveTo>
                  <a:lnTo>
                    <a:pt x="861170" y="0"/>
                  </a:lnTo>
                  <a:lnTo>
                    <a:pt x="18773" y="195689"/>
                  </a:lnTo>
                  <a:lnTo>
                    <a:pt x="0" y="1124879"/>
                  </a:lnTo>
                  <a:lnTo>
                    <a:pt x="683111" y="758920"/>
                  </a:lnTo>
                  <a:lnTo>
                    <a:pt x="968307" y="653464"/>
                  </a:lnTo>
                </a:path>
              </a:pathLst>
            </a:custGeom>
            <a:ln w="5284">
              <a:solidFill>
                <a:srgbClr val="DD83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00017" y="1096306"/>
              <a:ext cx="1343025" cy="847090"/>
            </a:xfrm>
            <a:custGeom>
              <a:avLst/>
              <a:gdLst/>
              <a:ahLst/>
              <a:cxnLst/>
              <a:rect l="l" t="t" r="r" b="b"/>
              <a:pathLst>
                <a:path w="1343025" h="847089">
                  <a:moveTo>
                    <a:pt x="853860" y="0"/>
                  </a:moveTo>
                  <a:lnTo>
                    <a:pt x="0" y="158481"/>
                  </a:lnTo>
                  <a:lnTo>
                    <a:pt x="350957" y="846734"/>
                  </a:lnTo>
                  <a:lnTo>
                    <a:pt x="696701" y="776516"/>
                  </a:lnTo>
                  <a:lnTo>
                    <a:pt x="1343027" y="630100"/>
                  </a:lnTo>
                  <a:lnTo>
                    <a:pt x="853860" y="0"/>
                  </a:lnTo>
                  <a:close/>
                </a:path>
              </a:pathLst>
            </a:custGeom>
            <a:solidFill>
              <a:srgbClr val="54A768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00017" y="1096306"/>
              <a:ext cx="1343025" cy="847090"/>
            </a:xfrm>
            <a:custGeom>
              <a:avLst/>
              <a:gdLst/>
              <a:ahLst/>
              <a:cxnLst/>
              <a:rect l="l" t="t" r="r" b="b"/>
              <a:pathLst>
                <a:path w="1343025" h="847089">
                  <a:moveTo>
                    <a:pt x="1343027" y="630100"/>
                  </a:moveTo>
                  <a:lnTo>
                    <a:pt x="853860" y="0"/>
                  </a:lnTo>
                  <a:lnTo>
                    <a:pt x="0" y="158481"/>
                  </a:lnTo>
                  <a:lnTo>
                    <a:pt x="350957" y="846734"/>
                  </a:lnTo>
                  <a:lnTo>
                    <a:pt x="696701" y="776516"/>
                  </a:lnTo>
                  <a:lnTo>
                    <a:pt x="1343027" y="630100"/>
                  </a:lnTo>
                </a:path>
              </a:pathLst>
            </a:custGeom>
            <a:ln w="5284">
              <a:solidFill>
                <a:srgbClr val="54A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00017" y="1119056"/>
              <a:ext cx="1287145" cy="1370965"/>
            </a:xfrm>
            <a:custGeom>
              <a:avLst/>
              <a:gdLst/>
              <a:ahLst/>
              <a:cxnLst/>
              <a:rect l="l" t="t" r="r" b="b"/>
              <a:pathLst>
                <a:path w="1287145" h="1370964">
                  <a:moveTo>
                    <a:pt x="846468" y="0"/>
                  </a:moveTo>
                  <a:lnTo>
                    <a:pt x="0" y="135731"/>
                  </a:lnTo>
                  <a:lnTo>
                    <a:pt x="418919" y="774607"/>
                  </a:lnTo>
                  <a:lnTo>
                    <a:pt x="897073" y="1370447"/>
                  </a:lnTo>
                  <a:lnTo>
                    <a:pt x="1286564" y="607350"/>
                  </a:lnTo>
                  <a:lnTo>
                    <a:pt x="846468" y="0"/>
                  </a:lnTo>
                  <a:close/>
                </a:path>
              </a:pathLst>
            </a:custGeom>
            <a:solidFill>
              <a:srgbClr val="8071B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00017" y="1119056"/>
              <a:ext cx="1287145" cy="1370965"/>
            </a:xfrm>
            <a:custGeom>
              <a:avLst/>
              <a:gdLst/>
              <a:ahLst/>
              <a:cxnLst/>
              <a:rect l="l" t="t" r="r" b="b"/>
              <a:pathLst>
                <a:path w="1287145" h="1370964">
                  <a:moveTo>
                    <a:pt x="1286564" y="607350"/>
                  </a:moveTo>
                  <a:lnTo>
                    <a:pt x="846468" y="0"/>
                  </a:lnTo>
                  <a:lnTo>
                    <a:pt x="0" y="135731"/>
                  </a:lnTo>
                  <a:lnTo>
                    <a:pt x="418919" y="774607"/>
                  </a:lnTo>
                  <a:lnTo>
                    <a:pt x="897073" y="1370447"/>
                  </a:lnTo>
                  <a:lnTo>
                    <a:pt x="1286564" y="607350"/>
                  </a:lnTo>
                </a:path>
              </a:pathLst>
            </a:custGeom>
            <a:ln w="5284">
              <a:solidFill>
                <a:srgbClr val="807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00017" y="1208659"/>
              <a:ext cx="1320800" cy="796290"/>
            </a:xfrm>
            <a:custGeom>
              <a:avLst/>
              <a:gdLst/>
              <a:ahLst/>
              <a:cxnLst/>
              <a:rect l="l" t="t" r="r" b="b"/>
              <a:pathLst>
                <a:path w="1320800" h="796289">
                  <a:moveTo>
                    <a:pt x="817354" y="0"/>
                  </a:moveTo>
                  <a:lnTo>
                    <a:pt x="0" y="46127"/>
                  </a:lnTo>
                  <a:lnTo>
                    <a:pt x="266310" y="795880"/>
                  </a:lnTo>
                  <a:lnTo>
                    <a:pt x="689843" y="643054"/>
                  </a:lnTo>
                  <a:lnTo>
                    <a:pt x="1320739" y="517747"/>
                  </a:lnTo>
                  <a:lnTo>
                    <a:pt x="817354" y="0"/>
                  </a:lnTo>
                  <a:close/>
                </a:path>
              </a:pathLst>
            </a:custGeom>
            <a:solidFill>
              <a:srgbClr val="C44D52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00017" y="1208659"/>
              <a:ext cx="1320800" cy="796290"/>
            </a:xfrm>
            <a:custGeom>
              <a:avLst/>
              <a:gdLst/>
              <a:ahLst/>
              <a:cxnLst/>
              <a:rect l="l" t="t" r="r" b="b"/>
              <a:pathLst>
                <a:path w="1320800" h="796289">
                  <a:moveTo>
                    <a:pt x="1320739" y="517747"/>
                  </a:moveTo>
                  <a:lnTo>
                    <a:pt x="817354" y="0"/>
                  </a:lnTo>
                  <a:lnTo>
                    <a:pt x="0" y="46127"/>
                  </a:lnTo>
                  <a:lnTo>
                    <a:pt x="266310" y="795880"/>
                  </a:lnTo>
                  <a:lnTo>
                    <a:pt x="689843" y="643054"/>
                  </a:lnTo>
                  <a:lnTo>
                    <a:pt x="1320739" y="517747"/>
                  </a:lnTo>
                </a:path>
              </a:pathLst>
            </a:custGeom>
            <a:ln w="5284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00299" y="1160145"/>
              <a:ext cx="1029335" cy="1038225"/>
            </a:xfrm>
            <a:custGeom>
              <a:avLst/>
              <a:gdLst/>
              <a:ahLst/>
              <a:cxnLst/>
              <a:rect l="l" t="t" r="r" b="b"/>
              <a:pathLst>
                <a:path w="1029335" h="1038225">
                  <a:moveTo>
                    <a:pt x="1029228" y="566261"/>
                  </a:moveTo>
                  <a:lnTo>
                    <a:pt x="832836" y="0"/>
                  </a:lnTo>
                  <a:lnTo>
                    <a:pt x="167156" y="216292"/>
                  </a:lnTo>
                  <a:lnTo>
                    <a:pt x="0" y="1037676"/>
                  </a:lnTo>
                  <a:lnTo>
                    <a:pt x="680506" y="663700"/>
                  </a:lnTo>
                  <a:lnTo>
                    <a:pt x="1029228" y="566261"/>
                  </a:lnTo>
                </a:path>
              </a:pathLst>
            </a:custGeom>
            <a:ln w="10569">
              <a:solidFill>
                <a:srgbClr val="9D9D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00299" y="1041957"/>
              <a:ext cx="1023619" cy="1156335"/>
            </a:xfrm>
            <a:custGeom>
              <a:avLst/>
              <a:gdLst/>
              <a:ahLst/>
              <a:cxnLst/>
              <a:rect l="l" t="t" r="r" b="b"/>
              <a:pathLst>
                <a:path w="1023619" h="1156335">
                  <a:moveTo>
                    <a:pt x="1023284" y="684448"/>
                  </a:moveTo>
                  <a:lnTo>
                    <a:pt x="871237" y="0"/>
                  </a:lnTo>
                  <a:lnTo>
                    <a:pt x="66619" y="261436"/>
                  </a:lnTo>
                  <a:lnTo>
                    <a:pt x="0" y="1155863"/>
                  </a:lnTo>
                  <a:lnTo>
                    <a:pt x="689741" y="810310"/>
                  </a:lnTo>
                  <a:lnTo>
                    <a:pt x="1023284" y="684448"/>
                  </a:lnTo>
                </a:path>
              </a:pathLst>
            </a:custGeom>
            <a:ln w="10569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00299" y="1072942"/>
              <a:ext cx="968375" cy="1125220"/>
            </a:xfrm>
            <a:custGeom>
              <a:avLst/>
              <a:gdLst/>
              <a:ahLst/>
              <a:cxnLst/>
              <a:rect l="l" t="t" r="r" b="b"/>
              <a:pathLst>
                <a:path w="968375" h="1125220">
                  <a:moveTo>
                    <a:pt x="968307" y="653464"/>
                  </a:moveTo>
                  <a:lnTo>
                    <a:pt x="861170" y="0"/>
                  </a:lnTo>
                  <a:lnTo>
                    <a:pt x="18773" y="195689"/>
                  </a:lnTo>
                  <a:lnTo>
                    <a:pt x="0" y="1124879"/>
                  </a:lnTo>
                  <a:lnTo>
                    <a:pt x="683111" y="758920"/>
                  </a:lnTo>
                  <a:lnTo>
                    <a:pt x="968307" y="653464"/>
                  </a:lnTo>
                </a:path>
              </a:pathLst>
            </a:custGeom>
            <a:ln w="10569">
              <a:solidFill>
                <a:srgbClr val="DD83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00017" y="1096306"/>
              <a:ext cx="1343025" cy="847090"/>
            </a:xfrm>
            <a:custGeom>
              <a:avLst/>
              <a:gdLst/>
              <a:ahLst/>
              <a:cxnLst/>
              <a:rect l="l" t="t" r="r" b="b"/>
              <a:pathLst>
                <a:path w="1343025" h="847089">
                  <a:moveTo>
                    <a:pt x="1343027" y="630100"/>
                  </a:moveTo>
                  <a:lnTo>
                    <a:pt x="853860" y="0"/>
                  </a:lnTo>
                  <a:lnTo>
                    <a:pt x="0" y="158481"/>
                  </a:lnTo>
                  <a:lnTo>
                    <a:pt x="350957" y="846734"/>
                  </a:lnTo>
                  <a:lnTo>
                    <a:pt x="696701" y="776516"/>
                  </a:lnTo>
                  <a:lnTo>
                    <a:pt x="1343027" y="630100"/>
                  </a:lnTo>
                </a:path>
              </a:pathLst>
            </a:custGeom>
            <a:ln w="10569">
              <a:solidFill>
                <a:srgbClr val="54A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00017" y="1119056"/>
              <a:ext cx="1287145" cy="1370965"/>
            </a:xfrm>
            <a:custGeom>
              <a:avLst/>
              <a:gdLst/>
              <a:ahLst/>
              <a:cxnLst/>
              <a:rect l="l" t="t" r="r" b="b"/>
              <a:pathLst>
                <a:path w="1287145" h="1370964">
                  <a:moveTo>
                    <a:pt x="1286564" y="607350"/>
                  </a:moveTo>
                  <a:lnTo>
                    <a:pt x="846468" y="0"/>
                  </a:lnTo>
                  <a:lnTo>
                    <a:pt x="0" y="135731"/>
                  </a:lnTo>
                  <a:lnTo>
                    <a:pt x="418919" y="774607"/>
                  </a:lnTo>
                  <a:lnTo>
                    <a:pt x="897073" y="1370447"/>
                  </a:lnTo>
                  <a:lnTo>
                    <a:pt x="1286564" y="607350"/>
                  </a:lnTo>
                </a:path>
              </a:pathLst>
            </a:custGeom>
            <a:ln w="10569">
              <a:solidFill>
                <a:srgbClr val="807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00017" y="1208659"/>
              <a:ext cx="1320800" cy="796290"/>
            </a:xfrm>
            <a:custGeom>
              <a:avLst/>
              <a:gdLst/>
              <a:ahLst/>
              <a:cxnLst/>
              <a:rect l="l" t="t" r="r" b="b"/>
              <a:pathLst>
                <a:path w="1320800" h="796289">
                  <a:moveTo>
                    <a:pt x="1320739" y="517747"/>
                  </a:moveTo>
                  <a:lnTo>
                    <a:pt x="817354" y="0"/>
                  </a:lnTo>
                  <a:lnTo>
                    <a:pt x="0" y="46127"/>
                  </a:lnTo>
                  <a:lnTo>
                    <a:pt x="266310" y="795880"/>
                  </a:lnTo>
                  <a:lnTo>
                    <a:pt x="689843" y="643054"/>
                  </a:lnTo>
                  <a:lnTo>
                    <a:pt x="1320739" y="517747"/>
                  </a:lnTo>
                </a:path>
              </a:pathLst>
            </a:custGeom>
            <a:ln w="10569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11783" y="889044"/>
              <a:ext cx="1675130" cy="1675130"/>
            </a:xfrm>
            <a:custGeom>
              <a:avLst/>
              <a:gdLst/>
              <a:ahLst/>
              <a:cxnLst/>
              <a:rect l="l" t="t" r="r" b="b"/>
              <a:pathLst>
                <a:path w="1675129" h="1675130">
                  <a:moveTo>
                    <a:pt x="1674725" y="837362"/>
                  </a:moveTo>
                  <a:lnTo>
                    <a:pt x="1673402" y="790319"/>
                  </a:lnTo>
                  <a:lnTo>
                    <a:pt x="1669449" y="743517"/>
                  </a:lnTo>
                  <a:lnTo>
                    <a:pt x="1662887" y="697063"/>
                  </a:lnTo>
                  <a:lnTo>
                    <a:pt x="1653738" y="651067"/>
                  </a:lnTo>
                  <a:lnTo>
                    <a:pt x="1642024" y="605638"/>
                  </a:lnTo>
                  <a:lnTo>
                    <a:pt x="1627765" y="560885"/>
                  </a:lnTo>
                  <a:lnTo>
                    <a:pt x="1610984" y="516917"/>
                  </a:lnTo>
                  <a:lnTo>
                    <a:pt x="1591760" y="473962"/>
                  </a:lnTo>
                  <a:lnTo>
                    <a:pt x="1570197" y="432234"/>
                  </a:lnTo>
                  <a:lnTo>
                    <a:pt x="1546358" y="391828"/>
                  </a:lnTo>
                  <a:lnTo>
                    <a:pt x="1520303" y="352834"/>
                  </a:lnTo>
                  <a:lnTo>
                    <a:pt x="1492095" y="315347"/>
                  </a:lnTo>
                  <a:lnTo>
                    <a:pt x="1461796" y="279457"/>
                  </a:lnTo>
                  <a:lnTo>
                    <a:pt x="1429467" y="245257"/>
                  </a:lnTo>
                  <a:lnTo>
                    <a:pt x="1395268" y="212928"/>
                  </a:lnTo>
                  <a:lnTo>
                    <a:pt x="1359378" y="182629"/>
                  </a:lnTo>
                  <a:lnTo>
                    <a:pt x="1321890" y="154421"/>
                  </a:lnTo>
                  <a:lnTo>
                    <a:pt x="1282897" y="128367"/>
                  </a:lnTo>
                  <a:lnTo>
                    <a:pt x="1242490" y="104527"/>
                  </a:lnTo>
                  <a:lnTo>
                    <a:pt x="1200763" y="82964"/>
                  </a:lnTo>
                  <a:lnTo>
                    <a:pt x="1157807" y="63740"/>
                  </a:lnTo>
                  <a:lnTo>
                    <a:pt x="1113839" y="46959"/>
                  </a:lnTo>
                  <a:lnTo>
                    <a:pt x="1069086" y="32701"/>
                  </a:lnTo>
                  <a:lnTo>
                    <a:pt x="1023657" y="20986"/>
                  </a:lnTo>
                  <a:lnTo>
                    <a:pt x="977661" y="11837"/>
                  </a:lnTo>
                  <a:lnTo>
                    <a:pt x="931208" y="5275"/>
                  </a:lnTo>
                  <a:lnTo>
                    <a:pt x="884405" y="1322"/>
                  </a:lnTo>
                  <a:lnTo>
                    <a:pt x="837362" y="0"/>
                  </a:lnTo>
                  <a:lnTo>
                    <a:pt x="790319" y="1322"/>
                  </a:lnTo>
                  <a:lnTo>
                    <a:pt x="743517" y="5275"/>
                  </a:lnTo>
                  <a:lnTo>
                    <a:pt x="697063" y="11837"/>
                  </a:lnTo>
                  <a:lnTo>
                    <a:pt x="651067" y="20986"/>
                  </a:lnTo>
                  <a:lnTo>
                    <a:pt x="605638" y="32701"/>
                  </a:lnTo>
                  <a:lnTo>
                    <a:pt x="560885" y="46959"/>
                  </a:lnTo>
                  <a:lnTo>
                    <a:pt x="516917" y="63740"/>
                  </a:lnTo>
                  <a:lnTo>
                    <a:pt x="473962" y="82964"/>
                  </a:lnTo>
                  <a:lnTo>
                    <a:pt x="432234" y="104527"/>
                  </a:lnTo>
                  <a:lnTo>
                    <a:pt x="391828" y="128367"/>
                  </a:lnTo>
                  <a:lnTo>
                    <a:pt x="352834" y="154421"/>
                  </a:lnTo>
                  <a:lnTo>
                    <a:pt x="315347" y="182629"/>
                  </a:lnTo>
                  <a:lnTo>
                    <a:pt x="279457" y="212928"/>
                  </a:lnTo>
                  <a:lnTo>
                    <a:pt x="245257" y="245257"/>
                  </a:lnTo>
                  <a:lnTo>
                    <a:pt x="212928" y="279457"/>
                  </a:lnTo>
                  <a:lnTo>
                    <a:pt x="182629" y="315347"/>
                  </a:lnTo>
                  <a:lnTo>
                    <a:pt x="154421" y="352834"/>
                  </a:lnTo>
                  <a:lnTo>
                    <a:pt x="128367" y="391828"/>
                  </a:lnTo>
                  <a:lnTo>
                    <a:pt x="104527" y="432234"/>
                  </a:lnTo>
                  <a:lnTo>
                    <a:pt x="82964" y="473962"/>
                  </a:lnTo>
                  <a:lnTo>
                    <a:pt x="63740" y="516917"/>
                  </a:lnTo>
                  <a:lnTo>
                    <a:pt x="46959" y="560885"/>
                  </a:lnTo>
                  <a:lnTo>
                    <a:pt x="32701" y="605638"/>
                  </a:lnTo>
                  <a:lnTo>
                    <a:pt x="20986" y="651067"/>
                  </a:lnTo>
                  <a:lnTo>
                    <a:pt x="11837" y="697063"/>
                  </a:lnTo>
                  <a:lnTo>
                    <a:pt x="5275" y="743517"/>
                  </a:lnTo>
                  <a:lnTo>
                    <a:pt x="1322" y="790319"/>
                  </a:lnTo>
                  <a:lnTo>
                    <a:pt x="0" y="837362"/>
                  </a:lnTo>
                  <a:lnTo>
                    <a:pt x="1322" y="884405"/>
                  </a:lnTo>
                  <a:lnTo>
                    <a:pt x="5275" y="931208"/>
                  </a:lnTo>
                  <a:lnTo>
                    <a:pt x="11837" y="977661"/>
                  </a:lnTo>
                  <a:lnTo>
                    <a:pt x="20986" y="1023657"/>
                  </a:lnTo>
                  <a:lnTo>
                    <a:pt x="32701" y="1069086"/>
                  </a:lnTo>
                  <a:lnTo>
                    <a:pt x="46959" y="1113839"/>
                  </a:lnTo>
                  <a:lnTo>
                    <a:pt x="63740" y="1157807"/>
                  </a:lnTo>
                  <a:lnTo>
                    <a:pt x="82964" y="1200763"/>
                  </a:lnTo>
                  <a:lnTo>
                    <a:pt x="104527" y="1242490"/>
                  </a:lnTo>
                  <a:lnTo>
                    <a:pt x="128367" y="1282897"/>
                  </a:lnTo>
                  <a:lnTo>
                    <a:pt x="154421" y="1321890"/>
                  </a:lnTo>
                  <a:lnTo>
                    <a:pt x="182629" y="1359378"/>
                  </a:lnTo>
                  <a:lnTo>
                    <a:pt x="212928" y="1395268"/>
                  </a:lnTo>
                  <a:lnTo>
                    <a:pt x="245257" y="1429467"/>
                  </a:lnTo>
                  <a:lnTo>
                    <a:pt x="279457" y="1461796"/>
                  </a:lnTo>
                  <a:lnTo>
                    <a:pt x="315347" y="1492095"/>
                  </a:lnTo>
                  <a:lnTo>
                    <a:pt x="352834" y="1520303"/>
                  </a:lnTo>
                  <a:lnTo>
                    <a:pt x="391828" y="1546358"/>
                  </a:lnTo>
                  <a:lnTo>
                    <a:pt x="432234" y="1570197"/>
                  </a:lnTo>
                  <a:lnTo>
                    <a:pt x="473962" y="1591760"/>
                  </a:lnTo>
                  <a:lnTo>
                    <a:pt x="516917" y="1610984"/>
                  </a:lnTo>
                  <a:lnTo>
                    <a:pt x="560885" y="1627765"/>
                  </a:lnTo>
                  <a:lnTo>
                    <a:pt x="605638" y="1642024"/>
                  </a:lnTo>
                  <a:lnTo>
                    <a:pt x="651067" y="1653738"/>
                  </a:lnTo>
                  <a:lnTo>
                    <a:pt x="697063" y="1662887"/>
                  </a:lnTo>
                  <a:lnTo>
                    <a:pt x="743517" y="1669449"/>
                  </a:lnTo>
                  <a:lnTo>
                    <a:pt x="790319" y="1673402"/>
                  </a:lnTo>
                  <a:lnTo>
                    <a:pt x="837362" y="1674725"/>
                  </a:lnTo>
                  <a:lnTo>
                    <a:pt x="884405" y="1673402"/>
                  </a:lnTo>
                  <a:lnTo>
                    <a:pt x="931208" y="1669449"/>
                  </a:lnTo>
                  <a:lnTo>
                    <a:pt x="977661" y="1662887"/>
                  </a:lnTo>
                  <a:lnTo>
                    <a:pt x="1023657" y="1653738"/>
                  </a:lnTo>
                  <a:lnTo>
                    <a:pt x="1069086" y="1642024"/>
                  </a:lnTo>
                  <a:lnTo>
                    <a:pt x="1113839" y="1627765"/>
                  </a:lnTo>
                  <a:lnTo>
                    <a:pt x="1157807" y="1610984"/>
                  </a:lnTo>
                  <a:lnTo>
                    <a:pt x="1200763" y="1591760"/>
                  </a:lnTo>
                  <a:lnTo>
                    <a:pt x="1242490" y="1570197"/>
                  </a:lnTo>
                  <a:lnTo>
                    <a:pt x="1282897" y="1546358"/>
                  </a:lnTo>
                  <a:lnTo>
                    <a:pt x="1321890" y="1520303"/>
                  </a:lnTo>
                  <a:lnTo>
                    <a:pt x="1359378" y="1492095"/>
                  </a:lnTo>
                  <a:lnTo>
                    <a:pt x="1395268" y="1461796"/>
                  </a:lnTo>
                  <a:lnTo>
                    <a:pt x="1429467" y="1429467"/>
                  </a:lnTo>
                  <a:lnTo>
                    <a:pt x="1461796" y="1395268"/>
                  </a:lnTo>
                  <a:lnTo>
                    <a:pt x="1492095" y="1359378"/>
                  </a:lnTo>
                  <a:lnTo>
                    <a:pt x="1520303" y="1321890"/>
                  </a:lnTo>
                  <a:lnTo>
                    <a:pt x="1546358" y="1282897"/>
                  </a:lnTo>
                  <a:lnTo>
                    <a:pt x="1570197" y="1242490"/>
                  </a:lnTo>
                  <a:lnTo>
                    <a:pt x="1591760" y="1200763"/>
                  </a:lnTo>
                  <a:lnTo>
                    <a:pt x="1610984" y="1157807"/>
                  </a:lnTo>
                  <a:lnTo>
                    <a:pt x="1627765" y="1113839"/>
                  </a:lnTo>
                  <a:lnTo>
                    <a:pt x="1642024" y="1069086"/>
                  </a:lnTo>
                  <a:lnTo>
                    <a:pt x="1653738" y="1023657"/>
                  </a:lnTo>
                  <a:lnTo>
                    <a:pt x="1662887" y="977661"/>
                  </a:lnTo>
                  <a:lnTo>
                    <a:pt x="1669449" y="931208"/>
                  </a:lnTo>
                  <a:lnTo>
                    <a:pt x="1673402" y="884405"/>
                  </a:lnTo>
                  <a:lnTo>
                    <a:pt x="1674725" y="837362"/>
                  </a:lnTo>
                </a:path>
              </a:pathLst>
            </a:custGeom>
            <a:ln w="4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175166" y="654408"/>
            <a:ext cx="948055" cy="238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88900">
              <a:lnSpc>
                <a:spcPct val="100000"/>
              </a:lnSpc>
              <a:spcBef>
                <a:spcPts val="135"/>
              </a:spcBef>
            </a:pPr>
            <a:r>
              <a:rPr sz="400" b="1" dirty="0">
                <a:latin typeface="Times New Roman"/>
                <a:cs typeface="Times New Roman"/>
              </a:rPr>
              <a:t>Multi-metric</a:t>
            </a:r>
            <a:r>
              <a:rPr sz="400" b="1" spc="140" dirty="0">
                <a:latin typeface="Times New Roman"/>
                <a:cs typeface="Times New Roman"/>
              </a:rPr>
              <a:t> </a:t>
            </a:r>
            <a:r>
              <a:rPr sz="400" b="1" dirty="0">
                <a:latin typeface="Times New Roman"/>
                <a:cs typeface="Times New Roman"/>
              </a:rPr>
              <a:t>radar</a:t>
            </a:r>
            <a:r>
              <a:rPr sz="400" b="1" spc="125" dirty="0">
                <a:latin typeface="Times New Roman"/>
                <a:cs typeface="Times New Roman"/>
              </a:rPr>
              <a:t> </a:t>
            </a:r>
            <a:r>
              <a:rPr sz="400" b="1" spc="-10" dirty="0">
                <a:latin typeface="Times New Roman"/>
                <a:cs typeface="Times New Roman"/>
              </a:rPr>
              <a:t>comparison</a:t>
            </a:r>
            <a:r>
              <a:rPr sz="400" b="1" spc="500" dirty="0">
                <a:latin typeface="Times New Roman"/>
                <a:cs typeface="Times New Roman"/>
              </a:rPr>
              <a:t>  </a:t>
            </a:r>
            <a:r>
              <a:rPr sz="400" b="1" spc="10" dirty="0">
                <a:latin typeface="Times New Roman"/>
                <a:cs typeface="Times New Roman"/>
              </a:rPr>
              <a:t>(all</a:t>
            </a:r>
            <a:r>
              <a:rPr sz="400" b="1" spc="20" dirty="0">
                <a:latin typeface="Times New Roman"/>
                <a:cs typeface="Times New Roman"/>
              </a:rPr>
              <a:t> </a:t>
            </a:r>
            <a:r>
              <a:rPr sz="400" b="1" spc="10" dirty="0">
                <a:latin typeface="Times New Roman"/>
                <a:cs typeface="Times New Roman"/>
              </a:rPr>
              <a:t>axes</a:t>
            </a:r>
            <a:r>
              <a:rPr sz="400" b="1" spc="25" dirty="0">
                <a:latin typeface="Times New Roman"/>
                <a:cs typeface="Times New Roman"/>
              </a:rPr>
              <a:t> </a:t>
            </a:r>
            <a:r>
              <a:rPr sz="400" b="1" spc="10" dirty="0">
                <a:latin typeface="Times New Roman"/>
                <a:cs typeface="Times New Roman"/>
              </a:rPr>
              <a:t>normalized,</a:t>
            </a:r>
            <a:r>
              <a:rPr sz="400" b="1" spc="25" dirty="0">
                <a:latin typeface="Times New Roman"/>
                <a:cs typeface="Times New Roman"/>
              </a:rPr>
              <a:t> </a:t>
            </a:r>
            <a:r>
              <a:rPr sz="400" b="1" spc="10" dirty="0">
                <a:latin typeface="Times New Roman"/>
                <a:cs typeface="Times New Roman"/>
              </a:rPr>
              <a:t>outward</a:t>
            </a:r>
            <a:r>
              <a:rPr sz="400" b="1" spc="25" dirty="0">
                <a:latin typeface="Times New Roman"/>
                <a:cs typeface="Times New Roman"/>
              </a:rPr>
              <a:t> </a:t>
            </a:r>
            <a:r>
              <a:rPr sz="400" b="1" spc="10" dirty="0">
                <a:latin typeface="Times New Roman"/>
                <a:cs typeface="Times New Roman"/>
              </a:rPr>
              <a:t>=</a:t>
            </a:r>
            <a:r>
              <a:rPr sz="400" b="1" spc="25" dirty="0">
                <a:latin typeface="Times New Roman"/>
                <a:cs typeface="Times New Roman"/>
              </a:rPr>
              <a:t> </a:t>
            </a:r>
            <a:r>
              <a:rPr sz="400" b="1" spc="-10" dirty="0">
                <a:latin typeface="Times New Roman"/>
                <a:cs typeface="Times New Roman"/>
              </a:rPr>
              <a:t>better)</a:t>
            </a:r>
            <a:endParaRPr sz="400">
              <a:latin typeface="Times New Roman"/>
              <a:cs typeface="Times New Roman"/>
            </a:endParaRPr>
          </a:p>
          <a:p>
            <a:pPr marR="90805" algn="r">
              <a:lnSpc>
                <a:spcPct val="100000"/>
              </a:lnSpc>
              <a:spcBef>
                <a:spcPts val="260"/>
              </a:spcBef>
            </a:pPr>
            <a:r>
              <a:rPr sz="350" spc="-10" dirty="0">
                <a:latin typeface="Times New Roman"/>
                <a:cs typeface="Times New Roman"/>
              </a:rPr>
              <a:t>Forgetting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47763" y="774421"/>
            <a:ext cx="85090" cy="0"/>
          </a:xfrm>
          <a:custGeom>
            <a:avLst/>
            <a:gdLst/>
            <a:ahLst/>
            <a:cxnLst/>
            <a:rect l="l" t="t" r="r" b="b"/>
            <a:pathLst>
              <a:path w="85089">
                <a:moveTo>
                  <a:pt x="0" y="0"/>
                </a:moveTo>
                <a:lnTo>
                  <a:pt x="42279" y="0"/>
                </a:lnTo>
                <a:lnTo>
                  <a:pt x="84559" y="0"/>
                </a:lnTo>
              </a:path>
            </a:pathLst>
          </a:custGeom>
          <a:ln w="10569">
            <a:solidFill>
              <a:srgbClr val="9D9D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53447" y="725073"/>
            <a:ext cx="494030" cy="384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4620">
              <a:lnSpc>
                <a:spcPct val="131000"/>
              </a:lnSpc>
              <a:spcBef>
                <a:spcPts val="90"/>
              </a:spcBef>
            </a:pPr>
            <a:r>
              <a:rPr sz="300" spc="10" dirty="0">
                <a:latin typeface="Times New Roman"/>
                <a:cs typeface="Times New Roman"/>
              </a:rPr>
              <a:t>Random</a:t>
            </a:r>
            <a:r>
              <a:rPr sz="300" spc="4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Times New Roman"/>
                <a:cs typeface="Times New Roman"/>
              </a:rPr>
              <a:t>Pruning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Times New Roman"/>
                <a:cs typeface="Times New Roman"/>
              </a:rPr>
              <a:t>Fisher-only</a:t>
            </a:r>
            <a:r>
              <a:rPr sz="300" spc="13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Times New Roman"/>
                <a:cs typeface="Times New Roman"/>
              </a:rPr>
              <a:t>Pruning</a:t>
            </a:r>
            <a:endParaRPr sz="300">
              <a:latin typeface="Times New Roman"/>
              <a:cs typeface="Times New Roman"/>
            </a:endParaRPr>
          </a:p>
          <a:p>
            <a:pPr marL="12700" marR="5080">
              <a:lnSpc>
                <a:spcPct val="131000"/>
              </a:lnSpc>
            </a:pPr>
            <a:r>
              <a:rPr sz="300" dirty="0">
                <a:latin typeface="Times New Roman"/>
                <a:cs typeface="Times New Roman"/>
              </a:rPr>
              <a:t>Entanglement-only</a:t>
            </a:r>
            <a:r>
              <a:rPr sz="300" spc="21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Times New Roman"/>
                <a:cs typeface="Times New Roman"/>
              </a:rPr>
              <a:t>Pruning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Times New Roman"/>
                <a:cs typeface="Times New Roman"/>
              </a:rPr>
              <a:t>Fine-Tune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20" dirty="0">
                <a:latin typeface="Times New Roman"/>
                <a:cs typeface="Times New Roman"/>
              </a:rPr>
              <a:t>Only</a:t>
            </a:r>
            <a:endParaRPr sz="300">
              <a:latin typeface="Times New Roman"/>
              <a:cs typeface="Times New Roman"/>
            </a:endParaRPr>
          </a:p>
          <a:p>
            <a:pPr marL="12700" marR="128270">
              <a:lnSpc>
                <a:spcPct val="130700"/>
              </a:lnSpc>
              <a:spcBef>
                <a:spcPts val="5"/>
              </a:spcBef>
            </a:pPr>
            <a:r>
              <a:rPr sz="300" dirty="0">
                <a:latin typeface="Times New Roman"/>
                <a:cs typeface="Times New Roman"/>
              </a:rPr>
              <a:t>Full</a:t>
            </a:r>
            <a:r>
              <a:rPr sz="300" spc="65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Times New Roman"/>
                <a:cs typeface="Times New Roman"/>
              </a:rPr>
              <a:t>Retrain</a:t>
            </a:r>
            <a:r>
              <a:rPr sz="300" spc="6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Times New Roman"/>
                <a:cs typeface="Times New Roman"/>
              </a:rPr>
              <a:t>(oracle)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Times New Roman"/>
                <a:cs typeface="Times New Roman"/>
              </a:rPr>
              <a:t>QFL-</a:t>
            </a:r>
            <a:r>
              <a:rPr sz="300" spc="-25" dirty="0">
                <a:latin typeface="Times New Roman"/>
                <a:cs typeface="Times New Roman"/>
              </a:rPr>
              <a:t>EWP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447763" y="834323"/>
            <a:ext cx="85090" cy="0"/>
          </a:xfrm>
          <a:custGeom>
            <a:avLst/>
            <a:gdLst/>
            <a:ahLst/>
            <a:cxnLst/>
            <a:rect l="l" t="t" r="r" b="b"/>
            <a:pathLst>
              <a:path w="85089">
                <a:moveTo>
                  <a:pt x="0" y="0"/>
                </a:moveTo>
                <a:lnTo>
                  <a:pt x="42279" y="0"/>
                </a:lnTo>
                <a:lnTo>
                  <a:pt x="84559" y="0"/>
                </a:lnTo>
              </a:path>
            </a:pathLst>
          </a:custGeom>
          <a:ln w="10569">
            <a:solidFill>
              <a:srgbClr val="4C71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3447763" y="888940"/>
            <a:ext cx="85090" cy="190500"/>
            <a:chOff x="3447763" y="888940"/>
            <a:chExt cx="85090" cy="190500"/>
          </a:xfrm>
        </p:grpSpPr>
        <p:sp>
          <p:nvSpPr>
            <p:cNvPr id="38" name="object 38"/>
            <p:cNvSpPr/>
            <p:nvPr/>
          </p:nvSpPr>
          <p:spPr>
            <a:xfrm>
              <a:off x="3447763" y="894225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42279" y="0"/>
                  </a:lnTo>
                  <a:lnTo>
                    <a:pt x="84559" y="0"/>
                  </a:lnTo>
                </a:path>
              </a:pathLst>
            </a:custGeom>
            <a:ln w="10569">
              <a:solidFill>
                <a:srgbClr val="DD83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47763" y="954127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42279" y="0"/>
                  </a:lnTo>
                  <a:lnTo>
                    <a:pt x="84559" y="0"/>
                  </a:lnTo>
                </a:path>
              </a:pathLst>
            </a:custGeom>
            <a:ln w="10569">
              <a:solidFill>
                <a:srgbClr val="54A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47763" y="1014029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42279" y="0"/>
                  </a:lnTo>
                  <a:lnTo>
                    <a:pt x="84559" y="0"/>
                  </a:lnTo>
                </a:path>
              </a:pathLst>
            </a:custGeom>
            <a:ln w="10569">
              <a:solidFill>
                <a:srgbClr val="8071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47763" y="1073765"/>
              <a:ext cx="85090" cy="0"/>
            </a:xfrm>
            <a:custGeom>
              <a:avLst/>
              <a:gdLst/>
              <a:ahLst/>
              <a:cxnLst/>
              <a:rect l="l" t="t" r="r" b="b"/>
              <a:pathLst>
                <a:path w="85089">
                  <a:moveTo>
                    <a:pt x="0" y="0"/>
                  </a:moveTo>
                  <a:lnTo>
                    <a:pt x="42279" y="0"/>
                  </a:lnTo>
                  <a:lnTo>
                    <a:pt x="84559" y="0"/>
                  </a:lnTo>
                </a:path>
              </a:pathLst>
            </a:custGeom>
            <a:ln w="10569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55244" y="2740548"/>
            <a:ext cx="5050155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41145" marR="5080" indent="-1529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EWP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only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method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that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stays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consistently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near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outer</a:t>
            </a:r>
            <a:r>
              <a:rPr sz="7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edge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across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accuracy, forgetting, privacy,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speed,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full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retrain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wins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only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parameter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proximity,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at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16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×</a:t>
            </a:r>
            <a:r>
              <a:rPr sz="700" i="1" spc="-50" dirty="0">
                <a:solidFill>
                  <a:srgbClr val="151515"/>
                </a:solidFill>
                <a:latin typeface="Meiryo UI"/>
                <a:cs typeface="Meiryo UI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cost.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16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031771" y="3069257"/>
            <a:ext cx="1696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Figure 10c, Appendix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Ablation</a:t>
            </a:r>
            <a:r>
              <a:rPr spc="-55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81847" y="827065"/>
            <a:ext cx="1747520" cy="1504950"/>
            <a:chOff x="981847" y="827065"/>
            <a:chExt cx="1747520" cy="1504950"/>
          </a:xfrm>
        </p:grpSpPr>
        <p:sp>
          <p:nvSpPr>
            <p:cNvPr id="5" name="object 5"/>
            <p:cNvSpPr/>
            <p:nvPr/>
          </p:nvSpPr>
          <p:spPr>
            <a:xfrm>
              <a:off x="985657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93178"/>
                  </a:moveTo>
                  <a:lnTo>
                    <a:pt x="0" y="1467581"/>
                  </a:lnTo>
                </a:path>
                <a:path h="1468120">
                  <a:moveTo>
                    <a:pt x="0" y="0"/>
                  </a:moveTo>
                  <a:lnTo>
                    <a:pt x="0" y="40237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5657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5657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4215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215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4215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82773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2773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82773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31331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31331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31331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9889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79889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79889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28446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28446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28446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77004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77004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77004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25562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25562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25562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24704" y="2315723"/>
            <a:ext cx="1861820" cy="2419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260985" algn="l"/>
                <a:tab pos="509270" algn="l"/>
                <a:tab pos="758190" algn="l"/>
                <a:tab pos="1006475" algn="l"/>
                <a:tab pos="1255395" algn="l"/>
                <a:tab pos="1503680" algn="l"/>
                <a:tab pos="1751964" algn="l"/>
              </a:tabLst>
            </a:pPr>
            <a:r>
              <a:rPr sz="600" spc="-25" dirty="0">
                <a:latin typeface="Times New Roman"/>
                <a:cs typeface="Times New Roman"/>
              </a:rPr>
              <a:t>0.2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0.3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0.4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0.5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0.6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0.7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0.8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600" spc="-25" dirty="0">
                <a:latin typeface="Times New Roman"/>
                <a:cs typeface="Times New Roman"/>
              </a:rPr>
              <a:t>0.9</a:t>
            </a:r>
            <a:endParaRPr sz="600">
              <a:latin typeface="Times New Roman"/>
              <a:cs typeface="Times New Roman"/>
            </a:endParaRPr>
          </a:p>
          <a:p>
            <a:pPr marL="625475">
              <a:lnSpc>
                <a:spcPct val="100000"/>
              </a:lnSpc>
              <a:spcBef>
                <a:spcPts val="75"/>
              </a:spcBef>
            </a:pPr>
            <a:r>
              <a:rPr sz="700" spc="-10" dirty="0">
                <a:latin typeface="Times New Roman"/>
                <a:cs typeface="Times New Roman"/>
              </a:rPr>
              <a:t>Non-</a:t>
            </a:r>
            <a:r>
              <a:rPr sz="700" dirty="0">
                <a:latin typeface="Times New Roman"/>
                <a:cs typeface="Times New Roman"/>
              </a:rPr>
              <a:t>IID</a:t>
            </a:r>
            <a:r>
              <a:rPr sz="700" spc="-2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strength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63970" y="825160"/>
            <a:ext cx="1953260" cy="1476375"/>
            <a:chOff x="863970" y="825160"/>
            <a:chExt cx="1953260" cy="1476375"/>
          </a:xfrm>
        </p:grpSpPr>
        <p:sp>
          <p:nvSpPr>
            <p:cNvPr id="31" name="object 31"/>
            <p:cNvSpPr/>
            <p:nvPr/>
          </p:nvSpPr>
          <p:spPr>
            <a:xfrm>
              <a:off x="898662" y="2104843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7780" y="2104843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7780" y="2104843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98662" y="1829142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7780" y="1829142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7780" y="1829142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98662" y="1553441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7780" y="1553441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7780" y="1553441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98662" y="1277740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7780" y="1277740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7780" y="1277740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98662" y="1002039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7780" y="1002039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7780" y="1002039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85657" y="1540909"/>
              <a:ext cx="1739900" cy="689610"/>
            </a:xfrm>
            <a:custGeom>
              <a:avLst/>
              <a:gdLst/>
              <a:ahLst/>
              <a:cxnLst/>
              <a:rect l="l" t="t" r="r" b="b"/>
              <a:pathLst>
                <a:path w="1739900" h="689610">
                  <a:moveTo>
                    <a:pt x="0" y="689251"/>
                  </a:moveTo>
                  <a:lnTo>
                    <a:pt x="1739904" y="0"/>
                  </a:lnTo>
                </a:path>
              </a:pathLst>
            </a:custGeom>
            <a:ln w="13235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59187" y="220369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9187" y="220369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39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99092" y="1514439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99092" y="1514439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85657" y="895996"/>
              <a:ext cx="1739900" cy="650875"/>
            </a:xfrm>
            <a:custGeom>
              <a:avLst/>
              <a:gdLst/>
              <a:ahLst/>
              <a:cxnLst/>
              <a:rect l="l" t="t" r="r" b="b"/>
              <a:pathLst>
                <a:path w="1739900" h="650875">
                  <a:moveTo>
                    <a:pt x="0" y="0"/>
                  </a:moveTo>
                  <a:lnTo>
                    <a:pt x="1739904" y="650500"/>
                  </a:lnTo>
                </a:path>
              </a:pathLst>
            </a:custGeom>
            <a:ln w="13235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9187" y="8695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59187" y="8695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99092" y="15200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99092" y="15200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98662" y="829288"/>
              <a:ext cx="1913889" cy="1468120"/>
            </a:xfrm>
            <a:custGeom>
              <a:avLst/>
              <a:gdLst/>
              <a:ahLst/>
              <a:cxnLst/>
              <a:rect l="l" t="t" r="r" b="b"/>
              <a:pathLst>
                <a:path w="1913889" h="1468120">
                  <a:moveTo>
                    <a:pt x="0" y="1467581"/>
                  </a:moveTo>
                  <a:lnTo>
                    <a:pt x="0" y="0"/>
                  </a:lnTo>
                </a:path>
                <a:path w="1913889" h="1468120">
                  <a:moveTo>
                    <a:pt x="0" y="1467581"/>
                  </a:moveTo>
                  <a:lnTo>
                    <a:pt x="1913895" y="1467581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23619" y="925684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4">
                  <a:moveTo>
                    <a:pt x="0" y="0"/>
                  </a:moveTo>
                  <a:lnTo>
                    <a:pt x="74999" y="0"/>
                  </a:lnTo>
                  <a:lnTo>
                    <a:pt x="149998" y="0"/>
                  </a:lnTo>
                </a:path>
              </a:pathLst>
            </a:custGeom>
            <a:ln w="13235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72148" y="899214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272148" y="899214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27691" y="2042952"/>
            <a:ext cx="1219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7691" y="1767251"/>
            <a:ext cx="1219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imes New Roman"/>
                <a:cs typeface="Times New Roman"/>
              </a:rPr>
              <a:t>0.6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7691" y="1491550"/>
            <a:ext cx="1219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imes New Roman"/>
                <a:cs typeface="Times New Roman"/>
              </a:rPr>
              <a:t>0.7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7691" y="1215850"/>
            <a:ext cx="1219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imes New Roman"/>
                <a:cs typeface="Times New Roman"/>
              </a:rPr>
              <a:t>0.8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7691" y="940149"/>
            <a:ext cx="1219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5" dirty="0">
                <a:latin typeface="Times New Roman"/>
                <a:cs typeface="Times New Roman"/>
              </a:rPr>
              <a:t>0.9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95021" y="1449850"/>
            <a:ext cx="123189" cy="22669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700" spc="-10" dirty="0">
                <a:latin typeface="Times New Roman"/>
                <a:cs typeface="Times New Roman"/>
              </a:rPr>
              <a:t>Score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8017" y="666783"/>
            <a:ext cx="149225" cy="153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spc="-25" dirty="0">
                <a:latin typeface="Times New Roman"/>
                <a:cs typeface="Times New Roman"/>
              </a:rPr>
              <a:t>(a)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420917" y="864235"/>
            <a:ext cx="313055" cy="115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latin typeface="Times New Roman"/>
                <a:cs typeface="Times New Roman"/>
              </a:rPr>
              <a:t>Accuracy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23619" y="1004544"/>
            <a:ext cx="150495" cy="62230"/>
            <a:chOff x="2223619" y="1004544"/>
            <a:chExt cx="150495" cy="62230"/>
          </a:xfrm>
        </p:grpSpPr>
        <p:sp>
          <p:nvSpPr>
            <p:cNvPr id="69" name="object 69"/>
            <p:cNvSpPr/>
            <p:nvPr/>
          </p:nvSpPr>
          <p:spPr>
            <a:xfrm>
              <a:off x="2223619" y="1035426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4">
                  <a:moveTo>
                    <a:pt x="0" y="0"/>
                  </a:moveTo>
                  <a:lnTo>
                    <a:pt x="74999" y="0"/>
                  </a:lnTo>
                  <a:lnTo>
                    <a:pt x="149998" y="0"/>
                  </a:lnTo>
                </a:path>
              </a:pathLst>
            </a:custGeom>
            <a:ln w="13235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72148" y="1008955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272148" y="1008955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420917" y="973976"/>
            <a:ext cx="337185" cy="115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latin typeface="Times New Roman"/>
                <a:cs typeface="Times New Roman"/>
              </a:rPr>
              <a:t>Forgetting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304092" y="827065"/>
            <a:ext cx="7620" cy="1504950"/>
            <a:chOff x="3304092" y="827065"/>
            <a:chExt cx="7620" cy="1504950"/>
          </a:xfrm>
        </p:grpSpPr>
        <p:sp>
          <p:nvSpPr>
            <p:cNvPr id="74" name="object 74"/>
            <p:cNvSpPr/>
            <p:nvPr/>
          </p:nvSpPr>
          <p:spPr>
            <a:xfrm>
              <a:off x="3307902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242322"/>
                  </a:moveTo>
                  <a:lnTo>
                    <a:pt x="0" y="1467581"/>
                  </a:lnTo>
                </a:path>
                <a:path h="1468120">
                  <a:moveTo>
                    <a:pt x="0" y="0"/>
                  </a:moveTo>
                  <a:lnTo>
                    <a:pt x="0" y="189381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07902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307902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275900" y="2324316"/>
            <a:ext cx="6413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50" dirty="0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739068" y="827065"/>
            <a:ext cx="7620" cy="1504950"/>
            <a:chOff x="3739068" y="827065"/>
            <a:chExt cx="7620" cy="1504950"/>
          </a:xfrm>
        </p:grpSpPr>
        <p:sp>
          <p:nvSpPr>
            <p:cNvPr id="79" name="object 79"/>
            <p:cNvSpPr/>
            <p:nvPr/>
          </p:nvSpPr>
          <p:spPr>
            <a:xfrm>
              <a:off x="3742878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742878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742878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3710876" y="2324316"/>
            <a:ext cx="6413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50" dirty="0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4174044" y="827065"/>
            <a:ext cx="442595" cy="1504950"/>
            <a:chOff x="4174044" y="827065"/>
            <a:chExt cx="442595" cy="1504950"/>
          </a:xfrm>
        </p:grpSpPr>
        <p:sp>
          <p:nvSpPr>
            <p:cNvPr id="84" name="object 84"/>
            <p:cNvSpPr/>
            <p:nvPr/>
          </p:nvSpPr>
          <p:spPr>
            <a:xfrm>
              <a:off x="4177854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724015"/>
                  </a:moveTo>
                  <a:lnTo>
                    <a:pt x="0" y="1467581"/>
                  </a:lnTo>
                </a:path>
                <a:path h="1468120">
                  <a:moveTo>
                    <a:pt x="0" y="0"/>
                  </a:moveTo>
                  <a:lnTo>
                    <a:pt x="0" y="671074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177854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177854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612830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1467581"/>
                  </a:moveTo>
                  <a:lnTo>
                    <a:pt x="0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12830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612830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580829" y="2324316"/>
            <a:ext cx="6413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50" dirty="0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5043996" y="827065"/>
            <a:ext cx="7620" cy="1504950"/>
            <a:chOff x="5043996" y="827065"/>
            <a:chExt cx="7620" cy="1504950"/>
          </a:xfrm>
        </p:grpSpPr>
        <p:sp>
          <p:nvSpPr>
            <p:cNvPr id="92" name="object 92"/>
            <p:cNvSpPr/>
            <p:nvPr/>
          </p:nvSpPr>
          <p:spPr>
            <a:xfrm>
              <a:off x="5047806" y="829288"/>
              <a:ext cx="0" cy="1468120"/>
            </a:xfrm>
            <a:custGeom>
              <a:avLst/>
              <a:gdLst/>
              <a:ahLst/>
              <a:cxnLst/>
              <a:rect l="l" t="t" r="r" b="b"/>
              <a:pathLst>
                <a:path h="1468120">
                  <a:moveTo>
                    <a:pt x="0" y="93178"/>
                  </a:moveTo>
                  <a:lnTo>
                    <a:pt x="0" y="1467581"/>
                  </a:lnTo>
                </a:path>
                <a:path h="1468120">
                  <a:moveTo>
                    <a:pt x="0" y="0"/>
                  </a:moveTo>
                  <a:lnTo>
                    <a:pt x="0" y="40237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047806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047806" y="229686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4">
                  <a:moveTo>
                    <a:pt x="0" y="0"/>
                  </a:moveTo>
                  <a:lnTo>
                    <a:pt x="0" y="30882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5015805" y="2324316"/>
            <a:ext cx="64135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50" dirty="0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846614" y="2315723"/>
            <a:ext cx="662940" cy="2419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600" spc="-50" dirty="0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700" spc="-10" dirty="0">
                <a:latin typeface="Times New Roman"/>
                <a:cs typeface="Times New Roman"/>
              </a:rPr>
              <a:t>Number</a:t>
            </a:r>
            <a:r>
              <a:rPr sz="700" spc="-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of</a:t>
            </a:r>
            <a:r>
              <a:rPr sz="700" spc="-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clients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3186214" y="825160"/>
            <a:ext cx="1953260" cy="1476375"/>
            <a:chOff x="3186214" y="825160"/>
            <a:chExt cx="1953260" cy="1476375"/>
          </a:xfrm>
        </p:grpSpPr>
        <p:sp>
          <p:nvSpPr>
            <p:cNvPr id="98" name="object 98"/>
            <p:cNvSpPr/>
            <p:nvPr/>
          </p:nvSpPr>
          <p:spPr>
            <a:xfrm>
              <a:off x="3220906" y="2142531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190024" y="2142531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190024" y="2142531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220906" y="1961790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190024" y="1961790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190024" y="1961790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20906" y="1781049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190024" y="1781049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190024" y="1781049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220906" y="1600308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190024" y="1600308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190024" y="1600308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220906" y="1419567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190024" y="1419567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190024" y="1419567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20906" y="1238826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190024" y="1238826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190024" y="1238826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220906" y="1058085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60524" y="0"/>
                  </a:lnTo>
                </a:path>
                <a:path w="1913889">
                  <a:moveTo>
                    <a:pt x="113465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190024" y="1058085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190024" y="1058085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20906" y="877344"/>
              <a:ext cx="1913889" cy="0"/>
            </a:xfrm>
            <a:custGeom>
              <a:avLst/>
              <a:gdLst/>
              <a:ahLst/>
              <a:cxnLst/>
              <a:rect l="l" t="t" r="r" b="b"/>
              <a:pathLst>
                <a:path w="1913889">
                  <a:moveTo>
                    <a:pt x="0" y="0"/>
                  </a:moveTo>
                  <a:lnTo>
                    <a:pt x="1800429" y="0"/>
                  </a:lnTo>
                </a:path>
                <a:path w="1913889">
                  <a:moveTo>
                    <a:pt x="1853370" y="0"/>
                  </a:moveTo>
                  <a:lnTo>
                    <a:pt x="1913895" y="0"/>
                  </a:lnTo>
                </a:path>
              </a:pathLst>
            </a:custGeom>
            <a:ln w="441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190024" y="877344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190024" y="877344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4">
                  <a:moveTo>
                    <a:pt x="30882" y="0"/>
                  </a:moveTo>
                  <a:lnTo>
                    <a:pt x="0" y="0"/>
                  </a:lnTo>
                </a:path>
              </a:pathLst>
            </a:custGeom>
            <a:ln w="7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307902" y="1499895"/>
              <a:ext cx="1739900" cy="730885"/>
            </a:xfrm>
            <a:custGeom>
              <a:avLst/>
              <a:gdLst/>
              <a:ahLst/>
              <a:cxnLst/>
              <a:rect l="l" t="t" r="r" b="b"/>
              <a:pathLst>
                <a:path w="1739900" h="730885">
                  <a:moveTo>
                    <a:pt x="0" y="73026"/>
                  </a:moveTo>
                  <a:lnTo>
                    <a:pt x="869952" y="730265"/>
                  </a:lnTo>
                  <a:lnTo>
                    <a:pt x="1739904" y="0"/>
                  </a:lnTo>
                </a:path>
              </a:pathLst>
            </a:custGeom>
            <a:ln w="13235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81431" y="154645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81431" y="154645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151383" y="220369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151383" y="2203691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021336" y="1473425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021336" y="1473425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307902" y="895996"/>
              <a:ext cx="1739900" cy="631190"/>
            </a:xfrm>
            <a:custGeom>
              <a:avLst/>
              <a:gdLst/>
              <a:ahLst/>
              <a:cxnLst/>
              <a:rect l="l" t="t" r="r" b="b"/>
              <a:pathLst>
                <a:path w="1739900" h="631190">
                  <a:moveTo>
                    <a:pt x="0" y="149143"/>
                  </a:moveTo>
                  <a:lnTo>
                    <a:pt x="869952" y="630836"/>
                  </a:lnTo>
                  <a:lnTo>
                    <a:pt x="1739904" y="0"/>
                  </a:lnTo>
                </a:path>
              </a:pathLst>
            </a:custGeom>
            <a:ln w="13235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81431" y="1018670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81431" y="1018670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151383" y="1500363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151383" y="1500363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021336" y="8695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021336" y="869526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40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220906" y="829288"/>
              <a:ext cx="1913889" cy="1468120"/>
            </a:xfrm>
            <a:custGeom>
              <a:avLst/>
              <a:gdLst/>
              <a:ahLst/>
              <a:cxnLst/>
              <a:rect l="l" t="t" r="r" b="b"/>
              <a:pathLst>
                <a:path w="1913889" h="1468120">
                  <a:moveTo>
                    <a:pt x="0" y="1467581"/>
                  </a:moveTo>
                  <a:lnTo>
                    <a:pt x="0" y="0"/>
                  </a:lnTo>
                </a:path>
                <a:path w="1913889" h="1468120">
                  <a:moveTo>
                    <a:pt x="0" y="1467581"/>
                  </a:moveTo>
                  <a:lnTo>
                    <a:pt x="1913895" y="1467581"/>
                  </a:lnTo>
                </a:path>
              </a:pathLst>
            </a:custGeom>
            <a:ln w="7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288406" y="2076283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5">
                  <a:moveTo>
                    <a:pt x="0" y="0"/>
                  </a:moveTo>
                  <a:lnTo>
                    <a:pt x="74999" y="0"/>
                  </a:lnTo>
                  <a:lnTo>
                    <a:pt x="149998" y="0"/>
                  </a:lnTo>
                </a:path>
              </a:pathLst>
            </a:custGeom>
            <a:ln w="13235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336935" y="2049813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33490" y="0"/>
                  </a:moveTo>
                  <a:lnTo>
                    <a:pt x="19450" y="0"/>
                  </a:lnTo>
                  <a:lnTo>
                    <a:pt x="12716" y="2789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lnTo>
                    <a:pt x="33490" y="52940"/>
                  </a:lnTo>
                  <a:lnTo>
                    <a:pt x="40223" y="50151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0223" y="2789"/>
                  </a:lnTo>
                  <a:lnTo>
                    <a:pt x="33490" y="0"/>
                  </a:lnTo>
                  <a:close/>
                </a:path>
              </a:pathLst>
            </a:custGeom>
            <a:solidFill>
              <a:srgbClr val="4C7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336935" y="2049813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26470" y="52940"/>
                  </a:moveTo>
                  <a:lnTo>
                    <a:pt x="33490" y="52940"/>
                  </a:lnTo>
                  <a:lnTo>
                    <a:pt x="40223" y="50151"/>
                  </a:lnTo>
                  <a:lnTo>
                    <a:pt x="45187" y="45187"/>
                  </a:lnTo>
                  <a:lnTo>
                    <a:pt x="50151" y="40223"/>
                  </a:lnTo>
                  <a:lnTo>
                    <a:pt x="52940" y="33490"/>
                  </a:lnTo>
                  <a:lnTo>
                    <a:pt x="52940" y="26470"/>
                  </a:lnTo>
                  <a:lnTo>
                    <a:pt x="52940" y="19450"/>
                  </a:lnTo>
                  <a:lnTo>
                    <a:pt x="50151" y="12716"/>
                  </a:lnTo>
                  <a:lnTo>
                    <a:pt x="45187" y="7752"/>
                  </a:lnTo>
                  <a:lnTo>
                    <a:pt x="40223" y="2789"/>
                  </a:lnTo>
                  <a:lnTo>
                    <a:pt x="33490" y="0"/>
                  </a:lnTo>
                  <a:lnTo>
                    <a:pt x="26470" y="0"/>
                  </a:lnTo>
                  <a:lnTo>
                    <a:pt x="19450" y="0"/>
                  </a:lnTo>
                  <a:lnTo>
                    <a:pt x="12716" y="2789"/>
                  </a:lnTo>
                  <a:lnTo>
                    <a:pt x="7752" y="7752"/>
                  </a:lnTo>
                  <a:lnTo>
                    <a:pt x="2789" y="12716"/>
                  </a:lnTo>
                  <a:lnTo>
                    <a:pt x="0" y="19450"/>
                  </a:lnTo>
                  <a:lnTo>
                    <a:pt x="0" y="26470"/>
                  </a:lnTo>
                  <a:lnTo>
                    <a:pt x="0" y="33490"/>
                  </a:lnTo>
                  <a:lnTo>
                    <a:pt x="2789" y="40223"/>
                  </a:lnTo>
                  <a:lnTo>
                    <a:pt x="7752" y="45187"/>
                  </a:lnTo>
                  <a:lnTo>
                    <a:pt x="12716" y="50151"/>
                  </a:lnTo>
                  <a:lnTo>
                    <a:pt x="19450" y="52940"/>
                  </a:lnTo>
                  <a:lnTo>
                    <a:pt x="26470" y="52940"/>
                  </a:lnTo>
                  <a:close/>
                </a:path>
              </a:pathLst>
            </a:custGeom>
            <a:ln w="8823">
              <a:solidFill>
                <a:srgbClr val="4C71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3011333" y="2080640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0.60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3011333" y="1899899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0.65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3011333" y="1719158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0.70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011333" y="1538417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0.75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3011333" y="1357676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0.80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011333" y="1176935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0.85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011333" y="996194"/>
            <a:ext cx="16002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spc="-20" dirty="0">
                <a:latin typeface="Times New Roman"/>
                <a:cs typeface="Times New Roman"/>
              </a:rPr>
              <a:t>0.90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940261" y="636972"/>
            <a:ext cx="231140" cy="2965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00" b="1" spc="-25" dirty="0">
                <a:latin typeface="Times New Roman"/>
                <a:cs typeface="Times New Roman"/>
              </a:rPr>
              <a:t>(b)</a:t>
            </a:r>
            <a:endParaRPr sz="800">
              <a:latin typeface="Times New Roman"/>
              <a:cs typeface="Times New Roman"/>
            </a:endParaRPr>
          </a:p>
          <a:p>
            <a:pPr marL="83185">
              <a:lnSpc>
                <a:spcPct val="100000"/>
              </a:lnSpc>
              <a:spcBef>
                <a:spcPts val="185"/>
              </a:spcBef>
            </a:pPr>
            <a:r>
              <a:rPr sz="600" spc="-20" dirty="0">
                <a:latin typeface="Times New Roman"/>
                <a:cs typeface="Times New Roman"/>
              </a:rPr>
              <a:t>0.95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878663" y="1449850"/>
            <a:ext cx="123189" cy="22669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700" spc="-10" dirty="0">
                <a:latin typeface="Times New Roman"/>
                <a:cs typeface="Times New Roman"/>
              </a:rPr>
              <a:t>Score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3485704" y="2014833"/>
            <a:ext cx="313055" cy="115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latin typeface="Times New Roman"/>
                <a:cs typeface="Times New Roman"/>
              </a:rPr>
              <a:t>Accuracy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3288406" y="2155143"/>
            <a:ext cx="150495" cy="62230"/>
            <a:chOff x="3288406" y="2155143"/>
            <a:chExt cx="150495" cy="62230"/>
          </a:xfrm>
        </p:grpSpPr>
        <p:sp>
          <p:nvSpPr>
            <p:cNvPr id="151" name="object 151"/>
            <p:cNvSpPr/>
            <p:nvPr/>
          </p:nvSpPr>
          <p:spPr>
            <a:xfrm>
              <a:off x="3288406" y="2186025"/>
              <a:ext cx="150495" cy="0"/>
            </a:xfrm>
            <a:custGeom>
              <a:avLst/>
              <a:gdLst/>
              <a:ahLst/>
              <a:cxnLst/>
              <a:rect l="l" t="t" r="r" b="b"/>
              <a:pathLst>
                <a:path w="150495">
                  <a:moveTo>
                    <a:pt x="0" y="0"/>
                  </a:moveTo>
                  <a:lnTo>
                    <a:pt x="74999" y="0"/>
                  </a:lnTo>
                  <a:lnTo>
                    <a:pt x="149998" y="0"/>
                  </a:lnTo>
                </a:path>
              </a:pathLst>
            </a:custGeom>
            <a:ln w="13235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336935" y="2159554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52940" y="0"/>
                  </a:moveTo>
                  <a:lnTo>
                    <a:pt x="0" y="0"/>
                  </a:lnTo>
                  <a:lnTo>
                    <a:pt x="0" y="52940"/>
                  </a:lnTo>
                  <a:lnTo>
                    <a:pt x="52940" y="52940"/>
                  </a:lnTo>
                  <a:lnTo>
                    <a:pt x="52940" y="0"/>
                  </a:lnTo>
                  <a:close/>
                </a:path>
              </a:pathLst>
            </a:custGeom>
            <a:solidFill>
              <a:srgbClr val="C44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336935" y="2159554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39" h="53339">
                  <a:moveTo>
                    <a:pt x="0" y="52940"/>
                  </a:moveTo>
                  <a:lnTo>
                    <a:pt x="52940" y="52940"/>
                  </a:lnTo>
                  <a:lnTo>
                    <a:pt x="52940" y="0"/>
                  </a:lnTo>
                  <a:lnTo>
                    <a:pt x="0" y="0"/>
                  </a:lnTo>
                  <a:lnTo>
                    <a:pt x="0" y="52940"/>
                  </a:lnTo>
                  <a:close/>
                </a:path>
              </a:pathLst>
            </a:custGeom>
            <a:ln w="8823">
              <a:solidFill>
                <a:srgbClr val="C44D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3485704" y="2124575"/>
            <a:ext cx="337185" cy="115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latin typeface="Times New Roman"/>
                <a:cs typeface="Times New Roman"/>
              </a:rPr>
              <a:t>Forgetting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17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57" name="object 157"/>
          <p:cNvSpPr txBox="1"/>
          <p:nvPr/>
        </p:nvSpPr>
        <p:spPr>
          <a:xfrm>
            <a:off x="1837016" y="3069257"/>
            <a:ext cx="208661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Tables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7–8, Section 6.4–6.5, Figure</a:t>
            </a:r>
            <a:r>
              <a:rPr sz="500" i="1" spc="-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7,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99122" y="2651787"/>
            <a:ext cx="4961890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91310" marR="5080" indent="-1579245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Forgetting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strengthens as clients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become more distinguishable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(higher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non-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IID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β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);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the pruning threshold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τ≈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0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2–0</a:t>
            </a:r>
            <a:r>
              <a:rPr sz="700" i="1" dirty="0">
                <a:solidFill>
                  <a:srgbClr val="151515"/>
                </a:solidFill>
                <a:latin typeface="Meiryo UI"/>
                <a:cs typeface="Meiryo UI"/>
              </a:rPr>
              <a:t>.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3 sits at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forgetting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peak,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motivating</a:t>
            </a:r>
            <a:r>
              <a:rPr sz="700" spc="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our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default</a:t>
            </a:r>
            <a:r>
              <a:rPr sz="700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choice.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20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EWP</a:t>
            </a:r>
            <a:r>
              <a:rPr spc="-20" dirty="0"/>
              <a:t> </a:t>
            </a:r>
            <a:r>
              <a:rPr spc="-10" dirty="0"/>
              <a:t>Outperform</a:t>
            </a:r>
            <a:r>
              <a:rPr spc="-20" dirty="0"/>
              <a:t> </a:t>
            </a:r>
            <a:r>
              <a:rPr dirty="0"/>
              <a:t>Either</a:t>
            </a:r>
            <a:r>
              <a:rPr spc="-20" dirty="0"/>
              <a:t> </a:t>
            </a:r>
            <a:r>
              <a:rPr dirty="0"/>
              <a:t>Signal</a:t>
            </a:r>
            <a:r>
              <a:rPr spc="-20" dirty="0"/>
              <a:t> </a:t>
            </a:r>
            <a:r>
              <a:rPr spc="-10" dirty="0"/>
              <a:t>Alone?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1228247"/>
            <a:ext cx="702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D91E27"/>
                </a:solidFill>
                <a:latin typeface="Arial"/>
                <a:cs typeface="Arial"/>
              </a:rPr>
              <a:t>Fisher-</a:t>
            </a:r>
            <a:r>
              <a:rPr sz="1000" b="1" spc="-20" dirty="0">
                <a:solidFill>
                  <a:srgbClr val="D91E27"/>
                </a:solidFill>
                <a:latin typeface="Arial"/>
                <a:cs typeface="Arial"/>
              </a:rPr>
              <a:t>only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93" y="1406321"/>
            <a:ext cx="1613635" cy="506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7294" y="1437744"/>
            <a:ext cx="1494155" cy="3346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Removes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client-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sensitive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parameters,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but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some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sit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inside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highly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entangling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gates,</a:t>
            </a:r>
            <a:r>
              <a:rPr sz="700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damaging</a:t>
            </a:r>
            <a:r>
              <a:rPr sz="700" b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shared</a:t>
            </a:r>
            <a:r>
              <a:rPr sz="700" b="1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structure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1286" y="1225529"/>
            <a:ext cx="1162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Entanglement-</a:t>
            </a: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only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3185" y="1405559"/>
            <a:ext cx="1613635" cy="506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85886" y="1436982"/>
            <a:ext cx="1521460" cy="3346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 marR="30480">
              <a:lnSpc>
                <a:spcPts val="800"/>
              </a:lnSpc>
              <a:spcBef>
                <a:spcPts val="155"/>
              </a:spcBef>
            </a:pP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Removes</a:t>
            </a:r>
            <a:r>
              <a:rPr sz="700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weakly-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entangling</a:t>
            </a:r>
            <a:r>
              <a:rPr sz="700" spc="3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gates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regardless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sz="700" b="1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relevance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7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spc="40" dirty="0">
                <a:solidFill>
                  <a:srgbClr val="151515"/>
                </a:solidFill>
                <a:latin typeface="Arial"/>
                <a:cs typeface="Arial"/>
              </a:rPr>
              <a:t>j</a:t>
            </a:r>
            <a:r>
              <a:rPr sz="750" i="1" spc="60" baseline="33333" dirty="0">
                <a:solidFill>
                  <a:srgbClr val="151515"/>
                </a:solidFill>
                <a:latin typeface="Meiryo UI"/>
                <a:cs typeface="Meiryo UI"/>
              </a:rPr>
              <a:t>′</a:t>
            </a:r>
            <a:r>
              <a:rPr sz="700" i="1" spc="40" dirty="0">
                <a:solidFill>
                  <a:srgbClr val="151515"/>
                </a:solidFill>
                <a:latin typeface="Arial"/>
                <a:cs typeface="Arial"/>
              </a:rPr>
              <a:t>s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unreliable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forgetting.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7177" y="1399108"/>
            <a:ext cx="1613635" cy="506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75278" y="1156171"/>
            <a:ext cx="1370965" cy="4064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00" b="1" spc="-10" dirty="0">
                <a:solidFill>
                  <a:srgbClr val="24A047"/>
                </a:solidFill>
                <a:latin typeface="Arial"/>
                <a:cs typeface="Arial"/>
              </a:rPr>
              <a:t>QFL-</a:t>
            </a:r>
            <a:r>
              <a:rPr sz="1000" b="1" spc="-25" dirty="0">
                <a:solidFill>
                  <a:srgbClr val="24A047"/>
                </a:solidFill>
                <a:latin typeface="Arial"/>
                <a:cs typeface="Arial"/>
              </a:rPr>
              <a:t>EWP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Prunes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only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when</a:t>
            </a:r>
            <a:r>
              <a:rPr sz="7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151515"/>
                </a:solidFill>
                <a:latin typeface="Arial"/>
                <a:cs typeface="Arial"/>
              </a:rPr>
              <a:t>both</a:t>
            </a:r>
            <a:r>
              <a:rPr sz="700" b="1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conditions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18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19045" y="3070006"/>
            <a:ext cx="17221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 7.1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(Discussion),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5278" y="1531749"/>
            <a:ext cx="1320165" cy="233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hold:</a:t>
            </a:r>
            <a:r>
              <a:rPr sz="700" spc="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low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structural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cost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700" i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high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client-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specific</a:t>
            </a:r>
            <a:r>
              <a:rPr sz="700" spc="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sensitivity.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369" y="1955443"/>
            <a:ext cx="30499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151515"/>
                </a:solidFill>
                <a:latin typeface="Arial"/>
                <a:cs typeface="Arial"/>
              </a:rPr>
              <a:t>Balancing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both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signals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is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what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makes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51515"/>
                </a:solidFill>
                <a:latin typeface="Arial"/>
                <a:cs typeface="Arial"/>
              </a:rPr>
              <a:t>EWP</a:t>
            </a:r>
            <a:r>
              <a:rPr sz="11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151515"/>
                </a:solidFill>
                <a:latin typeface="Arial"/>
                <a:cs typeface="Arial"/>
              </a:rPr>
              <a:t>work.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Contributions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5260" marR="30480" indent="-137795">
              <a:lnSpc>
                <a:spcPct val="101000"/>
              </a:lnSpc>
              <a:spcBef>
                <a:spcPts val="8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25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b="1" dirty="0">
                <a:latin typeface="Arial"/>
                <a:cs typeface="Arial"/>
              </a:rPr>
              <a:t>Novel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pruning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score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dirty="0"/>
              <a:t>combining</a:t>
            </a:r>
            <a:r>
              <a:rPr sz="900" spc="-35" dirty="0"/>
              <a:t> </a:t>
            </a:r>
            <a:r>
              <a:rPr sz="900" spc="-10" dirty="0"/>
              <a:t>quantum </a:t>
            </a:r>
            <a:r>
              <a:rPr sz="900" dirty="0"/>
              <a:t>Fisher</a:t>
            </a:r>
            <a:r>
              <a:rPr sz="900" spc="-35" dirty="0"/>
              <a:t> </a:t>
            </a:r>
            <a:r>
              <a:rPr sz="900" dirty="0"/>
              <a:t>sensitivity</a:t>
            </a:r>
            <a:r>
              <a:rPr sz="900" spc="-30" dirty="0"/>
              <a:t> </a:t>
            </a:r>
            <a:r>
              <a:rPr sz="900" dirty="0"/>
              <a:t>with</a:t>
            </a:r>
            <a:r>
              <a:rPr sz="900" spc="-30" dirty="0"/>
              <a:t> </a:t>
            </a:r>
            <a:r>
              <a:rPr sz="900" spc="-10" dirty="0"/>
              <a:t>entanglement structure</a:t>
            </a:r>
            <a:endParaRPr sz="900">
              <a:latin typeface="Arial"/>
              <a:cs typeface="Arial"/>
            </a:endParaRPr>
          </a:p>
          <a:p>
            <a:pPr marR="570865" algn="r">
              <a:lnSpc>
                <a:spcPct val="100000"/>
              </a:lnSpc>
              <a:spcBef>
                <a:spcPts val="310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62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b="1" dirty="0">
                <a:latin typeface="Arial"/>
                <a:cs typeface="Arial"/>
              </a:rPr>
              <a:t>Formal,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hardware-compatible</a:t>
            </a:r>
            <a:endParaRPr sz="900">
              <a:latin typeface="Arial"/>
              <a:cs typeface="Arial"/>
            </a:endParaRPr>
          </a:p>
          <a:p>
            <a:pPr marR="573405" algn="r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parameter-</a:t>
            </a:r>
            <a:r>
              <a:rPr dirty="0"/>
              <a:t>shift</a:t>
            </a:r>
            <a:r>
              <a:rPr spc="-5" dirty="0"/>
              <a:t> </a:t>
            </a:r>
            <a:r>
              <a:rPr dirty="0"/>
              <a:t>QFIM </a:t>
            </a:r>
            <a:r>
              <a:rPr spc="-10" dirty="0"/>
              <a:t>estimator</a:t>
            </a:r>
          </a:p>
          <a:p>
            <a:pPr marL="175260" marR="308610" indent="-137795">
              <a:lnSpc>
                <a:spcPct val="101000"/>
              </a:lnSpc>
              <a:spcBef>
                <a:spcPts val="300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54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b="1" dirty="0">
                <a:latin typeface="Arial"/>
                <a:cs typeface="Arial"/>
              </a:rPr>
              <a:t>Full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open-</a:t>
            </a:r>
            <a:r>
              <a:rPr sz="900" b="1" dirty="0">
                <a:latin typeface="Arial"/>
                <a:cs typeface="Arial"/>
              </a:rPr>
              <a:t>source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pipeline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dirty="0"/>
              <a:t>in</a:t>
            </a:r>
            <a:r>
              <a:rPr sz="900" spc="-25" dirty="0"/>
              <a:t> </a:t>
            </a:r>
            <a:r>
              <a:rPr sz="900" spc="-10" dirty="0"/>
              <a:t>Qiskit, end-to-</a:t>
            </a:r>
            <a:r>
              <a:rPr sz="900" dirty="0"/>
              <a:t>end</a:t>
            </a:r>
            <a:r>
              <a:rPr sz="900" spc="20" dirty="0"/>
              <a:t> </a:t>
            </a:r>
            <a:r>
              <a:rPr sz="900" spc="-10" dirty="0"/>
              <a:t>reproducible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9541" y="889312"/>
            <a:ext cx="2175510" cy="9309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5260" marR="179070" indent="-137795">
              <a:lnSpc>
                <a:spcPct val="101000"/>
              </a:lnSpc>
              <a:spcBef>
                <a:spcPts val="8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77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b="1" spc="50" dirty="0">
                <a:solidFill>
                  <a:srgbClr val="151515"/>
                </a:solidFill>
                <a:latin typeface="Arial"/>
                <a:cs typeface="Arial"/>
              </a:rPr>
              <a:t>16.4</a:t>
            </a:r>
            <a:r>
              <a:rPr sz="900" i="1" spc="50" dirty="0">
                <a:solidFill>
                  <a:srgbClr val="151515"/>
                </a:solidFill>
                <a:latin typeface="Source Sans 3"/>
                <a:cs typeface="Source Sans 3"/>
              </a:rPr>
              <a:t>×</a:t>
            </a:r>
            <a:r>
              <a:rPr sz="900" i="1" spc="55" dirty="0">
                <a:solidFill>
                  <a:srgbClr val="151515"/>
                </a:solidFill>
                <a:latin typeface="Source Sans 3"/>
                <a:cs typeface="Source Sans 3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speed-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up</a:t>
            </a:r>
            <a:r>
              <a:rPr sz="900" b="1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over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full</a:t>
            </a:r>
            <a:r>
              <a:rPr sz="900" spc="-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retraining, oracle-level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utility</a:t>
            </a:r>
            <a:endParaRPr sz="900">
              <a:latin typeface="Arial"/>
              <a:cs typeface="Arial"/>
            </a:endParaRPr>
          </a:p>
          <a:p>
            <a:pPr marL="175260" marR="30480" indent="-137795">
              <a:lnSpc>
                <a:spcPct val="101000"/>
              </a:lnSpc>
              <a:spcBef>
                <a:spcPts val="300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315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Rigorous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benchmarking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against </a:t>
            </a:r>
            <a:r>
              <a:rPr sz="900" spc="-50" dirty="0">
                <a:solidFill>
                  <a:srgbClr val="151515"/>
                </a:solidFill>
                <a:latin typeface="Arial"/>
                <a:cs typeface="Arial"/>
              </a:rPr>
              <a:t>5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 baselines</a:t>
            </a:r>
            <a:r>
              <a:rPr sz="9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with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paired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significance</a:t>
            </a:r>
            <a:r>
              <a:rPr sz="9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tests</a:t>
            </a:r>
            <a:endParaRPr sz="900">
              <a:latin typeface="Arial"/>
              <a:cs typeface="Arial"/>
            </a:endParaRPr>
          </a:p>
          <a:p>
            <a:pPr marL="175260" marR="106680" indent="-137795">
              <a:lnSpc>
                <a:spcPct val="101000"/>
              </a:lnSpc>
              <a:spcBef>
                <a:spcPts val="295"/>
              </a:spcBef>
            </a:pPr>
            <a:r>
              <a:rPr sz="1200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▶</a:t>
            </a:r>
            <a:r>
              <a:rPr sz="1200" spc="209" baseline="6944" dirty="0">
                <a:solidFill>
                  <a:srgbClr val="0E61FE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Ablations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over</a:t>
            </a:r>
            <a:r>
              <a:rPr sz="9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threshold,</a:t>
            </a:r>
            <a:r>
              <a:rPr sz="900" spc="-4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client</a:t>
            </a:r>
            <a:r>
              <a:rPr sz="900" spc="-3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count, non-</a:t>
            </a: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IID</a:t>
            </a:r>
            <a:r>
              <a:rPr sz="9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151515"/>
                </a:solidFill>
                <a:latin typeface="Arial"/>
                <a:cs typeface="Arial"/>
              </a:rPr>
              <a:t>strength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2385" y="2161445"/>
            <a:ext cx="4335780" cy="327025"/>
            <a:chOff x="712385" y="2161445"/>
            <a:chExt cx="4335780" cy="327025"/>
          </a:xfrm>
        </p:grpSpPr>
        <p:sp>
          <p:nvSpPr>
            <p:cNvPr id="7" name="object 7"/>
            <p:cNvSpPr/>
            <p:nvPr/>
          </p:nvSpPr>
          <p:spPr>
            <a:xfrm>
              <a:off x="719976" y="2169037"/>
              <a:ext cx="4320540" cy="311785"/>
            </a:xfrm>
            <a:custGeom>
              <a:avLst/>
              <a:gdLst/>
              <a:ahLst/>
              <a:cxnLst/>
              <a:rect l="l" t="t" r="r" b="b"/>
              <a:pathLst>
                <a:path w="4320540" h="311785">
                  <a:moveTo>
                    <a:pt x="426944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0886"/>
                  </a:lnTo>
                  <a:lnTo>
                    <a:pt x="3977" y="280586"/>
                  </a:lnTo>
                  <a:lnTo>
                    <a:pt x="14823" y="296673"/>
                  </a:lnTo>
                  <a:lnTo>
                    <a:pt x="30910" y="307519"/>
                  </a:lnTo>
                  <a:lnTo>
                    <a:pt x="50610" y="311496"/>
                  </a:lnTo>
                  <a:lnTo>
                    <a:pt x="4269444" y="311496"/>
                  </a:lnTo>
                  <a:lnTo>
                    <a:pt x="4289144" y="307519"/>
                  </a:lnTo>
                  <a:lnTo>
                    <a:pt x="4305231" y="296673"/>
                  </a:lnTo>
                  <a:lnTo>
                    <a:pt x="4316078" y="280586"/>
                  </a:lnTo>
                  <a:lnTo>
                    <a:pt x="4320055" y="260886"/>
                  </a:lnTo>
                  <a:lnTo>
                    <a:pt x="4320055" y="50610"/>
                  </a:lnTo>
                  <a:lnTo>
                    <a:pt x="4316078" y="30910"/>
                  </a:lnTo>
                  <a:lnTo>
                    <a:pt x="4305231" y="14823"/>
                  </a:lnTo>
                  <a:lnTo>
                    <a:pt x="4289144" y="3977"/>
                  </a:lnTo>
                  <a:lnTo>
                    <a:pt x="4269444" y="0"/>
                  </a:lnTo>
                  <a:close/>
                </a:path>
              </a:pathLst>
            </a:custGeom>
            <a:solidFill>
              <a:srgbClr val="F3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9976" y="2169037"/>
              <a:ext cx="4320540" cy="311785"/>
            </a:xfrm>
            <a:custGeom>
              <a:avLst/>
              <a:gdLst/>
              <a:ahLst/>
              <a:cxnLst/>
              <a:rect l="l" t="t" r="r" b="b"/>
              <a:pathLst>
                <a:path w="4320540" h="311785">
                  <a:moveTo>
                    <a:pt x="426944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60886"/>
                  </a:lnTo>
                  <a:lnTo>
                    <a:pt x="3977" y="280586"/>
                  </a:lnTo>
                  <a:lnTo>
                    <a:pt x="14823" y="296673"/>
                  </a:lnTo>
                  <a:lnTo>
                    <a:pt x="30910" y="307519"/>
                  </a:lnTo>
                  <a:lnTo>
                    <a:pt x="50610" y="311496"/>
                  </a:lnTo>
                  <a:lnTo>
                    <a:pt x="4269444" y="311496"/>
                  </a:lnTo>
                  <a:lnTo>
                    <a:pt x="4289144" y="307519"/>
                  </a:lnTo>
                  <a:lnTo>
                    <a:pt x="4305231" y="296673"/>
                  </a:lnTo>
                  <a:lnTo>
                    <a:pt x="4316078" y="280586"/>
                  </a:lnTo>
                  <a:lnTo>
                    <a:pt x="4320055" y="260886"/>
                  </a:lnTo>
                  <a:lnTo>
                    <a:pt x="4320055" y="50610"/>
                  </a:lnTo>
                  <a:lnTo>
                    <a:pt x="4316078" y="30910"/>
                  </a:lnTo>
                  <a:lnTo>
                    <a:pt x="4305231" y="14823"/>
                  </a:lnTo>
                  <a:lnTo>
                    <a:pt x="4289144" y="3977"/>
                  </a:lnTo>
                  <a:lnTo>
                    <a:pt x="4269444" y="0"/>
                  </a:lnTo>
                  <a:close/>
                </a:path>
              </a:pathLst>
            </a:custGeom>
            <a:ln w="1518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29556" y="2227435"/>
            <a:ext cx="43014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151515"/>
                </a:solidFill>
                <a:latin typeface="Arial"/>
                <a:cs typeface="Arial"/>
              </a:rPr>
              <a:t>Code:</a:t>
            </a:r>
            <a:r>
              <a:rPr sz="900" spc="200" dirty="0">
                <a:solidFill>
                  <a:srgbClr val="151515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0E61FE"/>
                </a:solidFill>
                <a:latin typeface="Georgia"/>
                <a:cs typeface="Georgia"/>
                <a:hlinkClick r:id="rId3"/>
              </a:rPr>
              <a:t>github.com/Sumitchongder/dew-p-qfl-</a:t>
            </a:r>
            <a:r>
              <a:rPr sz="900" spc="-10" dirty="0">
                <a:solidFill>
                  <a:srgbClr val="0E61FE"/>
                </a:solidFill>
                <a:latin typeface="Georgia"/>
                <a:cs typeface="Georgia"/>
                <a:hlinkClick r:id="rId3"/>
              </a:rPr>
              <a:t>unlearning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19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99044" y="3070006"/>
            <a:ext cx="23622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 8 (Conclusion)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&amp; Data/Code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Availability,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26067" y="806364"/>
            <a:ext cx="2174240" cy="734060"/>
            <a:chOff x="526067" y="806364"/>
            <a:chExt cx="2174240" cy="734060"/>
          </a:xfrm>
        </p:grpSpPr>
        <p:sp>
          <p:nvSpPr>
            <p:cNvPr id="5" name="object 5"/>
            <p:cNvSpPr/>
            <p:nvPr/>
          </p:nvSpPr>
          <p:spPr>
            <a:xfrm>
              <a:off x="533025" y="813323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7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7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solidFill>
              <a:srgbClr val="E2EC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025" y="813323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7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7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ln w="13917">
              <a:solidFill>
                <a:srgbClr val="0E61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1973" y="859716"/>
            <a:ext cx="2142490" cy="5270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900" b="1" dirty="0">
                <a:solidFill>
                  <a:srgbClr val="0E61FE"/>
                </a:solidFill>
                <a:latin typeface="Arial"/>
                <a:cs typeface="Arial"/>
              </a:rPr>
              <a:t>Real</a:t>
            </a:r>
            <a:r>
              <a:rPr sz="900" b="1" spc="2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E61FE"/>
                </a:solidFill>
                <a:latin typeface="Arial"/>
                <a:cs typeface="Arial"/>
              </a:rPr>
              <a:t>NISQ</a:t>
            </a:r>
            <a:r>
              <a:rPr sz="900" b="1" spc="2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E61FE"/>
                </a:solidFill>
                <a:latin typeface="Arial"/>
                <a:cs typeface="Arial"/>
              </a:rPr>
              <a:t>Hardware</a:t>
            </a:r>
            <a:endParaRPr sz="900">
              <a:latin typeface="Arial"/>
              <a:cs typeface="Arial"/>
            </a:endParaRPr>
          </a:p>
          <a:p>
            <a:pPr marL="129539" marR="121920" algn="ctr">
              <a:lnSpc>
                <a:spcPct val="129900"/>
              </a:lnSpc>
              <a:spcBef>
                <a:spcPts val="160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Validate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EWP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under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realistic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device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noise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on</a:t>
            </a:r>
            <a:r>
              <a:rPr sz="700" spc="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superconducting</a:t>
            </a:r>
            <a:r>
              <a:rPr sz="700" spc="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/</a:t>
            </a:r>
            <a:r>
              <a:rPr sz="700" spc="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trapped-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ion</a:t>
            </a:r>
            <a:r>
              <a:rPr sz="700" spc="10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backends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60016" y="806364"/>
            <a:ext cx="2174240" cy="734060"/>
            <a:chOff x="3060016" y="806364"/>
            <a:chExt cx="2174240" cy="734060"/>
          </a:xfrm>
        </p:grpSpPr>
        <p:sp>
          <p:nvSpPr>
            <p:cNvPr id="9" name="object 9"/>
            <p:cNvSpPr/>
            <p:nvPr/>
          </p:nvSpPr>
          <p:spPr>
            <a:xfrm>
              <a:off x="3066975" y="813323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7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7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solidFill>
              <a:srgbClr val="ECE5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66975" y="813323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7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7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ln w="13917">
              <a:solidFill>
                <a:srgbClr val="6828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75923" y="860250"/>
            <a:ext cx="2142490" cy="5270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900" b="1" dirty="0">
                <a:solidFill>
                  <a:srgbClr val="6828C4"/>
                </a:solidFill>
                <a:latin typeface="Arial"/>
                <a:cs typeface="Arial"/>
              </a:rPr>
              <a:t>Richer</a:t>
            </a:r>
            <a:r>
              <a:rPr sz="900" b="1" spc="10" dirty="0">
                <a:solidFill>
                  <a:srgbClr val="6828C4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828C4"/>
                </a:solidFill>
                <a:latin typeface="Arial"/>
                <a:cs typeface="Arial"/>
              </a:rPr>
              <a:t>QFIM</a:t>
            </a:r>
            <a:r>
              <a:rPr sz="900" b="1" spc="15" dirty="0">
                <a:solidFill>
                  <a:srgbClr val="6828C4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828C4"/>
                </a:solidFill>
                <a:latin typeface="Arial"/>
                <a:cs typeface="Arial"/>
              </a:rPr>
              <a:t>Structure</a:t>
            </a:r>
            <a:endParaRPr sz="900">
              <a:latin typeface="Arial"/>
              <a:cs typeface="Arial"/>
            </a:endParaRPr>
          </a:p>
          <a:p>
            <a:pPr marL="147320" marR="140335" indent="-635" algn="ctr">
              <a:lnSpc>
                <a:spcPct val="129900"/>
              </a:lnSpc>
              <a:spcBef>
                <a:spcPts val="160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Incorporate</a:t>
            </a:r>
            <a:r>
              <a:rPr sz="700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off-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diagonal</a:t>
            </a:r>
            <a:r>
              <a:rPr sz="700" spc="10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/</a:t>
            </a:r>
            <a:r>
              <a:rPr sz="700" spc="10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low-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rank</a:t>
            </a:r>
            <a:r>
              <a:rPr sz="700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QFIM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terms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capture</a:t>
            </a:r>
            <a:r>
              <a:rPr sz="700" spc="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cross-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parameter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correlations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6067" y="1900295"/>
            <a:ext cx="2174240" cy="734060"/>
            <a:chOff x="526067" y="1900295"/>
            <a:chExt cx="2174240" cy="734060"/>
          </a:xfrm>
        </p:grpSpPr>
        <p:sp>
          <p:nvSpPr>
            <p:cNvPr id="13" name="object 13"/>
            <p:cNvSpPr/>
            <p:nvPr/>
          </p:nvSpPr>
          <p:spPr>
            <a:xfrm>
              <a:off x="533025" y="1907254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89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8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8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solidFill>
              <a:srgbClr val="E4F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025" y="1907254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89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8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8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ln w="13917">
              <a:solidFill>
                <a:srgbClr val="24A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1973" y="1953631"/>
            <a:ext cx="2142490" cy="5270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900" b="1" spc="-10" dirty="0">
                <a:solidFill>
                  <a:srgbClr val="24A047"/>
                </a:solidFill>
                <a:latin typeface="Arial"/>
                <a:cs typeface="Arial"/>
              </a:rPr>
              <a:t>Secure-</a:t>
            </a:r>
            <a:r>
              <a:rPr sz="900" b="1" dirty="0">
                <a:solidFill>
                  <a:srgbClr val="24A047"/>
                </a:solidFill>
                <a:latin typeface="Arial"/>
                <a:cs typeface="Arial"/>
              </a:rPr>
              <a:t>Aggregation</a:t>
            </a:r>
            <a:r>
              <a:rPr sz="900" b="1" spc="15" dirty="0">
                <a:solidFill>
                  <a:srgbClr val="24A047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4A047"/>
                </a:solidFill>
                <a:latin typeface="Arial"/>
                <a:cs typeface="Arial"/>
              </a:rPr>
              <a:t>QFIM</a:t>
            </a:r>
            <a:endParaRPr sz="900">
              <a:latin typeface="Arial"/>
              <a:cs typeface="Arial"/>
            </a:endParaRPr>
          </a:p>
          <a:p>
            <a:pPr marL="187960" marR="180340" algn="ctr">
              <a:lnSpc>
                <a:spcPct val="129900"/>
              </a:lnSpc>
              <a:spcBef>
                <a:spcPts val="160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Combine</a:t>
            </a:r>
            <a:r>
              <a:rPr sz="700" spc="8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client-side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QFIM</a:t>
            </a:r>
            <a:r>
              <a:rPr sz="700" spc="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computation</a:t>
            </a:r>
            <a:r>
              <a:rPr sz="700" spc="9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with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secure</a:t>
            </a:r>
            <a:r>
              <a:rPr sz="700" spc="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aggregation</a:t>
            </a:r>
            <a:r>
              <a:rPr sz="700" spc="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700" spc="8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stronger</a:t>
            </a:r>
            <a:r>
              <a:rPr sz="700" spc="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privacy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60016" y="1900295"/>
            <a:ext cx="2174240" cy="734060"/>
            <a:chOff x="3060016" y="1900295"/>
            <a:chExt cx="2174240" cy="734060"/>
          </a:xfrm>
        </p:grpSpPr>
        <p:sp>
          <p:nvSpPr>
            <p:cNvPr id="17" name="object 17"/>
            <p:cNvSpPr/>
            <p:nvPr/>
          </p:nvSpPr>
          <p:spPr>
            <a:xfrm>
              <a:off x="3066975" y="1907254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89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8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8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solidFill>
              <a:srgbClr val="F5E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6975" y="1907254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89">
                  <a:moveTo>
                    <a:pt x="210941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669398"/>
                  </a:lnTo>
                  <a:lnTo>
                    <a:pt x="3977" y="689098"/>
                  </a:lnTo>
                  <a:lnTo>
                    <a:pt x="14823" y="705185"/>
                  </a:lnTo>
                  <a:lnTo>
                    <a:pt x="30910" y="716031"/>
                  </a:lnTo>
                  <a:lnTo>
                    <a:pt x="50610" y="720008"/>
                  </a:lnTo>
                  <a:lnTo>
                    <a:pt x="2109416" y="720008"/>
                  </a:lnTo>
                  <a:lnTo>
                    <a:pt x="2129116" y="716031"/>
                  </a:lnTo>
                  <a:lnTo>
                    <a:pt x="2145204" y="705185"/>
                  </a:lnTo>
                  <a:lnTo>
                    <a:pt x="2156050" y="689098"/>
                  </a:lnTo>
                  <a:lnTo>
                    <a:pt x="2160027" y="669398"/>
                  </a:lnTo>
                  <a:lnTo>
                    <a:pt x="2160027" y="50610"/>
                  </a:lnTo>
                  <a:lnTo>
                    <a:pt x="2156050" y="30910"/>
                  </a:lnTo>
                  <a:lnTo>
                    <a:pt x="2145204" y="14823"/>
                  </a:lnTo>
                  <a:lnTo>
                    <a:pt x="2129116" y="3977"/>
                  </a:lnTo>
                  <a:lnTo>
                    <a:pt x="2109416" y="0"/>
                  </a:lnTo>
                  <a:close/>
                </a:path>
              </a:pathLst>
            </a:custGeom>
            <a:ln w="13917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75923" y="1954164"/>
            <a:ext cx="2142490" cy="5270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Scale</a:t>
            </a:r>
            <a:r>
              <a:rPr sz="900" b="1" spc="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&amp;</a:t>
            </a:r>
            <a:r>
              <a:rPr sz="900" b="1" spc="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51515"/>
                </a:solidFill>
                <a:latin typeface="Arial"/>
                <a:cs typeface="Arial"/>
              </a:rPr>
              <a:t>Real-</a:t>
            </a:r>
            <a:r>
              <a:rPr sz="900" b="1" dirty="0">
                <a:solidFill>
                  <a:srgbClr val="151515"/>
                </a:solidFill>
                <a:latin typeface="Arial"/>
                <a:cs typeface="Arial"/>
              </a:rPr>
              <a:t>World</a:t>
            </a:r>
            <a:r>
              <a:rPr sz="900" b="1" spc="1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151515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112395" marR="104775" indent="-635" algn="ctr">
              <a:lnSpc>
                <a:spcPct val="129900"/>
              </a:lnSpc>
              <a:spcBef>
                <a:spcPts val="160"/>
              </a:spcBef>
            </a:pP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Larger</a:t>
            </a:r>
            <a:r>
              <a:rPr sz="700" spc="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federations,</a:t>
            </a:r>
            <a:r>
              <a:rPr sz="700" spc="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deeper</a:t>
            </a:r>
            <a:r>
              <a:rPr sz="700" spc="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circuits,</a:t>
            </a:r>
            <a:r>
              <a:rPr sz="700" spc="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sz="700" spc="5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anonymised</a:t>
            </a:r>
            <a:r>
              <a:rPr sz="700" spc="114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151515"/>
                </a:solidFill>
                <a:latin typeface="Arial"/>
                <a:cs typeface="Arial"/>
              </a:rPr>
              <a:t>industry-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sourced</a:t>
            </a:r>
            <a:r>
              <a:rPr sz="700" spc="1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151515"/>
                </a:solidFill>
                <a:latin typeface="Arial"/>
                <a:cs typeface="Arial"/>
              </a:rPr>
              <a:t>supply-chain</a:t>
            </a:r>
            <a:r>
              <a:rPr sz="700" spc="1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151515"/>
                </a:solidFill>
                <a:latin typeface="Arial"/>
                <a:cs typeface="Arial"/>
              </a:rPr>
              <a:t>data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20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98433" y="3070006"/>
            <a:ext cx="176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Section 7.4 (Future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Work),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QFL-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EWP</a:t>
            </a:r>
            <a:r>
              <a:rPr sz="500" i="1" spc="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Technical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 Report 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(2026)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Paper</a:t>
            </a:r>
            <a:r>
              <a:rPr spc="-40" dirty="0"/>
              <a:t> </a:t>
            </a:r>
            <a:r>
              <a:rPr dirty="0"/>
              <a:t>Submitted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arXiv</a:t>
            </a:r>
          </a:p>
        </p:txBody>
      </p:sp>
      <p:sp>
        <p:nvSpPr>
          <p:cNvPr id="3" name="object 3"/>
          <p:cNvSpPr/>
          <p:nvPr/>
        </p:nvSpPr>
        <p:spPr>
          <a:xfrm>
            <a:off x="540004" y="519645"/>
            <a:ext cx="1152525" cy="20320"/>
          </a:xfrm>
          <a:custGeom>
            <a:avLst/>
            <a:gdLst/>
            <a:ahLst/>
            <a:cxnLst/>
            <a:rect l="l" t="t" r="r" b="b"/>
            <a:pathLst>
              <a:path w="1152525" h="20320">
                <a:moveTo>
                  <a:pt x="1152004" y="0"/>
                </a:moveTo>
                <a:lnTo>
                  <a:pt x="0" y="0"/>
                </a:lnTo>
                <a:lnTo>
                  <a:pt x="0" y="20243"/>
                </a:lnTo>
                <a:lnTo>
                  <a:pt x="1152004" y="20243"/>
                </a:lnTo>
                <a:lnTo>
                  <a:pt x="1152004" y="0"/>
                </a:lnTo>
                <a:close/>
              </a:path>
            </a:pathLst>
          </a:custGeom>
          <a:solidFill>
            <a:srgbClr val="C9A1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259275" y="644260"/>
            <a:ext cx="3241675" cy="1898650"/>
            <a:chOff x="1259275" y="644260"/>
            <a:chExt cx="3241675" cy="1898650"/>
          </a:xfrm>
        </p:grpSpPr>
        <p:sp>
          <p:nvSpPr>
            <p:cNvPr id="5" name="object 5"/>
            <p:cNvSpPr/>
            <p:nvPr/>
          </p:nvSpPr>
          <p:spPr>
            <a:xfrm>
              <a:off x="1266867" y="651852"/>
              <a:ext cx="3226435" cy="1883410"/>
            </a:xfrm>
            <a:custGeom>
              <a:avLst/>
              <a:gdLst/>
              <a:ahLst/>
              <a:cxnLst/>
              <a:rect l="l" t="t" r="r" b="b"/>
              <a:pathLst>
                <a:path w="3226435" h="1883410">
                  <a:moveTo>
                    <a:pt x="316301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1819918"/>
                  </a:lnTo>
                  <a:lnTo>
                    <a:pt x="4971" y="1844543"/>
                  </a:lnTo>
                  <a:lnTo>
                    <a:pt x="18529" y="1864652"/>
                  </a:lnTo>
                  <a:lnTo>
                    <a:pt x="38638" y="1878210"/>
                  </a:lnTo>
                  <a:lnTo>
                    <a:pt x="63263" y="1883181"/>
                  </a:lnTo>
                  <a:lnTo>
                    <a:pt x="3163011" y="1883181"/>
                  </a:lnTo>
                  <a:lnTo>
                    <a:pt x="3187636" y="1878210"/>
                  </a:lnTo>
                  <a:lnTo>
                    <a:pt x="3207745" y="1864652"/>
                  </a:lnTo>
                  <a:lnTo>
                    <a:pt x="3221303" y="1844543"/>
                  </a:lnTo>
                  <a:lnTo>
                    <a:pt x="3226274" y="1819918"/>
                  </a:lnTo>
                  <a:lnTo>
                    <a:pt x="3226274" y="63263"/>
                  </a:lnTo>
                  <a:lnTo>
                    <a:pt x="3221303" y="38638"/>
                  </a:lnTo>
                  <a:lnTo>
                    <a:pt x="3207745" y="18529"/>
                  </a:lnTo>
                  <a:lnTo>
                    <a:pt x="3187636" y="4971"/>
                  </a:lnTo>
                  <a:lnTo>
                    <a:pt x="3163011" y="0"/>
                  </a:lnTo>
                  <a:close/>
                </a:path>
              </a:pathLst>
            </a:custGeom>
            <a:solidFill>
              <a:srgbClr val="F3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6867" y="651852"/>
              <a:ext cx="3226435" cy="1883410"/>
            </a:xfrm>
            <a:custGeom>
              <a:avLst/>
              <a:gdLst/>
              <a:ahLst/>
              <a:cxnLst/>
              <a:rect l="l" t="t" r="r" b="b"/>
              <a:pathLst>
                <a:path w="3226435" h="1883410">
                  <a:moveTo>
                    <a:pt x="316301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1819918"/>
                  </a:lnTo>
                  <a:lnTo>
                    <a:pt x="4971" y="1844543"/>
                  </a:lnTo>
                  <a:lnTo>
                    <a:pt x="18529" y="1864652"/>
                  </a:lnTo>
                  <a:lnTo>
                    <a:pt x="38638" y="1878210"/>
                  </a:lnTo>
                  <a:lnTo>
                    <a:pt x="63263" y="1883181"/>
                  </a:lnTo>
                  <a:lnTo>
                    <a:pt x="3163011" y="1883181"/>
                  </a:lnTo>
                  <a:lnTo>
                    <a:pt x="3187636" y="1878210"/>
                  </a:lnTo>
                  <a:lnTo>
                    <a:pt x="3207745" y="1864652"/>
                  </a:lnTo>
                  <a:lnTo>
                    <a:pt x="3221303" y="1844543"/>
                  </a:lnTo>
                  <a:lnTo>
                    <a:pt x="3226274" y="1819918"/>
                  </a:lnTo>
                  <a:lnTo>
                    <a:pt x="3226274" y="63263"/>
                  </a:lnTo>
                  <a:lnTo>
                    <a:pt x="3221303" y="38638"/>
                  </a:lnTo>
                  <a:lnTo>
                    <a:pt x="3207745" y="18529"/>
                  </a:lnTo>
                  <a:lnTo>
                    <a:pt x="3187636" y="4971"/>
                  </a:lnTo>
                  <a:lnTo>
                    <a:pt x="3163011" y="0"/>
                  </a:lnTo>
                  <a:close/>
                </a:path>
              </a:pathLst>
            </a:custGeom>
            <a:ln w="15183">
              <a:solidFill>
                <a:srgbClr val="C9A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2796" y="727700"/>
              <a:ext cx="3074433" cy="1731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4771" y="2707048"/>
            <a:ext cx="49911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Our</a:t>
            </a:r>
            <a:r>
              <a:rPr sz="10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full</a:t>
            </a:r>
            <a:r>
              <a:rPr sz="10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technical</a:t>
            </a:r>
            <a:r>
              <a:rPr sz="10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report,</a:t>
            </a:r>
            <a:r>
              <a:rPr sz="10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“Dynamic</a:t>
            </a: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 Entanglement-Weighted</a:t>
            </a:r>
            <a:r>
              <a:rPr sz="1000" b="1" spc="-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Pruning</a:t>
            </a:r>
            <a:r>
              <a:rPr sz="1000" b="1" spc="-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for</a:t>
            </a:r>
            <a:r>
              <a:rPr sz="1000" b="1" spc="-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Quantum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Federated</a:t>
            </a:r>
            <a:r>
              <a:rPr sz="1000" b="1" spc="-2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Unlearning</a:t>
            </a: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in</a:t>
            </a:r>
            <a:r>
              <a:rPr sz="1000" b="1" spc="-2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Supply-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Chain</a:t>
            </a: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E61FE"/>
                </a:solidFill>
                <a:latin typeface="Arial"/>
                <a:cs typeface="Arial"/>
              </a:rPr>
              <a:t>Risk</a:t>
            </a:r>
            <a:r>
              <a:rPr sz="1000" b="1" spc="-25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E61FE"/>
                </a:solidFill>
                <a:latin typeface="Arial"/>
                <a:cs typeface="Arial"/>
              </a:rPr>
              <a:t>Prediction,”</a:t>
            </a:r>
            <a:r>
              <a:rPr sz="1000" b="1" spc="-20" dirty="0">
                <a:solidFill>
                  <a:srgbClr val="0E61FE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has</a:t>
            </a:r>
            <a:r>
              <a:rPr sz="10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been</a:t>
            </a:r>
            <a:r>
              <a:rPr sz="10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submitted</a:t>
            </a:r>
            <a:r>
              <a:rPr sz="100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51515"/>
                </a:solidFill>
                <a:latin typeface="Arial"/>
                <a:cs typeface="Arial"/>
              </a:rPr>
              <a:t>arXiv.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/>
              <a:t>21</a:t>
            </a:fld>
            <a:r>
              <a:rPr spc="-60" dirty="0"/>
              <a:t> </a:t>
            </a:r>
            <a:r>
              <a:rPr dirty="0"/>
              <a:t>/</a:t>
            </a:r>
            <a:r>
              <a:rPr spc="-60" dirty="0"/>
              <a:t> </a:t>
            </a:r>
            <a:r>
              <a:rPr spc="-25" dirty="0"/>
              <a:t>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0046" y="3069257"/>
            <a:ext cx="12604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Submission</a:t>
            </a:r>
            <a:r>
              <a:rPr sz="500" i="1" spc="-1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ID:</a:t>
            </a:r>
            <a:r>
              <a:rPr sz="500" i="1" spc="-1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7852777</a:t>
            </a:r>
            <a:r>
              <a:rPr sz="500" i="1" spc="-1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500" i="1" dirty="0">
                <a:solidFill>
                  <a:srgbClr val="525252"/>
                </a:solidFill>
                <a:latin typeface="Arial"/>
                <a:cs typeface="Arial"/>
              </a:rPr>
              <a:t>•</a:t>
            </a:r>
            <a:r>
              <a:rPr sz="500" i="1" spc="-10" dirty="0">
                <a:solidFill>
                  <a:srgbClr val="525252"/>
                </a:solidFill>
                <a:latin typeface="Arial"/>
                <a:cs typeface="Arial"/>
              </a:rPr>
              <a:t> services.arxiv.org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/>
              <a:t>Thank</a:t>
            </a:r>
            <a:r>
              <a:rPr sz="1700" spc="55" dirty="0"/>
              <a:t> </a:t>
            </a:r>
            <a:r>
              <a:rPr sz="1700" spc="-25" dirty="0"/>
              <a:t>You!</a:t>
            </a:r>
            <a:endParaRPr sz="1700"/>
          </a:p>
        </p:txBody>
      </p:sp>
      <p:sp>
        <p:nvSpPr>
          <p:cNvPr id="3" name="object 3"/>
          <p:cNvSpPr txBox="1"/>
          <p:nvPr/>
        </p:nvSpPr>
        <p:spPr>
          <a:xfrm>
            <a:off x="1467586" y="1407819"/>
            <a:ext cx="2825115" cy="789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Code:</a:t>
            </a:r>
            <a:r>
              <a:rPr sz="900" b="1" spc="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00B0F0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github.com/Sumitchongder/dew-p-qfl-unlearning</a:t>
            </a:r>
            <a:endParaRPr sz="900" dirty="0">
              <a:solidFill>
                <a:srgbClr val="00B0F0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Data:</a:t>
            </a:r>
            <a:r>
              <a:rPr sz="900" b="1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000FF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r>
              <a:rPr sz="900" spc="30" dirty="0">
                <a:solidFill>
                  <a:srgbClr val="0000FF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900" spc="-10" dirty="0">
                <a:solidFill>
                  <a:srgbClr val="00B0F0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10.5281/zenodo.21372906</a:t>
            </a:r>
            <a:endParaRPr sz="900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1091</TotalTime>
  <Words>3531</Words>
  <Application>Microsoft Office PowerPoint</Application>
  <PresentationFormat>Custom</PresentationFormat>
  <Paragraphs>571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Meiryo UI</vt:lpstr>
      <vt:lpstr>Aptos</vt:lpstr>
      <vt:lpstr>Arial</vt:lpstr>
      <vt:lpstr>Calibri</vt:lpstr>
      <vt:lpstr>Cambria</vt:lpstr>
      <vt:lpstr>Georgia</vt:lpstr>
      <vt:lpstr>Lucida Sans Unicode</vt:lpstr>
      <vt:lpstr>Source Sans 3</vt:lpstr>
      <vt:lpstr>Tahoma</vt:lpstr>
      <vt:lpstr>Times New Roman</vt:lpstr>
      <vt:lpstr>Trebuchet MS</vt:lpstr>
      <vt:lpstr>Verdana</vt:lpstr>
      <vt:lpstr>Office Theme</vt:lpstr>
      <vt:lpstr>Dynamic Entanglement-Weighted Pruning for Quantum Federated Unlearning in Supply-Chain Risk Prediction</vt:lpstr>
      <vt:lpstr>Why Should We Care?</vt:lpstr>
      <vt:lpstr>Problem Statement</vt:lpstr>
      <vt:lpstr>Existing Solutions Fall Short</vt:lpstr>
      <vt:lpstr>A parameter should be forgotten only if it is both sensitive to client j and structurally unimportant to the global quantum correlations.</vt:lpstr>
      <vt:lpstr>Overview of the Proposed Framework</vt:lpstr>
      <vt:lpstr>The Quantum Model: Data Re-Uploading Ansatz</vt:lpstr>
      <vt:lpstr>How Do We Measure Memory? – Quantum Fisher Information</vt:lpstr>
      <vt:lpstr>How Do We Measure Structural Importance? – Entanglement</vt:lpstr>
      <vt:lpstr>PowerPoint Presentation</vt:lpstr>
      <vt:lpstr>Complete Algorithm</vt:lpstr>
      <vt:lpstr>Experimental Setup</vt:lpstr>
      <vt:lpstr>Main Results: Utility</vt:lpstr>
      <vt:lpstr>Privacy &amp; Forgetting Analysis</vt:lpstr>
      <vt:lpstr>Runtime: A 16× Speed-Up</vt:lpstr>
      <vt:lpstr>Putting It All Together</vt:lpstr>
      <vt:lpstr>Ablation Study</vt:lpstr>
      <vt:lpstr>Why Does EWP Outperform Either Signal Alone?</vt:lpstr>
      <vt:lpstr>Contributions</vt:lpstr>
      <vt:lpstr>Future Work</vt:lpstr>
      <vt:lpstr>Paper Submitted to arXiv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Entanglement-Weighted Pruning</dc:title>
  <dc:creator>QFL-EWP</dc:creator>
  <cp:lastModifiedBy>aditya kumar</cp:lastModifiedBy>
  <cp:revision>85</cp:revision>
  <dcterms:created xsi:type="dcterms:W3CDTF">2026-08-15T09:49:22Z</dcterms:created>
  <dcterms:modified xsi:type="dcterms:W3CDTF">2026-08-16T04:31:23Z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2026-08-15T00:00:00Z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